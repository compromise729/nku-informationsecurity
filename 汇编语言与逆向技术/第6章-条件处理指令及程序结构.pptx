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notesSlides/notesSlide2.xml" ContentType="application/vnd.openxmlformats-officedocument.presentationml.notesSlide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notesSlides/notesSlide3.xml" ContentType="application/vnd.openxmlformats-officedocument.presentationml.notesSlide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notesSlides/notesSlide4.xml" ContentType="application/vnd.openxmlformats-officedocument.presentationml.notesSlide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notesSlides/notesSlide5.xml" ContentType="application/vnd.openxmlformats-officedocument.presentationml.notesSlide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88"/>
  </p:notesMasterIdLst>
  <p:sldIdLst>
    <p:sldId id="828" r:id="rId2"/>
    <p:sldId id="356" r:id="rId3"/>
    <p:sldId id="639" r:id="rId4"/>
    <p:sldId id="674" r:id="rId5"/>
    <p:sldId id="640" r:id="rId6"/>
    <p:sldId id="675" r:id="rId7"/>
    <p:sldId id="641" r:id="rId8"/>
    <p:sldId id="642" r:id="rId9"/>
    <p:sldId id="643" r:id="rId10"/>
    <p:sldId id="676" r:id="rId11"/>
    <p:sldId id="666" r:id="rId12"/>
    <p:sldId id="685" r:id="rId13"/>
    <p:sldId id="686" r:id="rId14"/>
    <p:sldId id="687" r:id="rId15"/>
    <p:sldId id="688" r:id="rId16"/>
    <p:sldId id="720" r:id="rId17"/>
    <p:sldId id="689" r:id="rId18"/>
    <p:sldId id="690" r:id="rId19"/>
    <p:sldId id="721" r:id="rId20"/>
    <p:sldId id="691" r:id="rId21"/>
    <p:sldId id="663" r:id="rId22"/>
    <p:sldId id="664" r:id="rId23"/>
    <p:sldId id="665" r:id="rId24"/>
    <p:sldId id="692" r:id="rId25"/>
    <p:sldId id="693" r:id="rId26"/>
    <p:sldId id="694" r:id="rId27"/>
    <p:sldId id="695" r:id="rId28"/>
    <p:sldId id="678" r:id="rId29"/>
    <p:sldId id="680" r:id="rId30"/>
    <p:sldId id="684" r:id="rId31"/>
    <p:sldId id="683" r:id="rId32"/>
    <p:sldId id="644" r:id="rId33"/>
    <p:sldId id="645" r:id="rId34"/>
    <p:sldId id="646" r:id="rId35"/>
    <p:sldId id="681" r:id="rId36"/>
    <p:sldId id="649" r:id="rId37"/>
    <p:sldId id="648" r:id="rId38"/>
    <p:sldId id="651" r:id="rId39"/>
    <p:sldId id="696" r:id="rId40"/>
    <p:sldId id="650" r:id="rId41"/>
    <p:sldId id="653" r:id="rId42"/>
    <p:sldId id="652" r:id="rId43"/>
    <p:sldId id="659" r:id="rId44"/>
    <p:sldId id="660" r:id="rId45"/>
    <p:sldId id="697" r:id="rId46"/>
    <p:sldId id="698" r:id="rId47"/>
    <p:sldId id="699" r:id="rId48"/>
    <p:sldId id="701" r:id="rId49"/>
    <p:sldId id="702" r:id="rId50"/>
    <p:sldId id="718" r:id="rId51"/>
    <p:sldId id="719" r:id="rId52"/>
    <p:sldId id="700" r:id="rId53"/>
    <p:sldId id="703" r:id="rId54"/>
    <p:sldId id="717" r:id="rId55"/>
    <p:sldId id="704" r:id="rId56"/>
    <p:sldId id="705" r:id="rId57"/>
    <p:sldId id="706" r:id="rId58"/>
    <p:sldId id="707" r:id="rId59"/>
    <p:sldId id="634" r:id="rId60"/>
    <p:sldId id="614" r:id="rId61"/>
    <p:sldId id="615" r:id="rId62"/>
    <p:sldId id="616" r:id="rId63"/>
    <p:sldId id="617" r:id="rId64"/>
    <p:sldId id="618" r:id="rId65"/>
    <p:sldId id="628" r:id="rId66"/>
    <p:sldId id="619" r:id="rId67"/>
    <p:sldId id="621" r:id="rId68"/>
    <p:sldId id="620" r:id="rId69"/>
    <p:sldId id="622" r:id="rId70"/>
    <p:sldId id="623" r:id="rId71"/>
    <p:sldId id="624" r:id="rId72"/>
    <p:sldId id="625" r:id="rId73"/>
    <p:sldId id="626" r:id="rId74"/>
    <p:sldId id="613" r:id="rId75"/>
    <p:sldId id="541" r:id="rId76"/>
    <p:sldId id="655" r:id="rId77"/>
    <p:sldId id="656" r:id="rId78"/>
    <p:sldId id="708" r:id="rId79"/>
    <p:sldId id="709" r:id="rId80"/>
    <p:sldId id="714" r:id="rId81"/>
    <p:sldId id="711" r:id="rId82"/>
    <p:sldId id="712" r:id="rId83"/>
    <p:sldId id="658" r:id="rId84"/>
    <p:sldId id="715" r:id="rId85"/>
    <p:sldId id="713" r:id="rId86"/>
    <p:sldId id="829" r:id="rId87"/>
  </p:sldIdLst>
  <p:sldSz cx="12192000" cy="6858000"/>
  <p:notesSz cx="6858000" cy="9144000"/>
  <p:custDataLst>
    <p:tags r:id="rId8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93" autoAdjust="0"/>
    <p:restoredTop sz="81158" autoAdjust="0"/>
  </p:normalViewPr>
  <p:slideViewPr>
    <p:cSldViewPr snapToGrid="0" snapToObjects="1" showGuides="1">
      <p:cViewPr varScale="1">
        <p:scale>
          <a:sx n="62" d="100"/>
          <a:sy n="62" d="100"/>
        </p:scale>
        <p:origin x="831" y="2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2129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48" d="100"/>
          <a:sy n="48" d="100"/>
        </p:scale>
        <p:origin x="2184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ags" Target="tags/tag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notesMaster" Target="notesMasters/notesMaster1.xml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heme" Target="theme/theme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0B8E9B-9938-FE4B-AE28-1C6AC5DA2731}" type="datetimeFigureOut">
              <a:rPr kumimoji="1" lang="zh-CN" altLang="en-US" smtClean="0"/>
              <a:t>2026/1/4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B215D2-4FF9-AF41-91A8-41FD4B9A927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B215D2-4FF9-AF41-91A8-41FD4B9A9275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35H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B215D2-4FF9-AF41-91A8-41FD4B9A9275}" type="slidenum">
              <a:rPr kumimoji="1" lang="zh-CN" altLang="en-US" smtClean="0"/>
              <a:t>16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99H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B215D2-4FF9-AF41-91A8-41FD4B9A9275}" type="slidenum">
              <a:rPr kumimoji="1" lang="zh-CN" altLang="en-US" smtClean="0"/>
              <a:t>19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A8H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B215D2-4FF9-AF41-91A8-41FD4B9A9275}" type="slidenum">
              <a:rPr kumimoji="1" lang="zh-CN" altLang="en-US" smtClean="0"/>
              <a:t>50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0EDH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B215D2-4FF9-AF41-91A8-41FD4B9A9275}" type="slidenum">
              <a:rPr kumimoji="1" lang="zh-CN" altLang="en-US" smtClean="0"/>
              <a:t>51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B215D2-4FF9-AF41-91A8-41FD4B9A9275}" type="slidenum">
              <a:rPr kumimoji="1" lang="zh-CN" altLang="en-US" smtClean="0"/>
              <a:t>86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56925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lnSpc>
                <a:spcPct val="150000"/>
              </a:lnSpc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>
              <a:lnSpc>
                <a:spcPct val="150000"/>
              </a:lnSpc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>
              <a:lnSpc>
                <a:spcPct val="150000"/>
              </a:lnSpc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>
              <a:lnSpc>
                <a:spcPct val="150000"/>
              </a:lnSpc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>
              <a:lnSpc>
                <a:spcPct val="150000"/>
              </a:lnSpc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fld id="{C764DE79-268F-4C1A-8933-263129D2AF90}" type="datetimeFigureOut">
              <a:rPr lang="en-US" smtClean="0"/>
              <a:t>1/4/2026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userDrawn="1">
  <p:cSld name="1_标题幻灯片">
    <p:bg>
      <p:bgPr>
        <a:gradFill rotWithShape="0">
          <a:gsLst>
            <a:gs pos="0">
              <a:schemeClr val="bg1"/>
            </a:gs>
            <a:gs pos="100000">
              <a:srgbClr val="3366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31" name="Picture 135" descr="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68717" cy="163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23" name="Rectangle 127"/>
          <p:cNvSpPr>
            <a:spLocks noChangeArrowheads="1"/>
          </p:cNvSpPr>
          <p:nvPr userDrawn="1"/>
        </p:nvSpPr>
        <p:spPr bwMode="gray">
          <a:xfrm>
            <a:off x="0" y="1"/>
            <a:ext cx="12192000" cy="1628775"/>
          </a:xfrm>
          <a:prstGeom prst="rect">
            <a:avLst/>
          </a:prstGeom>
          <a:gradFill rotWithShape="1">
            <a:gsLst>
              <a:gs pos="0">
                <a:srgbClr val="3366FF">
                  <a:alpha val="30000"/>
                </a:srgbClr>
              </a:gs>
              <a:gs pos="100000">
                <a:schemeClr val="bg1">
                  <a:alpha val="78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800"/>
          </a:p>
        </p:txBody>
      </p:sp>
      <p:grpSp>
        <p:nvGrpSpPr>
          <p:cNvPr id="4111" name="Group 15"/>
          <p:cNvGrpSpPr/>
          <p:nvPr/>
        </p:nvGrpSpPr>
        <p:grpSpPr bwMode="auto">
          <a:xfrm>
            <a:off x="0" y="1773238"/>
            <a:ext cx="12192000" cy="4895850"/>
            <a:chOff x="664" y="1951"/>
            <a:chExt cx="4308" cy="2120"/>
          </a:xfrm>
        </p:grpSpPr>
        <p:sp>
          <p:nvSpPr>
            <p:cNvPr id="4112" name="Freeform 16"/>
            <p:cNvSpPr/>
            <p:nvPr/>
          </p:nvSpPr>
          <p:spPr bwMode="invGray">
            <a:xfrm>
              <a:off x="743" y="2045"/>
              <a:ext cx="1267" cy="1938"/>
            </a:xfrm>
            <a:custGeom>
              <a:avLst/>
              <a:gdLst>
                <a:gd name="T0" fmla="*/ 116 w 1692"/>
                <a:gd name="T1" fmla="*/ 258 h 2586"/>
                <a:gd name="T2" fmla="*/ 320 w 1692"/>
                <a:gd name="T3" fmla="*/ 210 h 2586"/>
                <a:gd name="T4" fmla="*/ 434 w 1692"/>
                <a:gd name="T5" fmla="*/ 240 h 2586"/>
                <a:gd name="T6" fmla="*/ 416 w 1692"/>
                <a:gd name="T7" fmla="*/ 444 h 2586"/>
                <a:gd name="T8" fmla="*/ 272 w 1692"/>
                <a:gd name="T9" fmla="*/ 582 h 2586"/>
                <a:gd name="T10" fmla="*/ 218 w 1692"/>
                <a:gd name="T11" fmla="*/ 714 h 2586"/>
                <a:gd name="T12" fmla="*/ 284 w 1692"/>
                <a:gd name="T13" fmla="*/ 964 h 2586"/>
                <a:gd name="T14" fmla="*/ 316 w 1692"/>
                <a:gd name="T15" fmla="*/ 960 h 2586"/>
                <a:gd name="T16" fmla="*/ 328 w 1692"/>
                <a:gd name="T17" fmla="*/ 906 h 2586"/>
                <a:gd name="T18" fmla="*/ 478 w 1692"/>
                <a:gd name="T19" fmla="*/ 1154 h 2586"/>
                <a:gd name="T20" fmla="*/ 650 w 1692"/>
                <a:gd name="T21" fmla="*/ 1200 h 2586"/>
                <a:gd name="T22" fmla="*/ 794 w 1692"/>
                <a:gd name="T23" fmla="*/ 1350 h 2586"/>
                <a:gd name="T24" fmla="*/ 854 w 1692"/>
                <a:gd name="T25" fmla="*/ 1422 h 2586"/>
                <a:gd name="T26" fmla="*/ 770 w 1692"/>
                <a:gd name="T27" fmla="*/ 1608 h 2586"/>
                <a:gd name="T28" fmla="*/ 916 w 1692"/>
                <a:gd name="T29" fmla="*/ 1782 h 2586"/>
                <a:gd name="T30" fmla="*/ 1034 w 1692"/>
                <a:gd name="T31" fmla="*/ 2022 h 2586"/>
                <a:gd name="T32" fmla="*/ 1094 w 1692"/>
                <a:gd name="T33" fmla="*/ 2310 h 2586"/>
                <a:gd name="T34" fmla="*/ 1194 w 1692"/>
                <a:gd name="T35" fmla="*/ 2540 h 2586"/>
                <a:gd name="T36" fmla="*/ 1280 w 1692"/>
                <a:gd name="T37" fmla="*/ 2520 h 2586"/>
                <a:gd name="T38" fmla="*/ 1244 w 1692"/>
                <a:gd name="T39" fmla="*/ 2394 h 2586"/>
                <a:gd name="T40" fmla="*/ 1288 w 1692"/>
                <a:gd name="T41" fmla="*/ 2306 h 2586"/>
                <a:gd name="T42" fmla="*/ 1368 w 1692"/>
                <a:gd name="T43" fmla="*/ 2228 h 2586"/>
                <a:gd name="T44" fmla="*/ 1448 w 1692"/>
                <a:gd name="T45" fmla="*/ 2076 h 2586"/>
                <a:gd name="T46" fmla="*/ 1568 w 1692"/>
                <a:gd name="T47" fmla="*/ 1950 h 2586"/>
                <a:gd name="T48" fmla="*/ 1622 w 1692"/>
                <a:gd name="T49" fmla="*/ 1746 h 2586"/>
                <a:gd name="T50" fmla="*/ 1552 w 1692"/>
                <a:gd name="T51" fmla="*/ 1538 h 2586"/>
                <a:gd name="T52" fmla="*/ 1376 w 1692"/>
                <a:gd name="T53" fmla="*/ 1410 h 2586"/>
                <a:gd name="T54" fmla="*/ 1104 w 1692"/>
                <a:gd name="T55" fmla="*/ 1280 h 2586"/>
                <a:gd name="T56" fmla="*/ 974 w 1692"/>
                <a:gd name="T57" fmla="*/ 1260 h 2586"/>
                <a:gd name="T58" fmla="*/ 904 w 1692"/>
                <a:gd name="T59" fmla="*/ 1268 h 2586"/>
                <a:gd name="T60" fmla="*/ 794 w 1692"/>
                <a:gd name="T61" fmla="*/ 1308 h 2586"/>
                <a:gd name="T62" fmla="*/ 758 w 1692"/>
                <a:gd name="T63" fmla="*/ 1174 h 2586"/>
                <a:gd name="T64" fmla="*/ 736 w 1692"/>
                <a:gd name="T65" fmla="*/ 1062 h 2586"/>
                <a:gd name="T66" fmla="*/ 632 w 1692"/>
                <a:gd name="T67" fmla="*/ 1104 h 2586"/>
                <a:gd name="T68" fmla="*/ 568 w 1692"/>
                <a:gd name="T69" fmla="*/ 950 h 2586"/>
                <a:gd name="T70" fmla="*/ 740 w 1692"/>
                <a:gd name="T71" fmla="*/ 912 h 2586"/>
                <a:gd name="T72" fmla="*/ 842 w 1692"/>
                <a:gd name="T73" fmla="*/ 906 h 2586"/>
                <a:gd name="T74" fmla="*/ 896 w 1692"/>
                <a:gd name="T75" fmla="*/ 900 h 2586"/>
                <a:gd name="T76" fmla="*/ 1058 w 1692"/>
                <a:gd name="T77" fmla="*/ 750 h 2586"/>
                <a:gd name="T78" fmla="*/ 1184 w 1692"/>
                <a:gd name="T79" fmla="*/ 678 h 2586"/>
                <a:gd name="T80" fmla="*/ 1278 w 1692"/>
                <a:gd name="T81" fmla="*/ 636 h 2586"/>
                <a:gd name="T82" fmla="*/ 1340 w 1692"/>
                <a:gd name="T83" fmla="*/ 538 h 2586"/>
                <a:gd name="T84" fmla="*/ 1288 w 1692"/>
                <a:gd name="T85" fmla="*/ 512 h 2586"/>
                <a:gd name="T86" fmla="*/ 1526 w 1692"/>
                <a:gd name="T87" fmla="*/ 456 h 2586"/>
                <a:gd name="T88" fmla="*/ 1406 w 1692"/>
                <a:gd name="T89" fmla="*/ 342 h 2586"/>
                <a:gd name="T90" fmla="*/ 1328 w 1692"/>
                <a:gd name="T91" fmla="*/ 264 h 2586"/>
                <a:gd name="T92" fmla="*/ 1222 w 1692"/>
                <a:gd name="T93" fmla="*/ 364 h 2586"/>
                <a:gd name="T94" fmla="*/ 1110 w 1692"/>
                <a:gd name="T95" fmla="*/ 444 h 2586"/>
                <a:gd name="T96" fmla="*/ 1022 w 1692"/>
                <a:gd name="T97" fmla="*/ 304 h 2586"/>
                <a:gd name="T98" fmla="*/ 1212 w 1692"/>
                <a:gd name="T99" fmla="*/ 240 h 2586"/>
                <a:gd name="T100" fmla="*/ 1266 w 1692"/>
                <a:gd name="T101" fmla="*/ 198 h 2586"/>
                <a:gd name="T102" fmla="*/ 1328 w 1692"/>
                <a:gd name="T103" fmla="*/ 172 h 2586"/>
                <a:gd name="T104" fmla="*/ 1286 w 1692"/>
                <a:gd name="T105" fmla="*/ 144 h 2586"/>
                <a:gd name="T106" fmla="*/ 1262 w 1692"/>
                <a:gd name="T107" fmla="*/ 120 h 2586"/>
                <a:gd name="T108" fmla="*/ 1202 w 1692"/>
                <a:gd name="T109" fmla="*/ 102 h 2586"/>
                <a:gd name="T110" fmla="*/ 1106 w 1692"/>
                <a:gd name="T111" fmla="*/ 136 h 2586"/>
                <a:gd name="T112" fmla="*/ 950 w 1692"/>
                <a:gd name="T113" fmla="*/ 120 h 2586"/>
                <a:gd name="T114" fmla="*/ 550 w 1692"/>
                <a:gd name="T115" fmla="*/ 0 h 2586"/>
                <a:gd name="T116" fmla="*/ 344 w 1692"/>
                <a:gd name="T117" fmla="*/ 32 h 2586"/>
                <a:gd name="T118" fmla="*/ 290 w 1692"/>
                <a:gd name="T119" fmla="*/ 102 h 2586"/>
                <a:gd name="T120" fmla="*/ 128 w 1692"/>
                <a:gd name="T121" fmla="*/ 174 h 2586"/>
                <a:gd name="T122" fmla="*/ 128 w 1692"/>
                <a:gd name="T123" fmla="*/ 216 h 2586"/>
                <a:gd name="T124" fmla="*/ 2 w 1692"/>
                <a:gd name="T125" fmla="*/ 252 h 25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3" name="Freeform 17"/>
            <p:cNvSpPr/>
            <p:nvPr/>
          </p:nvSpPr>
          <p:spPr bwMode="invGray">
            <a:xfrm>
              <a:off x="703" y="2230"/>
              <a:ext cx="34" cy="28"/>
            </a:xfrm>
            <a:custGeom>
              <a:avLst/>
              <a:gdLst>
                <a:gd name="T0" fmla="*/ 16 w 46"/>
                <a:gd name="T1" fmla="*/ 4 h 38"/>
                <a:gd name="T2" fmla="*/ 0 w 46"/>
                <a:gd name="T3" fmla="*/ 22 h 38"/>
                <a:gd name="T4" fmla="*/ 22 w 46"/>
                <a:gd name="T5" fmla="*/ 38 h 38"/>
                <a:gd name="T6" fmla="*/ 46 w 46"/>
                <a:gd name="T7" fmla="*/ 26 h 38"/>
                <a:gd name="T8" fmla="*/ 30 w 46"/>
                <a:gd name="T9" fmla="*/ 0 h 38"/>
                <a:gd name="T10" fmla="*/ 16 w 46"/>
                <a:gd name="T11" fmla="*/ 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4" name="Freeform 18"/>
            <p:cNvSpPr/>
            <p:nvPr/>
          </p:nvSpPr>
          <p:spPr bwMode="invGray">
            <a:xfrm>
              <a:off x="1010" y="2353"/>
              <a:ext cx="39" cy="32"/>
            </a:xfrm>
            <a:custGeom>
              <a:avLst/>
              <a:gdLst>
                <a:gd name="T0" fmla="*/ 12 w 52"/>
                <a:gd name="T1" fmla="*/ 0 h 44"/>
                <a:gd name="T2" fmla="*/ 26 w 52"/>
                <a:gd name="T3" fmla="*/ 44 h 44"/>
                <a:gd name="T4" fmla="*/ 42 w 52"/>
                <a:gd name="T5" fmla="*/ 42 h 44"/>
                <a:gd name="T6" fmla="*/ 38 w 52"/>
                <a:gd name="T7" fmla="*/ 16 h 44"/>
                <a:gd name="T8" fmla="*/ 26 w 52"/>
                <a:gd name="T9" fmla="*/ 2 h 44"/>
                <a:gd name="T10" fmla="*/ 12 w 52"/>
                <a:gd name="T11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5" name="Freeform 19"/>
            <p:cNvSpPr/>
            <p:nvPr/>
          </p:nvSpPr>
          <p:spPr bwMode="invGray">
            <a:xfrm>
              <a:off x="1792" y="2409"/>
              <a:ext cx="98" cy="74"/>
            </a:xfrm>
            <a:custGeom>
              <a:avLst/>
              <a:gdLst>
                <a:gd name="T0" fmla="*/ 97 w 131"/>
                <a:gd name="T1" fmla="*/ 0 h 98"/>
                <a:gd name="T2" fmla="*/ 79 w 131"/>
                <a:gd name="T3" fmla="*/ 8 h 98"/>
                <a:gd name="T4" fmla="*/ 53 w 131"/>
                <a:gd name="T5" fmla="*/ 24 h 98"/>
                <a:gd name="T6" fmla="*/ 39 w 131"/>
                <a:gd name="T7" fmla="*/ 40 h 98"/>
                <a:gd name="T8" fmla="*/ 21 w 131"/>
                <a:gd name="T9" fmla="*/ 52 h 98"/>
                <a:gd name="T10" fmla="*/ 63 w 131"/>
                <a:gd name="T11" fmla="*/ 82 h 98"/>
                <a:gd name="T12" fmla="*/ 79 w 131"/>
                <a:gd name="T13" fmla="*/ 94 h 98"/>
                <a:gd name="T14" fmla="*/ 85 w 131"/>
                <a:gd name="T15" fmla="*/ 92 h 98"/>
                <a:gd name="T16" fmla="*/ 89 w 131"/>
                <a:gd name="T17" fmla="*/ 86 h 98"/>
                <a:gd name="T18" fmla="*/ 97 w 131"/>
                <a:gd name="T19" fmla="*/ 98 h 98"/>
                <a:gd name="T20" fmla="*/ 123 w 131"/>
                <a:gd name="T21" fmla="*/ 86 h 98"/>
                <a:gd name="T22" fmla="*/ 129 w 131"/>
                <a:gd name="T23" fmla="*/ 74 h 98"/>
                <a:gd name="T24" fmla="*/ 101 w 131"/>
                <a:gd name="T25" fmla="*/ 40 h 98"/>
                <a:gd name="T26" fmla="*/ 115 w 131"/>
                <a:gd name="T27" fmla="*/ 24 h 98"/>
                <a:gd name="T28" fmla="*/ 111 w 131"/>
                <a:gd name="T29" fmla="*/ 4 h 98"/>
                <a:gd name="T30" fmla="*/ 97 w 131"/>
                <a:gd name="T31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6" name="Freeform 20"/>
            <p:cNvSpPr/>
            <p:nvPr/>
          </p:nvSpPr>
          <p:spPr bwMode="invGray">
            <a:xfrm>
              <a:off x="1318" y="2793"/>
              <a:ext cx="158" cy="84"/>
            </a:xfrm>
            <a:custGeom>
              <a:avLst/>
              <a:gdLst>
                <a:gd name="T0" fmla="*/ 47 w 212"/>
                <a:gd name="T1" fmla="*/ 12 h 112"/>
                <a:gd name="T2" fmla="*/ 17 w 212"/>
                <a:gd name="T3" fmla="*/ 12 h 112"/>
                <a:gd name="T4" fmla="*/ 5 w 212"/>
                <a:gd name="T5" fmla="*/ 16 h 112"/>
                <a:gd name="T6" fmla="*/ 25 w 212"/>
                <a:gd name="T7" fmla="*/ 52 h 112"/>
                <a:gd name="T8" fmla="*/ 51 w 212"/>
                <a:gd name="T9" fmla="*/ 44 h 112"/>
                <a:gd name="T10" fmla="*/ 93 w 212"/>
                <a:gd name="T11" fmla="*/ 54 h 112"/>
                <a:gd name="T12" fmla="*/ 111 w 212"/>
                <a:gd name="T13" fmla="*/ 60 h 112"/>
                <a:gd name="T14" fmla="*/ 133 w 212"/>
                <a:gd name="T15" fmla="*/ 88 h 112"/>
                <a:gd name="T16" fmla="*/ 141 w 212"/>
                <a:gd name="T17" fmla="*/ 112 h 112"/>
                <a:gd name="T18" fmla="*/ 157 w 212"/>
                <a:gd name="T19" fmla="*/ 100 h 112"/>
                <a:gd name="T20" fmla="*/ 169 w 212"/>
                <a:gd name="T21" fmla="*/ 96 h 112"/>
                <a:gd name="T22" fmla="*/ 187 w 212"/>
                <a:gd name="T23" fmla="*/ 102 h 112"/>
                <a:gd name="T24" fmla="*/ 195 w 212"/>
                <a:gd name="T25" fmla="*/ 80 h 112"/>
                <a:gd name="T26" fmla="*/ 153 w 212"/>
                <a:gd name="T27" fmla="*/ 54 h 112"/>
                <a:gd name="T28" fmla="*/ 105 w 212"/>
                <a:gd name="T29" fmla="*/ 20 h 112"/>
                <a:gd name="T30" fmla="*/ 53 w 212"/>
                <a:gd name="T31" fmla="*/ 26 h 112"/>
                <a:gd name="T32" fmla="*/ 47 w 212"/>
                <a:gd name="T33" fmla="*/ 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7" name="Freeform 21"/>
            <p:cNvSpPr/>
            <p:nvPr/>
          </p:nvSpPr>
          <p:spPr bwMode="invGray">
            <a:xfrm>
              <a:off x="1448" y="2857"/>
              <a:ext cx="99" cy="41"/>
            </a:xfrm>
            <a:custGeom>
              <a:avLst/>
              <a:gdLst>
                <a:gd name="T0" fmla="*/ 57 w 133"/>
                <a:gd name="T1" fmla="*/ 0 h 54"/>
                <a:gd name="T2" fmla="*/ 43 w 133"/>
                <a:gd name="T3" fmla="*/ 6 h 54"/>
                <a:gd name="T4" fmla="*/ 31 w 133"/>
                <a:gd name="T5" fmla="*/ 30 h 54"/>
                <a:gd name="T6" fmla="*/ 15 w 133"/>
                <a:gd name="T7" fmla="*/ 34 h 54"/>
                <a:gd name="T8" fmla="*/ 3 w 133"/>
                <a:gd name="T9" fmla="*/ 42 h 54"/>
                <a:gd name="T10" fmla="*/ 13 w 133"/>
                <a:gd name="T11" fmla="*/ 54 h 54"/>
                <a:gd name="T12" fmla="*/ 133 w 133"/>
                <a:gd name="T13" fmla="*/ 34 h 54"/>
                <a:gd name="T14" fmla="*/ 123 w 133"/>
                <a:gd name="T15" fmla="*/ 16 h 54"/>
                <a:gd name="T16" fmla="*/ 105 w 133"/>
                <a:gd name="T17" fmla="*/ 8 h 54"/>
                <a:gd name="T18" fmla="*/ 101 w 133"/>
                <a:gd name="T19" fmla="*/ 24 h 54"/>
                <a:gd name="T20" fmla="*/ 89 w 133"/>
                <a:gd name="T21" fmla="*/ 18 h 54"/>
                <a:gd name="T22" fmla="*/ 67 w 133"/>
                <a:gd name="T23" fmla="*/ 14 h 54"/>
                <a:gd name="T24" fmla="*/ 57 w 133"/>
                <a:gd name="T25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8" name="Freeform 22"/>
            <p:cNvSpPr/>
            <p:nvPr/>
          </p:nvSpPr>
          <p:spPr bwMode="invGray">
            <a:xfrm>
              <a:off x="1553" y="2883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9" name="Freeform 23"/>
            <p:cNvSpPr/>
            <p:nvPr/>
          </p:nvSpPr>
          <p:spPr bwMode="invGray">
            <a:xfrm>
              <a:off x="1609" y="2886"/>
              <a:ext cx="12" cy="25"/>
            </a:xfrm>
            <a:custGeom>
              <a:avLst/>
              <a:gdLst>
                <a:gd name="T0" fmla="*/ 14 w 16"/>
                <a:gd name="T1" fmla="*/ 0 h 34"/>
                <a:gd name="T2" fmla="*/ 0 w 16"/>
                <a:gd name="T3" fmla="*/ 14 h 34"/>
                <a:gd name="T4" fmla="*/ 16 w 16"/>
                <a:gd name="T5" fmla="*/ 34 h 34"/>
                <a:gd name="T6" fmla="*/ 12 w 16"/>
                <a:gd name="T7" fmla="*/ 18 h 34"/>
                <a:gd name="T8" fmla="*/ 16 w 16"/>
                <a:gd name="T9" fmla="*/ 6 h 34"/>
                <a:gd name="T10" fmla="*/ 14 w 16"/>
                <a:gd name="T11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0" name="Freeform 24"/>
            <p:cNvSpPr/>
            <p:nvPr/>
          </p:nvSpPr>
          <p:spPr bwMode="invGray">
            <a:xfrm>
              <a:off x="1426" y="2040"/>
              <a:ext cx="180" cy="88"/>
            </a:xfrm>
            <a:custGeom>
              <a:avLst/>
              <a:gdLst>
                <a:gd name="T0" fmla="*/ 64 w 240"/>
                <a:gd name="T1" fmla="*/ 1 h 117"/>
                <a:gd name="T2" fmla="*/ 24 w 240"/>
                <a:gd name="T3" fmla="*/ 31 h 117"/>
                <a:gd name="T4" fmla="*/ 6 w 240"/>
                <a:gd name="T5" fmla="*/ 37 h 117"/>
                <a:gd name="T6" fmla="*/ 0 w 240"/>
                <a:gd name="T7" fmla="*/ 39 h 117"/>
                <a:gd name="T8" fmla="*/ 26 w 240"/>
                <a:gd name="T9" fmla="*/ 59 h 117"/>
                <a:gd name="T10" fmla="*/ 38 w 240"/>
                <a:gd name="T11" fmla="*/ 63 h 117"/>
                <a:gd name="T12" fmla="*/ 68 w 240"/>
                <a:gd name="T13" fmla="*/ 47 h 117"/>
                <a:gd name="T14" fmla="*/ 80 w 240"/>
                <a:gd name="T15" fmla="*/ 43 h 117"/>
                <a:gd name="T16" fmla="*/ 82 w 240"/>
                <a:gd name="T17" fmla="*/ 55 h 117"/>
                <a:gd name="T18" fmla="*/ 64 w 240"/>
                <a:gd name="T19" fmla="*/ 61 h 117"/>
                <a:gd name="T20" fmla="*/ 72 w 240"/>
                <a:gd name="T21" fmla="*/ 73 h 117"/>
                <a:gd name="T22" fmla="*/ 40 w 240"/>
                <a:gd name="T23" fmla="*/ 87 h 117"/>
                <a:gd name="T24" fmla="*/ 70 w 240"/>
                <a:gd name="T25" fmla="*/ 109 h 117"/>
                <a:gd name="T26" fmla="*/ 82 w 240"/>
                <a:gd name="T27" fmla="*/ 113 h 117"/>
                <a:gd name="T28" fmla="*/ 118 w 240"/>
                <a:gd name="T29" fmla="*/ 103 h 117"/>
                <a:gd name="T30" fmla="*/ 150 w 240"/>
                <a:gd name="T31" fmla="*/ 105 h 117"/>
                <a:gd name="T32" fmla="*/ 168 w 240"/>
                <a:gd name="T33" fmla="*/ 117 h 117"/>
                <a:gd name="T34" fmla="*/ 204 w 240"/>
                <a:gd name="T35" fmla="*/ 109 h 117"/>
                <a:gd name="T36" fmla="*/ 224 w 240"/>
                <a:gd name="T37" fmla="*/ 103 h 117"/>
                <a:gd name="T38" fmla="*/ 222 w 240"/>
                <a:gd name="T39" fmla="*/ 77 h 117"/>
                <a:gd name="T40" fmla="*/ 234 w 240"/>
                <a:gd name="T41" fmla="*/ 69 h 117"/>
                <a:gd name="T42" fmla="*/ 238 w 240"/>
                <a:gd name="T43" fmla="*/ 47 h 117"/>
                <a:gd name="T44" fmla="*/ 210 w 240"/>
                <a:gd name="T45" fmla="*/ 57 h 117"/>
                <a:gd name="T46" fmla="*/ 200 w 240"/>
                <a:gd name="T47" fmla="*/ 43 h 117"/>
                <a:gd name="T48" fmla="*/ 172 w 240"/>
                <a:gd name="T49" fmla="*/ 45 h 117"/>
                <a:gd name="T50" fmla="*/ 134 w 240"/>
                <a:gd name="T51" fmla="*/ 9 h 117"/>
                <a:gd name="T52" fmla="*/ 94 w 240"/>
                <a:gd name="T53" fmla="*/ 11 h 117"/>
                <a:gd name="T54" fmla="*/ 82 w 240"/>
                <a:gd name="T55" fmla="*/ 1 h 117"/>
                <a:gd name="T56" fmla="*/ 64 w 240"/>
                <a:gd name="T57" fmla="*/ 1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1" name="Freeform 25"/>
            <p:cNvSpPr/>
            <p:nvPr/>
          </p:nvSpPr>
          <p:spPr bwMode="invGray">
            <a:xfrm>
              <a:off x="1506" y="1999"/>
              <a:ext cx="146" cy="60"/>
            </a:xfrm>
            <a:custGeom>
              <a:avLst/>
              <a:gdLst>
                <a:gd name="T0" fmla="*/ 97 w 194"/>
                <a:gd name="T1" fmla="*/ 10 h 80"/>
                <a:gd name="T2" fmla="*/ 13 w 194"/>
                <a:gd name="T3" fmla="*/ 24 h 80"/>
                <a:gd name="T4" fmla="*/ 9 w 194"/>
                <a:gd name="T5" fmla="*/ 34 h 80"/>
                <a:gd name="T6" fmla="*/ 57 w 194"/>
                <a:gd name="T7" fmla="*/ 52 h 80"/>
                <a:gd name="T8" fmla="*/ 135 w 194"/>
                <a:gd name="T9" fmla="*/ 74 h 80"/>
                <a:gd name="T10" fmla="*/ 175 w 194"/>
                <a:gd name="T11" fmla="*/ 68 h 80"/>
                <a:gd name="T12" fmla="*/ 187 w 194"/>
                <a:gd name="T13" fmla="*/ 64 h 80"/>
                <a:gd name="T14" fmla="*/ 175 w 194"/>
                <a:gd name="T15" fmla="*/ 44 h 80"/>
                <a:gd name="T16" fmla="*/ 163 w 194"/>
                <a:gd name="T17" fmla="*/ 36 h 80"/>
                <a:gd name="T18" fmla="*/ 129 w 194"/>
                <a:gd name="T19" fmla="*/ 26 h 80"/>
                <a:gd name="T20" fmla="*/ 97 w 194"/>
                <a:gd name="T21" fmla="*/ 1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2" name="Freeform 26"/>
            <p:cNvSpPr/>
            <p:nvPr/>
          </p:nvSpPr>
          <p:spPr bwMode="invGray">
            <a:xfrm>
              <a:off x="1711" y="2069"/>
              <a:ext cx="233" cy="190"/>
            </a:xfrm>
            <a:custGeom>
              <a:avLst/>
              <a:gdLst>
                <a:gd name="T0" fmla="*/ 67 w 310"/>
                <a:gd name="T1" fmla="*/ 9 h 254"/>
                <a:gd name="T2" fmla="*/ 51 w 310"/>
                <a:gd name="T3" fmla="*/ 23 h 254"/>
                <a:gd name="T4" fmla="*/ 21 w 310"/>
                <a:gd name="T5" fmla="*/ 39 h 254"/>
                <a:gd name="T6" fmla="*/ 53 w 310"/>
                <a:gd name="T7" fmla="*/ 77 h 254"/>
                <a:gd name="T8" fmla="*/ 79 w 310"/>
                <a:gd name="T9" fmla="*/ 85 h 254"/>
                <a:gd name="T10" fmla="*/ 103 w 310"/>
                <a:gd name="T11" fmla="*/ 99 h 254"/>
                <a:gd name="T12" fmla="*/ 127 w 310"/>
                <a:gd name="T13" fmla="*/ 85 h 254"/>
                <a:gd name="T14" fmla="*/ 143 w 310"/>
                <a:gd name="T15" fmla="*/ 101 h 254"/>
                <a:gd name="T16" fmla="*/ 149 w 310"/>
                <a:gd name="T17" fmla="*/ 127 h 254"/>
                <a:gd name="T18" fmla="*/ 115 w 310"/>
                <a:gd name="T19" fmla="*/ 151 h 254"/>
                <a:gd name="T20" fmla="*/ 89 w 310"/>
                <a:gd name="T21" fmla="*/ 173 h 254"/>
                <a:gd name="T22" fmla="*/ 69 w 310"/>
                <a:gd name="T23" fmla="*/ 169 h 254"/>
                <a:gd name="T24" fmla="*/ 57 w 310"/>
                <a:gd name="T25" fmla="*/ 165 h 254"/>
                <a:gd name="T26" fmla="*/ 43 w 310"/>
                <a:gd name="T27" fmla="*/ 187 h 254"/>
                <a:gd name="T28" fmla="*/ 39 w 310"/>
                <a:gd name="T29" fmla="*/ 199 h 254"/>
                <a:gd name="T30" fmla="*/ 73 w 310"/>
                <a:gd name="T31" fmla="*/ 205 h 254"/>
                <a:gd name="T32" fmla="*/ 95 w 310"/>
                <a:gd name="T33" fmla="*/ 203 h 254"/>
                <a:gd name="T34" fmla="*/ 115 w 310"/>
                <a:gd name="T35" fmla="*/ 231 h 254"/>
                <a:gd name="T36" fmla="*/ 127 w 310"/>
                <a:gd name="T37" fmla="*/ 235 h 254"/>
                <a:gd name="T38" fmla="*/ 139 w 310"/>
                <a:gd name="T39" fmla="*/ 239 h 254"/>
                <a:gd name="T40" fmla="*/ 155 w 310"/>
                <a:gd name="T41" fmla="*/ 251 h 254"/>
                <a:gd name="T42" fmla="*/ 181 w 310"/>
                <a:gd name="T43" fmla="*/ 237 h 254"/>
                <a:gd name="T44" fmla="*/ 203 w 310"/>
                <a:gd name="T45" fmla="*/ 235 h 254"/>
                <a:gd name="T46" fmla="*/ 229 w 310"/>
                <a:gd name="T47" fmla="*/ 213 h 254"/>
                <a:gd name="T48" fmla="*/ 225 w 310"/>
                <a:gd name="T49" fmla="*/ 185 h 254"/>
                <a:gd name="T50" fmla="*/ 217 w 310"/>
                <a:gd name="T51" fmla="*/ 173 h 254"/>
                <a:gd name="T52" fmla="*/ 233 w 310"/>
                <a:gd name="T53" fmla="*/ 167 h 254"/>
                <a:gd name="T54" fmla="*/ 245 w 310"/>
                <a:gd name="T55" fmla="*/ 183 h 254"/>
                <a:gd name="T56" fmla="*/ 247 w 310"/>
                <a:gd name="T57" fmla="*/ 197 h 254"/>
                <a:gd name="T58" fmla="*/ 261 w 310"/>
                <a:gd name="T59" fmla="*/ 193 h 254"/>
                <a:gd name="T60" fmla="*/ 303 w 310"/>
                <a:gd name="T61" fmla="*/ 169 h 254"/>
                <a:gd name="T62" fmla="*/ 293 w 310"/>
                <a:gd name="T63" fmla="*/ 147 h 254"/>
                <a:gd name="T64" fmla="*/ 259 w 310"/>
                <a:gd name="T65" fmla="*/ 123 h 254"/>
                <a:gd name="T66" fmla="*/ 265 w 310"/>
                <a:gd name="T67" fmla="*/ 107 h 254"/>
                <a:gd name="T68" fmla="*/ 277 w 310"/>
                <a:gd name="T69" fmla="*/ 103 h 254"/>
                <a:gd name="T70" fmla="*/ 253 w 310"/>
                <a:gd name="T71" fmla="*/ 63 h 254"/>
                <a:gd name="T72" fmla="*/ 233 w 310"/>
                <a:gd name="T73" fmla="*/ 59 h 254"/>
                <a:gd name="T74" fmla="*/ 221 w 310"/>
                <a:gd name="T75" fmla="*/ 55 h 254"/>
                <a:gd name="T76" fmla="*/ 201 w 310"/>
                <a:gd name="T77" fmla="*/ 33 h 254"/>
                <a:gd name="T78" fmla="*/ 155 w 310"/>
                <a:gd name="T79" fmla="*/ 45 h 254"/>
                <a:gd name="T80" fmla="*/ 167 w 310"/>
                <a:gd name="T81" fmla="*/ 25 h 254"/>
                <a:gd name="T82" fmla="*/ 139 w 310"/>
                <a:gd name="T83" fmla="*/ 17 h 254"/>
                <a:gd name="T84" fmla="*/ 119 w 310"/>
                <a:gd name="T85" fmla="*/ 19 h 254"/>
                <a:gd name="T86" fmla="*/ 67 w 310"/>
                <a:gd name="T87" fmla="*/ 9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3" name="Freeform 27"/>
            <p:cNvSpPr/>
            <p:nvPr/>
          </p:nvSpPr>
          <p:spPr bwMode="invGray">
            <a:xfrm>
              <a:off x="1709" y="1987"/>
              <a:ext cx="44" cy="37"/>
            </a:xfrm>
            <a:custGeom>
              <a:avLst/>
              <a:gdLst>
                <a:gd name="T0" fmla="*/ 26 w 59"/>
                <a:gd name="T1" fmla="*/ 0 h 50"/>
                <a:gd name="T2" fmla="*/ 0 w 59"/>
                <a:gd name="T3" fmla="*/ 10 h 50"/>
                <a:gd name="T4" fmla="*/ 30 w 59"/>
                <a:gd name="T5" fmla="*/ 40 h 50"/>
                <a:gd name="T6" fmla="*/ 48 w 59"/>
                <a:gd name="T7" fmla="*/ 50 h 50"/>
                <a:gd name="T8" fmla="*/ 58 w 59"/>
                <a:gd name="T9" fmla="*/ 28 h 50"/>
                <a:gd name="T10" fmla="*/ 44 w 59"/>
                <a:gd name="T11" fmla="*/ 8 h 50"/>
                <a:gd name="T12" fmla="*/ 26 w 59"/>
                <a:gd name="T13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4" name="Freeform 28"/>
            <p:cNvSpPr/>
            <p:nvPr/>
          </p:nvSpPr>
          <p:spPr bwMode="invGray">
            <a:xfrm>
              <a:off x="1625" y="2057"/>
              <a:ext cx="65" cy="42"/>
            </a:xfrm>
            <a:custGeom>
              <a:avLst/>
              <a:gdLst>
                <a:gd name="T0" fmla="*/ 44 w 86"/>
                <a:gd name="T1" fmla="*/ 7 h 57"/>
                <a:gd name="T2" fmla="*/ 24 w 86"/>
                <a:gd name="T3" fmla="*/ 25 h 57"/>
                <a:gd name="T4" fmla="*/ 4 w 86"/>
                <a:gd name="T5" fmla="*/ 27 h 57"/>
                <a:gd name="T6" fmla="*/ 16 w 86"/>
                <a:gd name="T7" fmla="*/ 57 h 57"/>
                <a:gd name="T8" fmla="*/ 74 w 86"/>
                <a:gd name="T9" fmla="*/ 35 h 57"/>
                <a:gd name="T10" fmla="*/ 86 w 86"/>
                <a:gd name="T11" fmla="*/ 17 h 57"/>
                <a:gd name="T12" fmla="*/ 56 w 86"/>
                <a:gd name="T13" fmla="*/ 7 h 57"/>
                <a:gd name="T14" fmla="*/ 44 w 86"/>
                <a:gd name="T15" fmla="*/ 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5" name="Freeform 29"/>
            <p:cNvSpPr/>
            <p:nvPr/>
          </p:nvSpPr>
          <p:spPr bwMode="invGray">
            <a:xfrm>
              <a:off x="1693" y="2065"/>
              <a:ext cx="54" cy="25"/>
            </a:xfrm>
            <a:custGeom>
              <a:avLst/>
              <a:gdLst>
                <a:gd name="T0" fmla="*/ 40 w 73"/>
                <a:gd name="T1" fmla="*/ 0 h 34"/>
                <a:gd name="T2" fmla="*/ 10 w 73"/>
                <a:gd name="T3" fmla="*/ 16 h 34"/>
                <a:gd name="T4" fmla="*/ 24 w 73"/>
                <a:gd name="T5" fmla="*/ 34 h 34"/>
                <a:gd name="T6" fmla="*/ 52 w 73"/>
                <a:gd name="T7" fmla="*/ 28 h 34"/>
                <a:gd name="T8" fmla="*/ 64 w 73"/>
                <a:gd name="T9" fmla="*/ 20 h 34"/>
                <a:gd name="T10" fmla="*/ 40 w 73"/>
                <a:gd name="T11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6" name="Freeform 30"/>
            <p:cNvSpPr/>
            <p:nvPr/>
          </p:nvSpPr>
          <p:spPr bwMode="invGray">
            <a:xfrm>
              <a:off x="1664" y="2029"/>
              <a:ext cx="64" cy="34"/>
            </a:xfrm>
            <a:custGeom>
              <a:avLst/>
              <a:gdLst>
                <a:gd name="T0" fmla="*/ 58 w 85"/>
                <a:gd name="T1" fmla="*/ 10 h 45"/>
                <a:gd name="T2" fmla="*/ 28 w 85"/>
                <a:gd name="T3" fmla="*/ 4 h 45"/>
                <a:gd name="T4" fmla="*/ 0 w 85"/>
                <a:gd name="T5" fmla="*/ 18 h 45"/>
                <a:gd name="T6" fmla="*/ 40 w 85"/>
                <a:gd name="T7" fmla="*/ 32 h 45"/>
                <a:gd name="T8" fmla="*/ 64 w 85"/>
                <a:gd name="T9" fmla="*/ 40 h 45"/>
                <a:gd name="T10" fmla="*/ 84 w 85"/>
                <a:gd name="T11" fmla="*/ 18 h 45"/>
                <a:gd name="T12" fmla="*/ 82 w 85"/>
                <a:gd name="T13" fmla="*/ 6 h 45"/>
                <a:gd name="T14" fmla="*/ 64 w 85"/>
                <a:gd name="T15" fmla="*/ 0 h 45"/>
                <a:gd name="T16" fmla="*/ 58 w 85"/>
                <a:gd name="T17" fmla="*/ 1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7" name="Freeform 31"/>
            <p:cNvSpPr/>
            <p:nvPr/>
          </p:nvSpPr>
          <p:spPr bwMode="invGray">
            <a:xfrm>
              <a:off x="1637" y="1997"/>
              <a:ext cx="44" cy="24"/>
            </a:xfrm>
            <a:custGeom>
              <a:avLst/>
              <a:gdLst>
                <a:gd name="T0" fmla="*/ 16 w 58"/>
                <a:gd name="T1" fmla="*/ 4 h 31"/>
                <a:gd name="T2" fmla="*/ 0 w 58"/>
                <a:gd name="T3" fmla="*/ 18 h 31"/>
                <a:gd name="T4" fmla="*/ 20 w 58"/>
                <a:gd name="T5" fmla="*/ 28 h 31"/>
                <a:gd name="T6" fmla="*/ 28 w 58"/>
                <a:gd name="T7" fmla="*/ 20 h 31"/>
                <a:gd name="T8" fmla="*/ 52 w 58"/>
                <a:gd name="T9" fmla="*/ 12 h 31"/>
                <a:gd name="T10" fmla="*/ 44 w 58"/>
                <a:gd name="T11" fmla="*/ 0 h 31"/>
                <a:gd name="T12" fmla="*/ 16 w 58"/>
                <a:gd name="T13" fmla="*/ 4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8" name="Freeform 32"/>
            <p:cNvSpPr/>
            <p:nvPr/>
          </p:nvSpPr>
          <p:spPr bwMode="invGray">
            <a:xfrm>
              <a:off x="1751" y="2000"/>
              <a:ext cx="114" cy="77"/>
            </a:xfrm>
            <a:custGeom>
              <a:avLst/>
              <a:gdLst>
                <a:gd name="T0" fmla="*/ 38 w 152"/>
                <a:gd name="T1" fmla="*/ 0 h 102"/>
                <a:gd name="T2" fmla="*/ 14 w 152"/>
                <a:gd name="T3" fmla="*/ 6 h 102"/>
                <a:gd name="T4" fmla="*/ 4 w 152"/>
                <a:gd name="T5" fmla="*/ 38 h 102"/>
                <a:gd name="T6" fmla="*/ 12 w 152"/>
                <a:gd name="T7" fmla="*/ 56 h 102"/>
                <a:gd name="T8" fmla="*/ 0 w 152"/>
                <a:gd name="T9" fmla="*/ 72 h 102"/>
                <a:gd name="T10" fmla="*/ 56 w 152"/>
                <a:gd name="T11" fmla="*/ 86 h 102"/>
                <a:gd name="T12" fmla="*/ 82 w 152"/>
                <a:gd name="T13" fmla="*/ 92 h 102"/>
                <a:gd name="T14" fmla="*/ 152 w 152"/>
                <a:gd name="T15" fmla="*/ 86 h 102"/>
                <a:gd name="T16" fmla="*/ 76 w 152"/>
                <a:gd name="T17" fmla="*/ 70 h 102"/>
                <a:gd name="T18" fmla="*/ 54 w 152"/>
                <a:gd name="T19" fmla="*/ 62 h 102"/>
                <a:gd name="T20" fmla="*/ 44 w 152"/>
                <a:gd name="T21" fmla="*/ 52 h 102"/>
                <a:gd name="T22" fmla="*/ 50 w 152"/>
                <a:gd name="T23" fmla="*/ 34 h 102"/>
                <a:gd name="T24" fmla="*/ 38 w 152"/>
                <a:gd name="T25" fmla="*/ 0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9" name="Freeform 33"/>
            <p:cNvSpPr/>
            <p:nvPr/>
          </p:nvSpPr>
          <p:spPr bwMode="invGray">
            <a:xfrm>
              <a:off x="664" y="2245"/>
              <a:ext cx="25" cy="15"/>
            </a:xfrm>
            <a:custGeom>
              <a:avLst/>
              <a:gdLst>
                <a:gd name="T0" fmla="*/ 34 w 34"/>
                <a:gd name="T1" fmla="*/ 0 h 20"/>
                <a:gd name="T2" fmla="*/ 24 w 34"/>
                <a:gd name="T3" fmla="*/ 20 h 20"/>
                <a:gd name="T4" fmla="*/ 4 w 34"/>
                <a:gd name="T5" fmla="*/ 18 h 20"/>
                <a:gd name="T6" fmla="*/ 4 w 34"/>
                <a:gd name="T7" fmla="*/ 6 h 20"/>
                <a:gd name="T8" fmla="*/ 34 w 34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0" name="Freeform 34"/>
            <p:cNvSpPr/>
            <p:nvPr/>
          </p:nvSpPr>
          <p:spPr bwMode="invGray">
            <a:xfrm>
              <a:off x="1421" y="2756"/>
              <a:ext cx="16" cy="12"/>
            </a:xfrm>
            <a:custGeom>
              <a:avLst/>
              <a:gdLst>
                <a:gd name="T0" fmla="*/ 3 w 21"/>
                <a:gd name="T1" fmla="*/ 0 h 16"/>
                <a:gd name="T2" fmla="*/ 13 w 21"/>
                <a:gd name="T3" fmla="*/ 16 h 16"/>
                <a:gd name="T4" fmla="*/ 3 w 21"/>
                <a:gd name="T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1" name="Freeform 35"/>
            <p:cNvSpPr/>
            <p:nvPr/>
          </p:nvSpPr>
          <p:spPr bwMode="invGray">
            <a:xfrm>
              <a:off x="1424" y="2781"/>
              <a:ext cx="16" cy="12"/>
            </a:xfrm>
            <a:custGeom>
              <a:avLst/>
              <a:gdLst>
                <a:gd name="T0" fmla="*/ 3 w 21"/>
                <a:gd name="T1" fmla="*/ 0 h 16"/>
                <a:gd name="T2" fmla="*/ 13 w 21"/>
                <a:gd name="T3" fmla="*/ 16 h 16"/>
                <a:gd name="T4" fmla="*/ 3 w 21"/>
                <a:gd name="T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2" name="Freeform 36"/>
            <p:cNvSpPr/>
            <p:nvPr/>
          </p:nvSpPr>
          <p:spPr bwMode="invGray">
            <a:xfrm>
              <a:off x="1628" y="2913"/>
              <a:ext cx="15" cy="12"/>
            </a:xfrm>
            <a:custGeom>
              <a:avLst/>
              <a:gdLst>
                <a:gd name="T0" fmla="*/ 3 w 21"/>
                <a:gd name="T1" fmla="*/ 0 h 16"/>
                <a:gd name="T2" fmla="*/ 13 w 21"/>
                <a:gd name="T3" fmla="*/ 16 h 16"/>
                <a:gd name="T4" fmla="*/ 3 w 21"/>
                <a:gd name="T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3" name="Freeform 37"/>
            <p:cNvSpPr/>
            <p:nvPr/>
          </p:nvSpPr>
          <p:spPr bwMode="invGray">
            <a:xfrm>
              <a:off x="1752" y="2429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4" name="Freeform 38"/>
            <p:cNvSpPr/>
            <p:nvPr/>
          </p:nvSpPr>
          <p:spPr bwMode="invGray">
            <a:xfrm>
              <a:off x="1652" y="2224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5" name="Freeform 39"/>
            <p:cNvSpPr/>
            <p:nvPr/>
          </p:nvSpPr>
          <p:spPr bwMode="invGray">
            <a:xfrm>
              <a:off x="1717" y="2045"/>
              <a:ext cx="39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6" name="Freeform 40"/>
            <p:cNvSpPr/>
            <p:nvPr/>
          </p:nvSpPr>
          <p:spPr bwMode="invGray">
            <a:xfrm>
              <a:off x="1780" y="2153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7" name="Freeform 41"/>
            <p:cNvSpPr/>
            <p:nvPr/>
          </p:nvSpPr>
          <p:spPr bwMode="invGray">
            <a:xfrm>
              <a:off x="1796" y="1951"/>
              <a:ext cx="696" cy="346"/>
            </a:xfrm>
            <a:custGeom>
              <a:avLst/>
              <a:gdLst>
                <a:gd name="T0" fmla="*/ 28 w 929"/>
                <a:gd name="T1" fmla="*/ 56 h 462"/>
                <a:gd name="T2" fmla="*/ 6 w 929"/>
                <a:gd name="T3" fmla="*/ 92 h 462"/>
                <a:gd name="T4" fmla="*/ 36 w 929"/>
                <a:gd name="T5" fmla="*/ 100 h 462"/>
                <a:gd name="T6" fmla="*/ 16 w 929"/>
                <a:gd name="T7" fmla="*/ 116 h 462"/>
                <a:gd name="T8" fmla="*/ 104 w 929"/>
                <a:gd name="T9" fmla="*/ 136 h 462"/>
                <a:gd name="T10" fmla="*/ 142 w 929"/>
                <a:gd name="T11" fmla="*/ 130 h 462"/>
                <a:gd name="T12" fmla="*/ 250 w 929"/>
                <a:gd name="T13" fmla="*/ 78 h 462"/>
                <a:gd name="T14" fmla="*/ 300 w 929"/>
                <a:gd name="T15" fmla="*/ 66 h 462"/>
                <a:gd name="T16" fmla="*/ 324 w 929"/>
                <a:gd name="T17" fmla="*/ 80 h 462"/>
                <a:gd name="T18" fmla="*/ 272 w 929"/>
                <a:gd name="T19" fmla="*/ 88 h 462"/>
                <a:gd name="T20" fmla="*/ 242 w 929"/>
                <a:gd name="T21" fmla="*/ 112 h 462"/>
                <a:gd name="T22" fmla="*/ 254 w 929"/>
                <a:gd name="T23" fmla="*/ 120 h 462"/>
                <a:gd name="T24" fmla="*/ 260 w 929"/>
                <a:gd name="T25" fmla="*/ 158 h 462"/>
                <a:gd name="T26" fmla="*/ 350 w 929"/>
                <a:gd name="T27" fmla="*/ 192 h 462"/>
                <a:gd name="T28" fmla="*/ 336 w 929"/>
                <a:gd name="T29" fmla="*/ 210 h 462"/>
                <a:gd name="T30" fmla="*/ 368 w 929"/>
                <a:gd name="T31" fmla="*/ 246 h 462"/>
                <a:gd name="T32" fmla="*/ 348 w 929"/>
                <a:gd name="T33" fmla="*/ 266 h 462"/>
                <a:gd name="T34" fmla="*/ 324 w 929"/>
                <a:gd name="T35" fmla="*/ 294 h 462"/>
                <a:gd name="T36" fmla="*/ 294 w 929"/>
                <a:gd name="T37" fmla="*/ 324 h 462"/>
                <a:gd name="T38" fmla="*/ 292 w 929"/>
                <a:gd name="T39" fmla="*/ 420 h 462"/>
                <a:gd name="T40" fmla="*/ 332 w 929"/>
                <a:gd name="T41" fmla="*/ 446 h 462"/>
                <a:gd name="T42" fmla="*/ 388 w 929"/>
                <a:gd name="T43" fmla="*/ 448 h 462"/>
                <a:gd name="T44" fmla="*/ 412 w 929"/>
                <a:gd name="T45" fmla="*/ 422 h 462"/>
                <a:gd name="T46" fmla="*/ 506 w 929"/>
                <a:gd name="T47" fmla="*/ 356 h 462"/>
                <a:gd name="T48" fmla="*/ 572 w 929"/>
                <a:gd name="T49" fmla="*/ 334 h 462"/>
                <a:gd name="T50" fmla="*/ 646 w 929"/>
                <a:gd name="T51" fmla="*/ 308 h 462"/>
                <a:gd name="T52" fmla="*/ 720 w 929"/>
                <a:gd name="T53" fmla="*/ 290 h 462"/>
                <a:gd name="T54" fmla="*/ 762 w 929"/>
                <a:gd name="T55" fmla="*/ 260 h 462"/>
                <a:gd name="T56" fmla="*/ 800 w 929"/>
                <a:gd name="T57" fmla="*/ 200 h 462"/>
                <a:gd name="T58" fmla="*/ 802 w 929"/>
                <a:gd name="T59" fmla="*/ 154 h 462"/>
                <a:gd name="T60" fmla="*/ 802 w 929"/>
                <a:gd name="T61" fmla="*/ 124 h 462"/>
                <a:gd name="T62" fmla="*/ 832 w 929"/>
                <a:gd name="T63" fmla="*/ 90 h 462"/>
                <a:gd name="T64" fmla="*/ 876 w 929"/>
                <a:gd name="T65" fmla="*/ 94 h 462"/>
                <a:gd name="T66" fmla="*/ 922 w 929"/>
                <a:gd name="T67" fmla="*/ 52 h 462"/>
                <a:gd name="T68" fmla="*/ 888 w 929"/>
                <a:gd name="T69" fmla="*/ 56 h 462"/>
                <a:gd name="T70" fmla="*/ 848 w 929"/>
                <a:gd name="T71" fmla="*/ 46 h 462"/>
                <a:gd name="T72" fmla="*/ 794 w 929"/>
                <a:gd name="T73" fmla="*/ 22 h 462"/>
                <a:gd name="T74" fmla="*/ 642 w 929"/>
                <a:gd name="T75" fmla="*/ 26 h 462"/>
                <a:gd name="T76" fmla="*/ 584 w 929"/>
                <a:gd name="T77" fmla="*/ 38 h 462"/>
                <a:gd name="T78" fmla="*/ 556 w 929"/>
                <a:gd name="T79" fmla="*/ 38 h 462"/>
                <a:gd name="T80" fmla="*/ 516 w 929"/>
                <a:gd name="T81" fmla="*/ 54 h 462"/>
                <a:gd name="T82" fmla="*/ 478 w 929"/>
                <a:gd name="T83" fmla="*/ 30 h 462"/>
                <a:gd name="T84" fmla="*/ 432 w 929"/>
                <a:gd name="T85" fmla="*/ 40 h 462"/>
                <a:gd name="T86" fmla="*/ 366 w 929"/>
                <a:gd name="T87" fmla="*/ 52 h 462"/>
                <a:gd name="T88" fmla="*/ 410 w 929"/>
                <a:gd name="T89" fmla="*/ 38 h 462"/>
                <a:gd name="T90" fmla="*/ 352 w 929"/>
                <a:gd name="T91" fmla="*/ 8 h 462"/>
                <a:gd name="T92" fmla="*/ 334 w 929"/>
                <a:gd name="T93" fmla="*/ 2 h 462"/>
                <a:gd name="T94" fmla="*/ 314 w 929"/>
                <a:gd name="T95" fmla="*/ 8 h 462"/>
                <a:gd name="T96" fmla="*/ 240 w 929"/>
                <a:gd name="T97" fmla="*/ 16 h 462"/>
                <a:gd name="T98" fmla="*/ 160 w 929"/>
                <a:gd name="T99" fmla="*/ 28 h 462"/>
                <a:gd name="T100" fmla="*/ 108 w 929"/>
                <a:gd name="T101" fmla="*/ 26 h 462"/>
                <a:gd name="T102" fmla="*/ 114 w 929"/>
                <a:gd name="T103" fmla="*/ 68 h 462"/>
                <a:gd name="T104" fmla="*/ 104 w 929"/>
                <a:gd name="T105" fmla="*/ 52 h 462"/>
                <a:gd name="T106" fmla="*/ 60 w 929"/>
                <a:gd name="T107" fmla="*/ 42 h 4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8" name="Freeform 42"/>
            <p:cNvSpPr/>
            <p:nvPr/>
          </p:nvSpPr>
          <p:spPr bwMode="invGray">
            <a:xfrm>
              <a:off x="2009" y="2135"/>
              <a:ext cx="39" cy="24"/>
            </a:xfrm>
            <a:custGeom>
              <a:avLst/>
              <a:gdLst>
                <a:gd name="T0" fmla="*/ 34 w 52"/>
                <a:gd name="T1" fmla="*/ 0 h 32"/>
                <a:gd name="T2" fmla="*/ 8 w 52"/>
                <a:gd name="T3" fmla="*/ 20 h 32"/>
                <a:gd name="T4" fmla="*/ 24 w 52"/>
                <a:gd name="T5" fmla="*/ 32 h 32"/>
                <a:gd name="T6" fmla="*/ 42 w 52"/>
                <a:gd name="T7" fmla="*/ 30 h 32"/>
                <a:gd name="T8" fmla="*/ 34 w 52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9" name="Freeform 43"/>
            <p:cNvSpPr/>
            <p:nvPr/>
          </p:nvSpPr>
          <p:spPr bwMode="invGray">
            <a:xfrm>
              <a:off x="2292" y="2201"/>
              <a:ext cx="128" cy="54"/>
            </a:xfrm>
            <a:custGeom>
              <a:avLst/>
              <a:gdLst>
                <a:gd name="T0" fmla="*/ 102 w 172"/>
                <a:gd name="T1" fmla="*/ 8 h 72"/>
                <a:gd name="T2" fmla="*/ 66 w 172"/>
                <a:gd name="T3" fmla="*/ 4 h 72"/>
                <a:gd name="T4" fmla="*/ 54 w 172"/>
                <a:gd name="T5" fmla="*/ 0 h 72"/>
                <a:gd name="T6" fmla="*/ 0 w 172"/>
                <a:gd name="T7" fmla="*/ 28 h 72"/>
                <a:gd name="T8" fmla="*/ 28 w 172"/>
                <a:gd name="T9" fmla="*/ 40 h 72"/>
                <a:gd name="T10" fmla="*/ 42 w 172"/>
                <a:gd name="T11" fmla="*/ 60 h 72"/>
                <a:gd name="T12" fmla="*/ 66 w 172"/>
                <a:gd name="T13" fmla="*/ 68 h 72"/>
                <a:gd name="T14" fmla="*/ 78 w 172"/>
                <a:gd name="T15" fmla="*/ 72 h 72"/>
                <a:gd name="T16" fmla="*/ 130 w 172"/>
                <a:gd name="T17" fmla="*/ 60 h 72"/>
                <a:gd name="T18" fmla="*/ 172 w 172"/>
                <a:gd name="T19" fmla="*/ 44 h 72"/>
                <a:gd name="T20" fmla="*/ 148 w 172"/>
                <a:gd name="T21" fmla="*/ 18 h 72"/>
                <a:gd name="T22" fmla="*/ 136 w 172"/>
                <a:gd name="T23" fmla="*/ 4 h 72"/>
                <a:gd name="T24" fmla="*/ 102 w 172"/>
                <a:gd name="T25" fmla="*/ 8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0" name="Freeform 44"/>
            <p:cNvSpPr/>
            <p:nvPr/>
          </p:nvSpPr>
          <p:spPr bwMode="invGray">
            <a:xfrm>
              <a:off x="2393" y="2038"/>
              <a:ext cx="39" cy="24"/>
            </a:xfrm>
            <a:custGeom>
              <a:avLst/>
              <a:gdLst>
                <a:gd name="T0" fmla="*/ 34 w 52"/>
                <a:gd name="T1" fmla="*/ 0 h 32"/>
                <a:gd name="T2" fmla="*/ 8 w 52"/>
                <a:gd name="T3" fmla="*/ 20 h 32"/>
                <a:gd name="T4" fmla="*/ 24 w 52"/>
                <a:gd name="T5" fmla="*/ 32 h 32"/>
                <a:gd name="T6" fmla="*/ 42 w 52"/>
                <a:gd name="T7" fmla="*/ 30 h 32"/>
                <a:gd name="T8" fmla="*/ 34 w 52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1" name="Freeform 45"/>
            <p:cNvSpPr/>
            <p:nvPr/>
          </p:nvSpPr>
          <p:spPr bwMode="invGray">
            <a:xfrm>
              <a:off x="2662" y="2006"/>
              <a:ext cx="155" cy="63"/>
            </a:xfrm>
            <a:custGeom>
              <a:avLst/>
              <a:gdLst>
                <a:gd name="T0" fmla="*/ 191 w 206"/>
                <a:gd name="T1" fmla="*/ 7 h 85"/>
                <a:gd name="T2" fmla="*/ 103 w 206"/>
                <a:gd name="T3" fmla="*/ 9 h 85"/>
                <a:gd name="T4" fmla="*/ 109 w 206"/>
                <a:gd name="T5" fmla="*/ 25 h 85"/>
                <a:gd name="T6" fmla="*/ 107 w 206"/>
                <a:gd name="T7" fmla="*/ 33 h 85"/>
                <a:gd name="T8" fmla="*/ 89 w 206"/>
                <a:gd name="T9" fmla="*/ 27 h 85"/>
                <a:gd name="T10" fmla="*/ 77 w 206"/>
                <a:gd name="T11" fmla="*/ 19 h 85"/>
                <a:gd name="T12" fmla="*/ 23 w 206"/>
                <a:gd name="T13" fmla="*/ 27 h 85"/>
                <a:gd name="T14" fmla="*/ 31 w 206"/>
                <a:gd name="T15" fmla="*/ 49 h 85"/>
                <a:gd name="T16" fmla="*/ 55 w 206"/>
                <a:gd name="T17" fmla="*/ 53 h 85"/>
                <a:gd name="T18" fmla="*/ 75 w 206"/>
                <a:gd name="T19" fmla="*/ 73 h 85"/>
                <a:gd name="T20" fmla="*/ 89 w 206"/>
                <a:gd name="T21" fmla="*/ 85 h 85"/>
                <a:gd name="T22" fmla="*/ 109 w 206"/>
                <a:gd name="T23" fmla="*/ 67 h 85"/>
                <a:gd name="T24" fmla="*/ 121 w 206"/>
                <a:gd name="T25" fmla="*/ 59 h 85"/>
                <a:gd name="T26" fmla="*/ 127 w 206"/>
                <a:gd name="T27" fmla="*/ 47 h 85"/>
                <a:gd name="T28" fmla="*/ 167 w 206"/>
                <a:gd name="T29" fmla="*/ 35 h 85"/>
                <a:gd name="T30" fmla="*/ 187 w 206"/>
                <a:gd name="T31" fmla="*/ 31 h 85"/>
                <a:gd name="T32" fmla="*/ 199 w 206"/>
                <a:gd name="T33" fmla="*/ 27 h 85"/>
                <a:gd name="T34" fmla="*/ 191 w 206"/>
                <a:gd name="T35" fmla="*/ 7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2" name="Freeform 46"/>
            <p:cNvSpPr/>
            <p:nvPr/>
          </p:nvSpPr>
          <p:spPr bwMode="invGray">
            <a:xfrm>
              <a:off x="2759" y="2039"/>
              <a:ext cx="48" cy="21"/>
            </a:xfrm>
            <a:custGeom>
              <a:avLst/>
              <a:gdLst>
                <a:gd name="T0" fmla="*/ 36 w 64"/>
                <a:gd name="T1" fmla="*/ 6 h 28"/>
                <a:gd name="T2" fmla="*/ 8 w 64"/>
                <a:gd name="T3" fmla="*/ 4 h 28"/>
                <a:gd name="T4" fmla="*/ 24 w 64"/>
                <a:gd name="T5" fmla="*/ 28 h 28"/>
                <a:gd name="T6" fmla="*/ 54 w 64"/>
                <a:gd name="T7" fmla="*/ 14 h 28"/>
                <a:gd name="T8" fmla="*/ 36 w 64"/>
                <a:gd name="T9" fmla="*/ 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3" name="Freeform 47"/>
            <p:cNvSpPr/>
            <p:nvPr/>
          </p:nvSpPr>
          <p:spPr bwMode="invGray">
            <a:xfrm>
              <a:off x="2467" y="2311"/>
              <a:ext cx="109" cy="132"/>
            </a:xfrm>
            <a:custGeom>
              <a:avLst/>
              <a:gdLst>
                <a:gd name="T0" fmla="*/ 24 w 146"/>
                <a:gd name="T1" fmla="*/ 19 h 176"/>
                <a:gd name="T2" fmla="*/ 0 w 146"/>
                <a:gd name="T3" fmla="*/ 25 h 176"/>
                <a:gd name="T4" fmla="*/ 14 w 146"/>
                <a:gd name="T5" fmla="*/ 43 h 176"/>
                <a:gd name="T6" fmla="*/ 34 w 146"/>
                <a:gd name="T7" fmla="*/ 87 h 176"/>
                <a:gd name="T8" fmla="*/ 52 w 146"/>
                <a:gd name="T9" fmla="*/ 91 h 176"/>
                <a:gd name="T10" fmla="*/ 50 w 146"/>
                <a:gd name="T11" fmla="*/ 107 h 176"/>
                <a:gd name="T12" fmla="*/ 28 w 146"/>
                <a:gd name="T13" fmla="*/ 113 h 176"/>
                <a:gd name="T14" fmla="*/ 16 w 146"/>
                <a:gd name="T15" fmla="*/ 131 h 176"/>
                <a:gd name="T16" fmla="*/ 18 w 146"/>
                <a:gd name="T17" fmla="*/ 137 h 176"/>
                <a:gd name="T18" fmla="*/ 30 w 146"/>
                <a:gd name="T19" fmla="*/ 141 h 176"/>
                <a:gd name="T20" fmla="*/ 18 w 146"/>
                <a:gd name="T21" fmla="*/ 169 h 176"/>
                <a:gd name="T22" fmla="*/ 20 w 146"/>
                <a:gd name="T23" fmla="*/ 175 h 176"/>
                <a:gd name="T24" fmla="*/ 34 w 146"/>
                <a:gd name="T25" fmla="*/ 171 h 176"/>
                <a:gd name="T26" fmla="*/ 58 w 146"/>
                <a:gd name="T27" fmla="*/ 169 h 176"/>
                <a:gd name="T28" fmla="*/ 92 w 146"/>
                <a:gd name="T29" fmla="*/ 171 h 176"/>
                <a:gd name="T30" fmla="*/ 110 w 146"/>
                <a:gd name="T31" fmla="*/ 169 h 176"/>
                <a:gd name="T32" fmla="*/ 122 w 146"/>
                <a:gd name="T33" fmla="*/ 165 h 176"/>
                <a:gd name="T34" fmla="*/ 128 w 146"/>
                <a:gd name="T35" fmla="*/ 141 h 176"/>
                <a:gd name="T36" fmla="*/ 146 w 146"/>
                <a:gd name="T37" fmla="*/ 133 h 176"/>
                <a:gd name="T38" fmla="*/ 110 w 146"/>
                <a:gd name="T39" fmla="*/ 109 h 176"/>
                <a:gd name="T40" fmla="*/ 88 w 146"/>
                <a:gd name="T41" fmla="*/ 83 h 176"/>
                <a:gd name="T42" fmla="*/ 82 w 146"/>
                <a:gd name="T43" fmla="*/ 69 h 176"/>
                <a:gd name="T44" fmla="*/ 64 w 146"/>
                <a:gd name="T45" fmla="*/ 61 h 176"/>
                <a:gd name="T46" fmla="*/ 86 w 146"/>
                <a:gd name="T47" fmla="*/ 45 h 176"/>
                <a:gd name="T48" fmla="*/ 64 w 146"/>
                <a:gd name="T49" fmla="*/ 31 h 176"/>
                <a:gd name="T50" fmla="*/ 70 w 146"/>
                <a:gd name="T51" fmla="*/ 13 h 176"/>
                <a:gd name="T52" fmla="*/ 46 w 146"/>
                <a:gd name="T53" fmla="*/ 1 h 176"/>
                <a:gd name="T54" fmla="*/ 30 w 146"/>
                <a:gd name="T55" fmla="*/ 9 h 176"/>
                <a:gd name="T56" fmla="*/ 24 w 146"/>
                <a:gd name="T57" fmla="*/ 1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4" name="Freeform 48"/>
            <p:cNvSpPr/>
            <p:nvPr/>
          </p:nvSpPr>
          <p:spPr bwMode="invGray">
            <a:xfrm>
              <a:off x="2413" y="2359"/>
              <a:ext cx="69" cy="68"/>
            </a:xfrm>
            <a:custGeom>
              <a:avLst/>
              <a:gdLst>
                <a:gd name="T0" fmla="*/ 58 w 92"/>
                <a:gd name="T1" fmla="*/ 6 h 92"/>
                <a:gd name="T2" fmla="*/ 82 w 92"/>
                <a:gd name="T3" fmla="*/ 8 h 92"/>
                <a:gd name="T4" fmla="*/ 92 w 92"/>
                <a:gd name="T5" fmla="*/ 26 h 92"/>
                <a:gd name="T6" fmla="*/ 78 w 92"/>
                <a:gd name="T7" fmla="*/ 48 h 92"/>
                <a:gd name="T8" fmla="*/ 46 w 92"/>
                <a:gd name="T9" fmla="*/ 76 h 92"/>
                <a:gd name="T10" fmla="*/ 18 w 92"/>
                <a:gd name="T11" fmla="*/ 92 h 92"/>
                <a:gd name="T12" fmla="*/ 8 w 92"/>
                <a:gd name="T13" fmla="*/ 72 h 92"/>
                <a:gd name="T14" fmla="*/ 20 w 92"/>
                <a:gd name="T15" fmla="*/ 64 h 92"/>
                <a:gd name="T16" fmla="*/ 14 w 92"/>
                <a:gd name="T17" fmla="*/ 46 h 92"/>
                <a:gd name="T18" fmla="*/ 40 w 92"/>
                <a:gd name="T19" fmla="*/ 28 h 92"/>
                <a:gd name="T20" fmla="*/ 58 w 92"/>
                <a:gd name="T21" fmla="*/ 6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5" name="Freeform 49"/>
            <p:cNvSpPr/>
            <p:nvPr/>
          </p:nvSpPr>
          <p:spPr bwMode="invGray">
            <a:xfrm>
              <a:off x="4099" y="3502"/>
              <a:ext cx="474" cy="495"/>
            </a:xfrm>
            <a:custGeom>
              <a:avLst/>
              <a:gdLst>
                <a:gd name="T0" fmla="*/ 212 w 633"/>
                <a:gd name="T1" fmla="*/ 11 h 660"/>
                <a:gd name="T2" fmla="*/ 176 w 633"/>
                <a:gd name="T3" fmla="*/ 19 h 660"/>
                <a:gd name="T4" fmla="*/ 144 w 633"/>
                <a:gd name="T5" fmla="*/ 51 h 660"/>
                <a:gd name="T6" fmla="*/ 104 w 633"/>
                <a:gd name="T7" fmla="*/ 59 h 660"/>
                <a:gd name="T8" fmla="*/ 84 w 633"/>
                <a:gd name="T9" fmla="*/ 75 h 660"/>
                <a:gd name="T10" fmla="*/ 68 w 633"/>
                <a:gd name="T11" fmla="*/ 115 h 660"/>
                <a:gd name="T12" fmla="*/ 36 w 633"/>
                <a:gd name="T13" fmla="*/ 167 h 660"/>
                <a:gd name="T14" fmla="*/ 0 w 633"/>
                <a:gd name="T15" fmla="*/ 179 h 660"/>
                <a:gd name="T16" fmla="*/ 72 w 633"/>
                <a:gd name="T17" fmla="*/ 323 h 660"/>
                <a:gd name="T18" fmla="*/ 120 w 633"/>
                <a:gd name="T19" fmla="*/ 427 h 660"/>
                <a:gd name="T20" fmla="*/ 144 w 633"/>
                <a:gd name="T21" fmla="*/ 443 h 660"/>
                <a:gd name="T22" fmla="*/ 168 w 633"/>
                <a:gd name="T23" fmla="*/ 451 h 660"/>
                <a:gd name="T24" fmla="*/ 228 w 633"/>
                <a:gd name="T25" fmla="*/ 431 h 660"/>
                <a:gd name="T26" fmla="*/ 252 w 633"/>
                <a:gd name="T27" fmla="*/ 423 h 660"/>
                <a:gd name="T28" fmla="*/ 300 w 633"/>
                <a:gd name="T29" fmla="*/ 451 h 660"/>
                <a:gd name="T30" fmla="*/ 324 w 633"/>
                <a:gd name="T31" fmla="*/ 527 h 660"/>
                <a:gd name="T32" fmla="*/ 336 w 633"/>
                <a:gd name="T33" fmla="*/ 523 h 660"/>
                <a:gd name="T34" fmla="*/ 344 w 633"/>
                <a:gd name="T35" fmla="*/ 511 h 660"/>
                <a:gd name="T36" fmla="*/ 368 w 633"/>
                <a:gd name="T37" fmla="*/ 547 h 660"/>
                <a:gd name="T38" fmla="*/ 404 w 633"/>
                <a:gd name="T39" fmla="*/ 571 h 660"/>
                <a:gd name="T40" fmla="*/ 436 w 633"/>
                <a:gd name="T41" fmla="*/ 603 h 660"/>
                <a:gd name="T42" fmla="*/ 444 w 633"/>
                <a:gd name="T43" fmla="*/ 615 h 660"/>
                <a:gd name="T44" fmla="*/ 456 w 633"/>
                <a:gd name="T45" fmla="*/ 623 h 660"/>
                <a:gd name="T46" fmla="*/ 484 w 633"/>
                <a:gd name="T47" fmla="*/ 655 h 660"/>
                <a:gd name="T48" fmla="*/ 492 w 633"/>
                <a:gd name="T49" fmla="*/ 631 h 660"/>
                <a:gd name="T50" fmla="*/ 540 w 633"/>
                <a:gd name="T51" fmla="*/ 659 h 660"/>
                <a:gd name="T52" fmla="*/ 588 w 633"/>
                <a:gd name="T53" fmla="*/ 655 h 660"/>
                <a:gd name="T54" fmla="*/ 616 w 633"/>
                <a:gd name="T55" fmla="*/ 531 h 660"/>
                <a:gd name="T56" fmla="*/ 632 w 633"/>
                <a:gd name="T57" fmla="*/ 463 h 660"/>
                <a:gd name="T58" fmla="*/ 620 w 633"/>
                <a:gd name="T59" fmla="*/ 367 h 660"/>
                <a:gd name="T60" fmla="*/ 536 w 633"/>
                <a:gd name="T61" fmla="*/ 271 h 660"/>
                <a:gd name="T62" fmla="*/ 528 w 633"/>
                <a:gd name="T63" fmla="*/ 235 h 660"/>
                <a:gd name="T64" fmla="*/ 460 w 633"/>
                <a:gd name="T65" fmla="*/ 179 h 660"/>
                <a:gd name="T66" fmla="*/ 472 w 633"/>
                <a:gd name="T67" fmla="*/ 155 h 660"/>
                <a:gd name="T68" fmla="*/ 456 w 633"/>
                <a:gd name="T69" fmla="*/ 131 h 660"/>
                <a:gd name="T70" fmla="*/ 416 w 633"/>
                <a:gd name="T71" fmla="*/ 79 h 660"/>
                <a:gd name="T72" fmla="*/ 392 w 633"/>
                <a:gd name="T73" fmla="*/ 31 h 660"/>
                <a:gd name="T74" fmla="*/ 388 w 633"/>
                <a:gd name="T75" fmla="*/ 19 h 660"/>
                <a:gd name="T76" fmla="*/ 364 w 633"/>
                <a:gd name="T77" fmla="*/ 151 h 660"/>
                <a:gd name="T78" fmla="*/ 324 w 633"/>
                <a:gd name="T79" fmla="*/ 115 h 660"/>
                <a:gd name="T80" fmla="*/ 292 w 633"/>
                <a:gd name="T81" fmla="*/ 111 h 660"/>
                <a:gd name="T82" fmla="*/ 272 w 633"/>
                <a:gd name="T83" fmla="*/ 87 h 660"/>
                <a:gd name="T84" fmla="*/ 264 w 633"/>
                <a:gd name="T85" fmla="*/ 63 h 660"/>
                <a:gd name="T86" fmla="*/ 276 w 633"/>
                <a:gd name="T87" fmla="*/ 55 h 660"/>
                <a:gd name="T88" fmla="*/ 240 w 633"/>
                <a:gd name="T89" fmla="*/ 19 h 660"/>
                <a:gd name="T90" fmla="*/ 216 w 633"/>
                <a:gd name="T91" fmla="*/ 11 h 660"/>
                <a:gd name="T92" fmla="*/ 204 w 633"/>
                <a:gd name="T93" fmla="*/ 7 h 660"/>
                <a:gd name="T94" fmla="*/ 212 w 633"/>
                <a:gd name="T95" fmla="*/ 11 h 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6" name="Freeform 50"/>
            <p:cNvSpPr/>
            <p:nvPr/>
          </p:nvSpPr>
          <p:spPr bwMode="invGray">
            <a:xfrm>
              <a:off x="4246" y="3241"/>
              <a:ext cx="319" cy="210"/>
            </a:xfrm>
            <a:custGeom>
              <a:avLst/>
              <a:gdLst>
                <a:gd name="T0" fmla="*/ 84 w 426"/>
                <a:gd name="T1" fmla="*/ 60 h 280"/>
                <a:gd name="T2" fmla="*/ 68 w 426"/>
                <a:gd name="T3" fmla="*/ 36 h 280"/>
                <a:gd name="T4" fmla="*/ 64 w 426"/>
                <a:gd name="T5" fmla="*/ 16 h 280"/>
                <a:gd name="T6" fmla="*/ 52 w 426"/>
                <a:gd name="T7" fmla="*/ 12 h 280"/>
                <a:gd name="T8" fmla="*/ 16 w 426"/>
                <a:gd name="T9" fmla="*/ 16 h 280"/>
                <a:gd name="T10" fmla="*/ 44 w 426"/>
                <a:gd name="T11" fmla="*/ 40 h 280"/>
                <a:gd name="T12" fmla="*/ 48 w 426"/>
                <a:gd name="T13" fmla="*/ 52 h 280"/>
                <a:gd name="T14" fmla="*/ 24 w 426"/>
                <a:gd name="T15" fmla="*/ 68 h 280"/>
                <a:gd name="T16" fmla="*/ 88 w 426"/>
                <a:gd name="T17" fmla="*/ 92 h 280"/>
                <a:gd name="T18" fmla="*/ 124 w 426"/>
                <a:gd name="T19" fmla="*/ 112 h 280"/>
                <a:gd name="T20" fmla="*/ 128 w 426"/>
                <a:gd name="T21" fmla="*/ 124 h 280"/>
                <a:gd name="T22" fmla="*/ 140 w 426"/>
                <a:gd name="T23" fmla="*/ 132 h 280"/>
                <a:gd name="T24" fmla="*/ 148 w 426"/>
                <a:gd name="T25" fmla="*/ 156 h 280"/>
                <a:gd name="T26" fmla="*/ 132 w 426"/>
                <a:gd name="T27" fmla="*/ 196 h 280"/>
                <a:gd name="T28" fmla="*/ 180 w 426"/>
                <a:gd name="T29" fmla="*/ 188 h 280"/>
                <a:gd name="T30" fmla="*/ 192 w 426"/>
                <a:gd name="T31" fmla="*/ 216 h 280"/>
                <a:gd name="T32" fmla="*/ 216 w 426"/>
                <a:gd name="T33" fmla="*/ 224 h 280"/>
                <a:gd name="T34" fmla="*/ 228 w 426"/>
                <a:gd name="T35" fmla="*/ 228 h 280"/>
                <a:gd name="T36" fmla="*/ 252 w 426"/>
                <a:gd name="T37" fmla="*/ 224 h 280"/>
                <a:gd name="T38" fmla="*/ 276 w 426"/>
                <a:gd name="T39" fmla="*/ 196 h 280"/>
                <a:gd name="T40" fmla="*/ 336 w 426"/>
                <a:gd name="T41" fmla="*/ 252 h 280"/>
                <a:gd name="T42" fmla="*/ 364 w 426"/>
                <a:gd name="T43" fmla="*/ 280 h 280"/>
                <a:gd name="T44" fmla="*/ 360 w 426"/>
                <a:gd name="T45" fmla="*/ 224 h 280"/>
                <a:gd name="T46" fmla="*/ 336 w 426"/>
                <a:gd name="T47" fmla="*/ 200 h 280"/>
                <a:gd name="T48" fmla="*/ 372 w 426"/>
                <a:gd name="T49" fmla="*/ 168 h 280"/>
                <a:gd name="T50" fmla="*/ 408 w 426"/>
                <a:gd name="T51" fmla="*/ 156 h 280"/>
                <a:gd name="T52" fmla="*/ 420 w 426"/>
                <a:gd name="T53" fmla="*/ 152 h 280"/>
                <a:gd name="T54" fmla="*/ 424 w 426"/>
                <a:gd name="T55" fmla="*/ 140 h 280"/>
                <a:gd name="T56" fmla="*/ 356 w 426"/>
                <a:gd name="T57" fmla="*/ 148 h 280"/>
                <a:gd name="T58" fmla="*/ 304 w 426"/>
                <a:gd name="T59" fmla="*/ 140 h 280"/>
                <a:gd name="T60" fmla="*/ 300 w 426"/>
                <a:gd name="T61" fmla="*/ 128 h 280"/>
                <a:gd name="T62" fmla="*/ 292 w 426"/>
                <a:gd name="T63" fmla="*/ 116 h 280"/>
                <a:gd name="T64" fmla="*/ 220 w 426"/>
                <a:gd name="T65" fmla="*/ 80 h 280"/>
                <a:gd name="T66" fmla="*/ 160 w 426"/>
                <a:gd name="T67" fmla="*/ 60 h 280"/>
                <a:gd name="T68" fmla="*/ 136 w 426"/>
                <a:gd name="T69" fmla="*/ 52 h 280"/>
                <a:gd name="T70" fmla="*/ 80 w 426"/>
                <a:gd name="T71" fmla="*/ 52 h 280"/>
                <a:gd name="T72" fmla="*/ 68 w 426"/>
                <a:gd name="T73" fmla="*/ 32 h 280"/>
                <a:gd name="T74" fmla="*/ 68 w 426"/>
                <a:gd name="T75" fmla="*/ 0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algn="ctr" rotWithShape="0">
                      <a:srgbClr val="FEFEFE">
                        <a:gamma/>
                        <a:shade val="60000"/>
                        <a:invGamma/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7" name="Freeform 51"/>
            <p:cNvSpPr/>
            <p:nvPr/>
          </p:nvSpPr>
          <p:spPr bwMode="invGray">
            <a:xfrm>
              <a:off x="4255" y="3243"/>
              <a:ext cx="311" cy="211"/>
            </a:xfrm>
            <a:custGeom>
              <a:avLst/>
              <a:gdLst>
                <a:gd name="T0" fmla="*/ 0 w 416"/>
                <a:gd name="T1" fmla="*/ 1 h 282"/>
                <a:gd name="T2" fmla="*/ 20 w 416"/>
                <a:gd name="T3" fmla="*/ 37 h 282"/>
                <a:gd name="T4" fmla="*/ 28 w 416"/>
                <a:gd name="T5" fmla="*/ 49 h 282"/>
                <a:gd name="T6" fmla="*/ 84 w 416"/>
                <a:gd name="T7" fmla="*/ 89 h 282"/>
                <a:gd name="T8" fmla="*/ 120 w 416"/>
                <a:gd name="T9" fmla="*/ 113 h 282"/>
                <a:gd name="T10" fmla="*/ 132 w 416"/>
                <a:gd name="T11" fmla="*/ 121 h 282"/>
                <a:gd name="T12" fmla="*/ 136 w 416"/>
                <a:gd name="T13" fmla="*/ 169 h 282"/>
                <a:gd name="T14" fmla="*/ 116 w 416"/>
                <a:gd name="T15" fmla="*/ 201 h 282"/>
                <a:gd name="T16" fmla="*/ 136 w 416"/>
                <a:gd name="T17" fmla="*/ 197 h 282"/>
                <a:gd name="T18" fmla="*/ 148 w 416"/>
                <a:gd name="T19" fmla="*/ 189 h 282"/>
                <a:gd name="T20" fmla="*/ 160 w 416"/>
                <a:gd name="T21" fmla="*/ 201 h 282"/>
                <a:gd name="T22" fmla="*/ 184 w 416"/>
                <a:gd name="T23" fmla="*/ 217 h 282"/>
                <a:gd name="T24" fmla="*/ 208 w 416"/>
                <a:gd name="T25" fmla="*/ 233 h 282"/>
                <a:gd name="T26" fmla="*/ 240 w 416"/>
                <a:gd name="T27" fmla="*/ 221 h 282"/>
                <a:gd name="T28" fmla="*/ 248 w 416"/>
                <a:gd name="T29" fmla="*/ 197 h 282"/>
                <a:gd name="T30" fmla="*/ 268 w 416"/>
                <a:gd name="T31" fmla="*/ 201 h 282"/>
                <a:gd name="T32" fmla="*/ 292 w 416"/>
                <a:gd name="T33" fmla="*/ 209 h 282"/>
                <a:gd name="T34" fmla="*/ 340 w 416"/>
                <a:gd name="T35" fmla="*/ 281 h 282"/>
                <a:gd name="T36" fmla="*/ 356 w 416"/>
                <a:gd name="T37" fmla="*/ 277 h 282"/>
                <a:gd name="T38" fmla="*/ 352 w 416"/>
                <a:gd name="T39" fmla="*/ 253 h 282"/>
                <a:gd name="T40" fmla="*/ 316 w 416"/>
                <a:gd name="T41" fmla="*/ 197 h 282"/>
                <a:gd name="T42" fmla="*/ 360 w 416"/>
                <a:gd name="T43" fmla="*/ 173 h 282"/>
                <a:gd name="T44" fmla="*/ 408 w 416"/>
                <a:gd name="T45" fmla="*/ 145 h 282"/>
                <a:gd name="T46" fmla="*/ 409 w 416"/>
                <a:gd name="T47" fmla="*/ 120 h 282"/>
                <a:gd name="T48" fmla="*/ 367 w 416"/>
                <a:gd name="T49" fmla="*/ 138 h 282"/>
                <a:gd name="T50" fmla="*/ 308 w 416"/>
                <a:gd name="T51" fmla="*/ 137 h 282"/>
                <a:gd name="T52" fmla="*/ 264 w 416"/>
                <a:gd name="T53" fmla="*/ 97 h 282"/>
                <a:gd name="T54" fmla="*/ 180 w 416"/>
                <a:gd name="T55" fmla="*/ 61 h 282"/>
                <a:gd name="T56" fmla="*/ 132 w 416"/>
                <a:gd name="T57" fmla="*/ 33 h 282"/>
                <a:gd name="T58" fmla="*/ 92 w 416"/>
                <a:gd name="T59" fmla="*/ 41 h 282"/>
                <a:gd name="T60" fmla="*/ 76 w 416"/>
                <a:gd name="T61" fmla="*/ 57 h 282"/>
                <a:gd name="T62" fmla="*/ 56 w 416"/>
                <a:gd name="T63" fmla="*/ 17 h 282"/>
                <a:gd name="T64" fmla="*/ 0 w 416"/>
                <a:gd name="T65" fmla="*/ 1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8" name="Freeform 52"/>
            <p:cNvSpPr/>
            <p:nvPr/>
          </p:nvSpPr>
          <p:spPr bwMode="invGray">
            <a:xfrm>
              <a:off x="4485" y="4013"/>
              <a:ext cx="45" cy="58"/>
            </a:xfrm>
            <a:custGeom>
              <a:avLst/>
              <a:gdLst>
                <a:gd name="T0" fmla="*/ 32 w 60"/>
                <a:gd name="T1" fmla="*/ 18 h 78"/>
                <a:gd name="T2" fmla="*/ 0 w 60"/>
                <a:gd name="T3" fmla="*/ 18 h 78"/>
                <a:gd name="T4" fmla="*/ 20 w 60"/>
                <a:gd name="T5" fmla="*/ 42 h 78"/>
                <a:gd name="T6" fmla="*/ 28 w 60"/>
                <a:gd name="T7" fmla="*/ 66 h 78"/>
                <a:gd name="T8" fmla="*/ 32 w 60"/>
                <a:gd name="T9" fmla="*/ 78 h 78"/>
                <a:gd name="T10" fmla="*/ 60 w 60"/>
                <a:gd name="T11" fmla="*/ 50 h 78"/>
                <a:gd name="T12" fmla="*/ 32 w 60"/>
                <a:gd name="T13" fmla="*/ 1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9" name="Freeform 53"/>
            <p:cNvSpPr/>
            <p:nvPr/>
          </p:nvSpPr>
          <p:spPr bwMode="invGray">
            <a:xfrm>
              <a:off x="4621" y="3923"/>
              <a:ext cx="164" cy="85"/>
            </a:xfrm>
            <a:custGeom>
              <a:avLst/>
              <a:gdLst>
                <a:gd name="T0" fmla="*/ 47 w 219"/>
                <a:gd name="T1" fmla="*/ 73 h 113"/>
                <a:gd name="T2" fmla="*/ 39 w 219"/>
                <a:gd name="T3" fmla="*/ 61 h 113"/>
                <a:gd name="T4" fmla="*/ 15 w 219"/>
                <a:gd name="T5" fmla="*/ 69 h 113"/>
                <a:gd name="T6" fmla="*/ 39 w 219"/>
                <a:gd name="T7" fmla="*/ 113 h 113"/>
                <a:gd name="T8" fmla="*/ 123 w 219"/>
                <a:gd name="T9" fmla="*/ 89 h 113"/>
                <a:gd name="T10" fmla="*/ 147 w 219"/>
                <a:gd name="T11" fmla="*/ 73 h 113"/>
                <a:gd name="T12" fmla="*/ 171 w 219"/>
                <a:gd name="T13" fmla="*/ 65 h 113"/>
                <a:gd name="T14" fmla="*/ 219 w 219"/>
                <a:gd name="T15" fmla="*/ 19 h 113"/>
                <a:gd name="T16" fmla="*/ 210 w 219"/>
                <a:gd name="T17" fmla="*/ 0 h 113"/>
                <a:gd name="T18" fmla="*/ 179 w 219"/>
                <a:gd name="T19" fmla="*/ 17 h 113"/>
                <a:gd name="T20" fmla="*/ 107 w 219"/>
                <a:gd name="T21" fmla="*/ 41 h 113"/>
                <a:gd name="T22" fmla="*/ 83 w 219"/>
                <a:gd name="T23" fmla="*/ 45 h 113"/>
                <a:gd name="T24" fmla="*/ 59 w 219"/>
                <a:gd name="T25" fmla="*/ 53 h 113"/>
                <a:gd name="T26" fmla="*/ 47 w 219"/>
                <a:gd name="T27" fmla="*/ 7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0" name="Freeform 54"/>
            <p:cNvSpPr/>
            <p:nvPr/>
          </p:nvSpPr>
          <p:spPr bwMode="invGray">
            <a:xfrm>
              <a:off x="4791" y="3873"/>
              <a:ext cx="104" cy="92"/>
            </a:xfrm>
            <a:custGeom>
              <a:avLst/>
              <a:gdLst>
                <a:gd name="T0" fmla="*/ 12 w 139"/>
                <a:gd name="T1" fmla="*/ 60 h 122"/>
                <a:gd name="T2" fmla="*/ 8 w 139"/>
                <a:gd name="T3" fmla="*/ 84 h 122"/>
                <a:gd name="T4" fmla="*/ 0 w 139"/>
                <a:gd name="T5" fmla="*/ 108 h 122"/>
                <a:gd name="T6" fmla="*/ 36 w 139"/>
                <a:gd name="T7" fmla="*/ 116 h 122"/>
                <a:gd name="T8" fmla="*/ 52 w 139"/>
                <a:gd name="T9" fmla="*/ 96 h 122"/>
                <a:gd name="T10" fmla="*/ 124 w 139"/>
                <a:gd name="T11" fmla="*/ 68 h 122"/>
                <a:gd name="T12" fmla="*/ 136 w 139"/>
                <a:gd name="T13" fmla="*/ 44 h 122"/>
                <a:gd name="T14" fmla="*/ 112 w 139"/>
                <a:gd name="T15" fmla="*/ 28 h 122"/>
                <a:gd name="T16" fmla="*/ 100 w 139"/>
                <a:gd name="T17" fmla="*/ 20 h 122"/>
                <a:gd name="T18" fmla="*/ 64 w 139"/>
                <a:gd name="T19" fmla="*/ 12 h 122"/>
                <a:gd name="T20" fmla="*/ 52 w 139"/>
                <a:gd name="T21" fmla="*/ 36 h 122"/>
                <a:gd name="T22" fmla="*/ 12 w 139"/>
                <a:gd name="T23" fmla="*/ 6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1" name="Freeform 55"/>
            <p:cNvSpPr/>
            <p:nvPr/>
          </p:nvSpPr>
          <p:spPr bwMode="invGray">
            <a:xfrm>
              <a:off x="4846" y="3832"/>
              <a:ext cx="37" cy="26"/>
            </a:xfrm>
            <a:custGeom>
              <a:avLst/>
              <a:gdLst>
                <a:gd name="T0" fmla="*/ 29 w 49"/>
                <a:gd name="T1" fmla="*/ 0 h 35"/>
                <a:gd name="T2" fmla="*/ 8 w 49"/>
                <a:gd name="T3" fmla="*/ 11 h 35"/>
                <a:gd name="T4" fmla="*/ 24 w 49"/>
                <a:gd name="T5" fmla="*/ 35 h 35"/>
                <a:gd name="T6" fmla="*/ 39 w 49"/>
                <a:gd name="T7" fmla="*/ 26 h 35"/>
                <a:gd name="T8" fmla="*/ 29 w 49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2" name="Freeform 56"/>
            <p:cNvSpPr/>
            <p:nvPr/>
          </p:nvSpPr>
          <p:spPr bwMode="invGray">
            <a:xfrm>
              <a:off x="3123" y="3346"/>
              <a:ext cx="123" cy="201"/>
            </a:xfrm>
            <a:custGeom>
              <a:avLst/>
              <a:gdLst>
                <a:gd name="T0" fmla="*/ 128 w 164"/>
                <a:gd name="T1" fmla="*/ 0 h 268"/>
                <a:gd name="T2" fmla="*/ 104 w 164"/>
                <a:gd name="T3" fmla="*/ 28 h 268"/>
                <a:gd name="T4" fmla="*/ 88 w 164"/>
                <a:gd name="T5" fmla="*/ 64 h 268"/>
                <a:gd name="T6" fmla="*/ 36 w 164"/>
                <a:gd name="T7" fmla="*/ 84 h 268"/>
                <a:gd name="T8" fmla="*/ 28 w 164"/>
                <a:gd name="T9" fmla="*/ 96 h 268"/>
                <a:gd name="T10" fmla="*/ 16 w 164"/>
                <a:gd name="T11" fmla="*/ 100 h 268"/>
                <a:gd name="T12" fmla="*/ 20 w 164"/>
                <a:gd name="T13" fmla="*/ 132 h 268"/>
                <a:gd name="T14" fmla="*/ 28 w 164"/>
                <a:gd name="T15" fmla="*/ 156 h 268"/>
                <a:gd name="T16" fmla="*/ 0 w 164"/>
                <a:gd name="T17" fmla="*/ 200 h 268"/>
                <a:gd name="T18" fmla="*/ 28 w 164"/>
                <a:gd name="T19" fmla="*/ 260 h 268"/>
                <a:gd name="T20" fmla="*/ 52 w 164"/>
                <a:gd name="T21" fmla="*/ 268 h 268"/>
                <a:gd name="T22" fmla="*/ 88 w 164"/>
                <a:gd name="T23" fmla="*/ 216 h 268"/>
                <a:gd name="T24" fmla="*/ 104 w 164"/>
                <a:gd name="T25" fmla="*/ 192 h 268"/>
                <a:gd name="T26" fmla="*/ 128 w 164"/>
                <a:gd name="T27" fmla="*/ 116 h 268"/>
                <a:gd name="T28" fmla="*/ 140 w 164"/>
                <a:gd name="T29" fmla="*/ 76 h 268"/>
                <a:gd name="T30" fmla="*/ 164 w 164"/>
                <a:gd name="T31" fmla="*/ 72 h 268"/>
                <a:gd name="T32" fmla="*/ 128 w 164"/>
                <a:gd name="T33" fmla="*/ 0 h 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3" name="Freeform 57"/>
            <p:cNvSpPr/>
            <p:nvPr/>
          </p:nvSpPr>
          <p:spPr bwMode="invGray">
            <a:xfrm>
              <a:off x="3655" y="3034"/>
              <a:ext cx="49" cy="61"/>
            </a:xfrm>
            <a:custGeom>
              <a:avLst/>
              <a:gdLst>
                <a:gd name="T0" fmla="*/ 29 w 66"/>
                <a:gd name="T1" fmla="*/ 0 h 81"/>
                <a:gd name="T2" fmla="*/ 25 w 66"/>
                <a:gd name="T3" fmla="*/ 60 h 81"/>
                <a:gd name="T4" fmla="*/ 29 w 66"/>
                <a:gd name="T5" fmla="*/ 76 h 81"/>
                <a:gd name="T6" fmla="*/ 41 w 66"/>
                <a:gd name="T7" fmla="*/ 80 h 81"/>
                <a:gd name="T8" fmla="*/ 57 w 66"/>
                <a:gd name="T9" fmla="*/ 76 h 81"/>
                <a:gd name="T10" fmla="*/ 29 w 66"/>
                <a:gd name="T11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4" name="Freeform 58"/>
            <p:cNvSpPr/>
            <p:nvPr/>
          </p:nvSpPr>
          <p:spPr bwMode="invGray">
            <a:xfrm>
              <a:off x="3988" y="3100"/>
              <a:ext cx="111" cy="183"/>
            </a:xfrm>
            <a:custGeom>
              <a:avLst/>
              <a:gdLst>
                <a:gd name="T0" fmla="*/ 96 w 148"/>
                <a:gd name="T1" fmla="*/ 0 h 244"/>
                <a:gd name="T2" fmla="*/ 60 w 148"/>
                <a:gd name="T3" fmla="*/ 84 h 244"/>
                <a:gd name="T4" fmla="*/ 36 w 148"/>
                <a:gd name="T5" fmla="*/ 92 h 244"/>
                <a:gd name="T6" fmla="*/ 12 w 148"/>
                <a:gd name="T7" fmla="*/ 108 h 244"/>
                <a:gd name="T8" fmla="*/ 40 w 148"/>
                <a:gd name="T9" fmla="*/ 188 h 244"/>
                <a:gd name="T10" fmla="*/ 52 w 148"/>
                <a:gd name="T11" fmla="*/ 224 h 244"/>
                <a:gd name="T12" fmla="*/ 60 w 148"/>
                <a:gd name="T13" fmla="*/ 236 h 244"/>
                <a:gd name="T14" fmla="*/ 84 w 148"/>
                <a:gd name="T15" fmla="*/ 244 h 244"/>
                <a:gd name="T16" fmla="*/ 96 w 148"/>
                <a:gd name="T17" fmla="*/ 196 h 244"/>
                <a:gd name="T18" fmla="*/ 124 w 148"/>
                <a:gd name="T19" fmla="*/ 168 h 244"/>
                <a:gd name="T20" fmla="*/ 112 w 148"/>
                <a:gd name="T21" fmla="*/ 68 h 244"/>
                <a:gd name="T22" fmla="*/ 140 w 148"/>
                <a:gd name="T23" fmla="*/ 48 h 244"/>
                <a:gd name="T24" fmla="*/ 112 w 148"/>
                <a:gd name="T25" fmla="*/ 20 h 244"/>
                <a:gd name="T26" fmla="*/ 96 w 148"/>
                <a:gd name="T2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5" name="Freeform 59"/>
            <p:cNvSpPr/>
            <p:nvPr/>
          </p:nvSpPr>
          <p:spPr bwMode="invGray">
            <a:xfrm>
              <a:off x="3894" y="3043"/>
              <a:ext cx="72" cy="137"/>
            </a:xfrm>
            <a:custGeom>
              <a:avLst/>
              <a:gdLst>
                <a:gd name="T0" fmla="*/ 48 w 96"/>
                <a:gd name="T1" fmla="*/ 2 h 183"/>
                <a:gd name="T2" fmla="*/ 51 w 96"/>
                <a:gd name="T3" fmla="*/ 35 h 183"/>
                <a:gd name="T4" fmla="*/ 60 w 96"/>
                <a:gd name="T5" fmla="*/ 62 h 183"/>
                <a:gd name="T6" fmla="*/ 62 w 96"/>
                <a:gd name="T7" fmla="*/ 92 h 183"/>
                <a:gd name="T8" fmla="*/ 68 w 96"/>
                <a:gd name="T9" fmla="*/ 105 h 183"/>
                <a:gd name="T10" fmla="*/ 71 w 96"/>
                <a:gd name="T11" fmla="*/ 126 h 183"/>
                <a:gd name="T12" fmla="*/ 57 w 96"/>
                <a:gd name="T13" fmla="*/ 93 h 183"/>
                <a:gd name="T14" fmla="*/ 35 w 96"/>
                <a:gd name="T15" fmla="*/ 78 h 183"/>
                <a:gd name="T16" fmla="*/ 5 w 96"/>
                <a:gd name="T17" fmla="*/ 83 h 183"/>
                <a:gd name="T18" fmla="*/ 8 w 96"/>
                <a:gd name="T19" fmla="*/ 102 h 183"/>
                <a:gd name="T20" fmla="*/ 41 w 96"/>
                <a:gd name="T21" fmla="*/ 114 h 183"/>
                <a:gd name="T22" fmla="*/ 57 w 96"/>
                <a:gd name="T23" fmla="*/ 135 h 183"/>
                <a:gd name="T24" fmla="*/ 71 w 96"/>
                <a:gd name="T25" fmla="*/ 135 h 183"/>
                <a:gd name="T26" fmla="*/ 78 w 96"/>
                <a:gd name="T27" fmla="*/ 150 h 183"/>
                <a:gd name="T28" fmla="*/ 96 w 96"/>
                <a:gd name="T29" fmla="*/ 179 h 183"/>
                <a:gd name="T30" fmla="*/ 81 w 96"/>
                <a:gd name="T31" fmla="*/ 126 h 183"/>
                <a:gd name="T32" fmla="*/ 80 w 96"/>
                <a:gd name="T33" fmla="*/ 93 h 183"/>
                <a:gd name="T34" fmla="*/ 71 w 96"/>
                <a:gd name="T35" fmla="*/ 63 h 183"/>
                <a:gd name="T36" fmla="*/ 63 w 96"/>
                <a:gd name="T37" fmla="*/ 41 h 183"/>
                <a:gd name="T38" fmla="*/ 57 w 96"/>
                <a:gd name="T39" fmla="*/ 20 h 183"/>
                <a:gd name="T40" fmla="*/ 48 w 96"/>
                <a:gd name="T41" fmla="*/ 2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6" name="Freeform 60"/>
            <p:cNvSpPr/>
            <p:nvPr/>
          </p:nvSpPr>
          <p:spPr bwMode="invGray">
            <a:xfrm>
              <a:off x="3943" y="3153"/>
              <a:ext cx="40" cy="131"/>
            </a:xfrm>
            <a:custGeom>
              <a:avLst/>
              <a:gdLst>
                <a:gd name="T0" fmla="*/ 6 w 54"/>
                <a:gd name="T1" fmla="*/ 0 h 175"/>
                <a:gd name="T2" fmla="*/ 0 w 54"/>
                <a:gd name="T3" fmla="*/ 25 h 175"/>
                <a:gd name="T4" fmla="*/ 9 w 54"/>
                <a:gd name="T5" fmla="*/ 54 h 175"/>
                <a:gd name="T6" fmla="*/ 18 w 54"/>
                <a:gd name="T7" fmla="*/ 94 h 175"/>
                <a:gd name="T8" fmla="*/ 34 w 54"/>
                <a:gd name="T9" fmla="*/ 129 h 175"/>
                <a:gd name="T10" fmla="*/ 54 w 54"/>
                <a:gd name="T11" fmla="*/ 175 h 175"/>
                <a:gd name="T12" fmla="*/ 40 w 54"/>
                <a:gd name="T13" fmla="*/ 115 h 175"/>
                <a:gd name="T14" fmla="*/ 34 w 54"/>
                <a:gd name="T15" fmla="*/ 93 h 175"/>
                <a:gd name="T16" fmla="*/ 28 w 54"/>
                <a:gd name="T17" fmla="*/ 61 h 175"/>
                <a:gd name="T18" fmla="*/ 25 w 54"/>
                <a:gd name="T19" fmla="*/ 46 h 175"/>
                <a:gd name="T20" fmla="*/ 16 w 54"/>
                <a:gd name="T21" fmla="*/ 37 h 175"/>
                <a:gd name="T22" fmla="*/ 6 w 54"/>
                <a:gd name="T23" fmla="*/ 0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7" name="Freeform 61"/>
            <p:cNvSpPr/>
            <p:nvPr/>
          </p:nvSpPr>
          <p:spPr bwMode="invGray">
            <a:xfrm>
              <a:off x="3988" y="3290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8 w 86"/>
                <a:gd name="T3" fmla="*/ 34 h 73"/>
                <a:gd name="T4" fmla="*/ 23 w 86"/>
                <a:gd name="T5" fmla="*/ 43 h 73"/>
                <a:gd name="T6" fmla="*/ 48 w 86"/>
                <a:gd name="T7" fmla="*/ 49 h 73"/>
                <a:gd name="T8" fmla="*/ 62 w 86"/>
                <a:gd name="T9" fmla="*/ 57 h 73"/>
                <a:gd name="T10" fmla="*/ 74 w 86"/>
                <a:gd name="T11" fmla="*/ 66 h 73"/>
                <a:gd name="T12" fmla="*/ 86 w 86"/>
                <a:gd name="T13" fmla="*/ 69 h 73"/>
                <a:gd name="T14" fmla="*/ 72 w 86"/>
                <a:gd name="T15" fmla="*/ 39 h 73"/>
                <a:gd name="T16" fmla="*/ 63 w 86"/>
                <a:gd name="T17" fmla="*/ 22 h 73"/>
                <a:gd name="T18" fmla="*/ 36 w 86"/>
                <a:gd name="T19" fmla="*/ 24 h 73"/>
                <a:gd name="T20" fmla="*/ 24 w 86"/>
                <a:gd name="T21" fmla="*/ 19 h 73"/>
                <a:gd name="T22" fmla="*/ 6 w 86"/>
                <a:gd name="T23" fmla="*/ 0 h 73"/>
                <a:gd name="T24" fmla="*/ 2 w 86"/>
                <a:gd name="T25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8" name="Freeform 62"/>
            <p:cNvSpPr/>
            <p:nvPr/>
          </p:nvSpPr>
          <p:spPr bwMode="invGray">
            <a:xfrm>
              <a:off x="4092" y="3195"/>
              <a:ext cx="83" cy="117"/>
            </a:xfrm>
            <a:custGeom>
              <a:avLst/>
              <a:gdLst>
                <a:gd name="T0" fmla="*/ 98 w 111"/>
                <a:gd name="T1" fmla="*/ 0 h 156"/>
                <a:gd name="T2" fmla="*/ 75 w 111"/>
                <a:gd name="T3" fmla="*/ 10 h 156"/>
                <a:gd name="T4" fmla="*/ 23 w 111"/>
                <a:gd name="T5" fmla="*/ 15 h 156"/>
                <a:gd name="T6" fmla="*/ 14 w 111"/>
                <a:gd name="T7" fmla="*/ 33 h 156"/>
                <a:gd name="T8" fmla="*/ 11 w 111"/>
                <a:gd name="T9" fmla="*/ 61 h 156"/>
                <a:gd name="T10" fmla="*/ 14 w 111"/>
                <a:gd name="T11" fmla="*/ 75 h 156"/>
                <a:gd name="T12" fmla="*/ 3 w 111"/>
                <a:gd name="T13" fmla="*/ 88 h 156"/>
                <a:gd name="T14" fmla="*/ 14 w 111"/>
                <a:gd name="T15" fmla="*/ 109 h 156"/>
                <a:gd name="T16" fmla="*/ 23 w 111"/>
                <a:gd name="T17" fmla="*/ 124 h 156"/>
                <a:gd name="T18" fmla="*/ 15 w 111"/>
                <a:gd name="T19" fmla="*/ 144 h 156"/>
                <a:gd name="T20" fmla="*/ 24 w 111"/>
                <a:gd name="T21" fmla="*/ 156 h 156"/>
                <a:gd name="T22" fmla="*/ 42 w 111"/>
                <a:gd name="T23" fmla="*/ 144 h 156"/>
                <a:gd name="T24" fmla="*/ 50 w 111"/>
                <a:gd name="T25" fmla="*/ 93 h 156"/>
                <a:gd name="T26" fmla="*/ 56 w 111"/>
                <a:gd name="T27" fmla="*/ 126 h 156"/>
                <a:gd name="T28" fmla="*/ 65 w 111"/>
                <a:gd name="T29" fmla="*/ 145 h 156"/>
                <a:gd name="T30" fmla="*/ 62 w 111"/>
                <a:gd name="T31" fmla="*/ 112 h 156"/>
                <a:gd name="T32" fmla="*/ 72 w 111"/>
                <a:gd name="T33" fmla="*/ 73 h 156"/>
                <a:gd name="T34" fmla="*/ 69 w 111"/>
                <a:gd name="T35" fmla="*/ 51 h 156"/>
                <a:gd name="T36" fmla="*/ 54 w 111"/>
                <a:gd name="T37" fmla="*/ 60 h 156"/>
                <a:gd name="T38" fmla="*/ 35 w 111"/>
                <a:gd name="T39" fmla="*/ 54 h 156"/>
                <a:gd name="T40" fmla="*/ 41 w 111"/>
                <a:gd name="T41" fmla="*/ 36 h 156"/>
                <a:gd name="T42" fmla="*/ 62 w 111"/>
                <a:gd name="T43" fmla="*/ 34 h 156"/>
                <a:gd name="T44" fmla="*/ 78 w 111"/>
                <a:gd name="T45" fmla="*/ 39 h 156"/>
                <a:gd name="T46" fmla="*/ 98 w 111"/>
                <a:gd name="T47" fmla="*/ 30 h 156"/>
                <a:gd name="T48" fmla="*/ 111 w 111"/>
                <a:gd name="T49" fmla="*/ 13 h 156"/>
                <a:gd name="T50" fmla="*/ 98 w 111"/>
                <a:gd name="T51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9" name="Freeform 63"/>
            <p:cNvSpPr/>
            <p:nvPr/>
          </p:nvSpPr>
          <p:spPr bwMode="invGray">
            <a:xfrm>
              <a:off x="4064" y="2777"/>
              <a:ext cx="22" cy="71"/>
            </a:xfrm>
            <a:custGeom>
              <a:avLst/>
              <a:gdLst>
                <a:gd name="T0" fmla="*/ 12 w 30"/>
                <a:gd name="T1" fmla="*/ 0 h 94"/>
                <a:gd name="T2" fmla="*/ 0 w 30"/>
                <a:gd name="T3" fmla="*/ 16 h 94"/>
                <a:gd name="T4" fmla="*/ 6 w 30"/>
                <a:gd name="T5" fmla="*/ 37 h 94"/>
                <a:gd name="T6" fmla="*/ 1 w 30"/>
                <a:gd name="T7" fmla="*/ 61 h 94"/>
                <a:gd name="T8" fmla="*/ 16 w 30"/>
                <a:gd name="T9" fmla="*/ 94 h 94"/>
                <a:gd name="T10" fmla="*/ 30 w 30"/>
                <a:gd name="T11" fmla="*/ 82 h 94"/>
                <a:gd name="T12" fmla="*/ 22 w 30"/>
                <a:gd name="T13" fmla="*/ 61 h 94"/>
                <a:gd name="T14" fmla="*/ 12 w 30"/>
                <a:gd name="T15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0" name="Freeform 64"/>
            <p:cNvSpPr/>
            <p:nvPr/>
          </p:nvSpPr>
          <p:spPr bwMode="invGray">
            <a:xfrm>
              <a:off x="4078" y="2896"/>
              <a:ext cx="61" cy="118"/>
            </a:xfrm>
            <a:custGeom>
              <a:avLst/>
              <a:gdLst>
                <a:gd name="T0" fmla="*/ 12 w 81"/>
                <a:gd name="T1" fmla="*/ 2 h 158"/>
                <a:gd name="T2" fmla="*/ 0 w 81"/>
                <a:gd name="T3" fmla="*/ 20 h 158"/>
                <a:gd name="T4" fmla="*/ 8 w 81"/>
                <a:gd name="T5" fmla="*/ 49 h 158"/>
                <a:gd name="T6" fmla="*/ 6 w 81"/>
                <a:gd name="T7" fmla="*/ 107 h 158"/>
                <a:gd name="T8" fmla="*/ 17 w 81"/>
                <a:gd name="T9" fmla="*/ 103 h 158"/>
                <a:gd name="T10" fmla="*/ 20 w 81"/>
                <a:gd name="T11" fmla="*/ 115 h 158"/>
                <a:gd name="T12" fmla="*/ 29 w 81"/>
                <a:gd name="T13" fmla="*/ 122 h 158"/>
                <a:gd name="T14" fmla="*/ 38 w 81"/>
                <a:gd name="T15" fmla="*/ 140 h 158"/>
                <a:gd name="T16" fmla="*/ 48 w 81"/>
                <a:gd name="T17" fmla="*/ 128 h 158"/>
                <a:gd name="T18" fmla="*/ 65 w 81"/>
                <a:gd name="T19" fmla="*/ 134 h 158"/>
                <a:gd name="T20" fmla="*/ 63 w 81"/>
                <a:gd name="T21" fmla="*/ 109 h 158"/>
                <a:gd name="T22" fmla="*/ 48 w 81"/>
                <a:gd name="T23" fmla="*/ 104 h 158"/>
                <a:gd name="T24" fmla="*/ 39 w 81"/>
                <a:gd name="T25" fmla="*/ 91 h 158"/>
                <a:gd name="T26" fmla="*/ 33 w 81"/>
                <a:gd name="T27" fmla="*/ 73 h 158"/>
                <a:gd name="T28" fmla="*/ 41 w 81"/>
                <a:gd name="T29" fmla="*/ 53 h 158"/>
                <a:gd name="T30" fmla="*/ 35 w 81"/>
                <a:gd name="T31" fmla="*/ 35 h 158"/>
                <a:gd name="T32" fmla="*/ 42 w 81"/>
                <a:gd name="T33" fmla="*/ 20 h 158"/>
                <a:gd name="T34" fmla="*/ 29 w 81"/>
                <a:gd name="T35" fmla="*/ 4 h 158"/>
                <a:gd name="T36" fmla="*/ 18 w 81"/>
                <a:gd name="T37" fmla="*/ 7 h 158"/>
                <a:gd name="T38" fmla="*/ 12 w 81"/>
                <a:gd name="T39" fmla="*/ 2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1" name="Freeform 65"/>
            <p:cNvSpPr/>
            <p:nvPr/>
          </p:nvSpPr>
          <p:spPr bwMode="invGray">
            <a:xfrm>
              <a:off x="4121" y="3052"/>
              <a:ext cx="64" cy="79"/>
            </a:xfrm>
            <a:custGeom>
              <a:avLst/>
              <a:gdLst>
                <a:gd name="T0" fmla="*/ 52 w 85"/>
                <a:gd name="T1" fmla="*/ 0 h 105"/>
                <a:gd name="T2" fmla="*/ 44 w 85"/>
                <a:gd name="T3" fmla="*/ 18 h 105"/>
                <a:gd name="T4" fmla="*/ 32 w 85"/>
                <a:gd name="T5" fmla="*/ 30 h 105"/>
                <a:gd name="T6" fmla="*/ 16 w 85"/>
                <a:gd name="T7" fmla="*/ 35 h 105"/>
                <a:gd name="T8" fmla="*/ 8 w 85"/>
                <a:gd name="T9" fmla="*/ 48 h 105"/>
                <a:gd name="T10" fmla="*/ 4 w 85"/>
                <a:gd name="T11" fmla="*/ 74 h 105"/>
                <a:gd name="T12" fmla="*/ 13 w 85"/>
                <a:gd name="T13" fmla="*/ 71 h 105"/>
                <a:gd name="T14" fmla="*/ 25 w 85"/>
                <a:gd name="T15" fmla="*/ 62 h 105"/>
                <a:gd name="T16" fmla="*/ 34 w 85"/>
                <a:gd name="T17" fmla="*/ 69 h 105"/>
                <a:gd name="T18" fmla="*/ 58 w 85"/>
                <a:gd name="T19" fmla="*/ 99 h 105"/>
                <a:gd name="T20" fmla="*/ 71 w 85"/>
                <a:gd name="T21" fmla="*/ 72 h 105"/>
                <a:gd name="T22" fmla="*/ 85 w 85"/>
                <a:gd name="T23" fmla="*/ 68 h 105"/>
                <a:gd name="T24" fmla="*/ 74 w 85"/>
                <a:gd name="T25" fmla="*/ 39 h 105"/>
                <a:gd name="T26" fmla="*/ 52 w 85"/>
                <a:gd name="T27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2" name="Freeform 66"/>
            <p:cNvSpPr/>
            <p:nvPr/>
          </p:nvSpPr>
          <p:spPr bwMode="invGray">
            <a:xfrm>
              <a:off x="4197" y="3193"/>
              <a:ext cx="29" cy="49"/>
            </a:xfrm>
            <a:custGeom>
              <a:avLst/>
              <a:gdLst>
                <a:gd name="T0" fmla="*/ 6 w 38"/>
                <a:gd name="T1" fmla="*/ 27 h 66"/>
                <a:gd name="T2" fmla="*/ 26 w 38"/>
                <a:gd name="T3" fmla="*/ 66 h 66"/>
                <a:gd name="T4" fmla="*/ 30 w 38"/>
                <a:gd name="T5" fmla="*/ 52 h 66"/>
                <a:gd name="T6" fmla="*/ 38 w 38"/>
                <a:gd name="T7" fmla="*/ 40 h 66"/>
                <a:gd name="T8" fmla="*/ 30 w 38"/>
                <a:gd name="T9" fmla="*/ 25 h 66"/>
                <a:gd name="T10" fmla="*/ 20 w 38"/>
                <a:gd name="T11" fmla="*/ 13 h 66"/>
                <a:gd name="T12" fmla="*/ 11 w 38"/>
                <a:gd name="T13" fmla="*/ 1 h 66"/>
                <a:gd name="T14" fmla="*/ 2 w 38"/>
                <a:gd name="T15" fmla="*/ 12 h 66"/>
                <a:gd name="T16" fmla="*/ 6 w 38"/>
                <a:gd name="T17" fmla="*/ 27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3" name="Freeform 67"/>
            <p:cNvSpPr/>
            <p:nvPr/>
          </p:nvSpPr>
          <p:spPr bwMode="invGray">
            <a:xfrm>
              <a:off x="4181" y="3275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6 w 24"/>
                <a:gd name="T3" fmla="*/ 23 h 23"/>
                <a:gd name="T4" fmla="*/ 24 w 24"/>
                <a:gd name="T5" fmla="*/ 11 h 23"/>
                <a:gd name="T6" fmla="*/ 0 w 24"/>
                <a:gd name="T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4" name="Freeform 68"/>
            <p:cNvSpPr/>
            <p:nvPr/>
          </p:nvSpPr>
          <p:spPr bwMode="invGray">
            <a:xfrm>
              <a:off x="4208" y="3265"/>
              <a:ext cx="45" cy="37"/>
            </a:xfrm>
            <a:custGeom>
              <a:avLst/>
              <a:gdLst>
                <a:gd name="T0" fmla="*/ 9 w 60"/>
                <a:gd name="T1" fmla="*/ 0 h 49"/>
                <a:gd name="T2" fmla="*/ 0 w 60"/>
                <a:gd name="T3" fmla="*/ 18 h 49"/>
                <a:gd name="T4" fmla="*/ 28 w 60"/>
                <a:gd name="T5" fmla="*/ 33 h 49"/>
                <a:gd name="T6" fmla="*/ 42 w 60"/>
                <a:gd name="T7" fmla="*/ 46 h 49"/>
                <a:gd name="T8" fmla="*/ 60 w 60"/>
                <a:gd name="T9" fmla="*/ 42 h 49"/>
                <a:gd name="T10" fmla="*/ 49 w 60"/>
                <a:gd name="T11" fmla="*/ 24 h 49"/>
                <a:gd name="T12" fmla="*/ 28 w 60"/>
                <a:gd name="T13" fmla="*/ 3 h 49"/>
                <a:gd name="T14" fmla="*/ 19 w 60"/>
                <a:gd name="T15" fmla="*/ 16 h 49"/>
                <a:gd name="T16" fmla="*/ 9 w 60"/>
                <a:gd name="T17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5" name="Freeform 69"/>
            <p:cNvSpPr/>
            <p:nvPr/>
          </p:nvSpPr>
          <p:spPr bwMode="invGray">
            <a:xfrm>
              <a:off x="4277" y="3335"/>
              <a:ext cx="24" cy="33"/>
            </a:xfrm>
            <a:custGeom>
              <a:avLst/>
              <a:gdLst>
                <a:gd name="T0" fmla="*/ 28 w 32"/>
                <a:gd name="T1" fmla="*/ 0 h 44"/>
                <a:gd name="T2" fmla="*/ 10 w 32"/>
                <a:gd name="T3" fmla="*/ 11 h 44"/>
                <a:gd name="T4" fmla="*/ 12 w 32"/>
                <a:gd name="T5" fmla="*/ 32 h 44"/>
                <a:gd name="T6" fmla="*/ 24 w 32"/>
                <a:gd name="T7" fmla="*/ 36 h 44"/>
                <a:gd name="T8" fmla="*/ 28 w 32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6" name="Freeform 70"/>
            <p:cNvSpPr/>
            <p:nvPr/>
          </p:nvSpPr>
          <p:spPr bwMode="invGray">
            <a:xfrm>
              <a:off x="4544" y="3293"/>
              <a:ext cx="46" cy="47"/>
            </a:xfrm>
            <a:custGeom>
              <a:avLst/>
              <a:gdLst>
                <a:gd name="T0" fmla="*/ 7 w 61"/>
                <a:gd name="T1" fmla="*/ 0 h 63"/>
                <a:gd name="T2" fmla="*/ 0 w 61"/>
                <a:gd name="T3" fmla="*/ 14 h 63"/>
                <a:gd name="T4" fmla="*/ 24 w 61"/>
                <a:gd name="T5" fmla="*/ 35 h 63"/>
                <a:gd name="T6" fmla="*/ 36 w 61"/>
                <a:gd name="T7" fmla="*/ 54 h 63"/>
                <a:gd name="T8" fmla="*/ 46 w 61"/>
                <a:gd name="T9" fmla="*/ 63 h 63"/>
                <a:gd name="T10" fmla="*/ 61 w 61"/>
                <a:gd name="T11" fmla="*/ 56 h 63"/>
                <a:gd name="T12" fmla="*/ 33 w 61"/>
                <a:gd name="T13" fmla="*/ 17 h 63"/>
                <a:gd name="T14" fmla="*/ 7 w 61"/>
                <a:gd name="T15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7" name="Freeform 71"/>
            <p:cNvSpPr/>
            <p:nvPr/>
          </p:nvSpPr>
          <p:spPr bwMode="invGray">
            <a:xfrm>
              <a:off x="4147" y="3352"/>
              <a:ext cx="46" cy="50"/>
            </a:xfrm>
            <a:custGeom>
              <a:avLst/>
              <a:gdLst>
                <a:gd name="T0" fmla="*/ 28 w 61"/>
                <a:gd name="T1" fmla="*/ 7 h 67"/>
                <a:gd name="T2" fmla="*/ 30 w 61"/>
                <a:gd name="T3" fmla="*/ 34 h 67"/>
                <a:gd name="T4" fmla="*/ 16 w 61"/>
                <a:gd name="T5" fmla="*/ 43 h 67"/>
                <a:gd name="T6" fmla="*/ 22 w 61"/>
                <a:gd name="T7" fmla="*/ 67 h 67"/>
                <a:gd name="T8" fmla="*/ 48 w 61"/>
                <a:gd name="T9" fmla="*/ 58 h 67"/>
                <a:gd name="T10" fmla="*/ 60 w 61"/>
                <a:gd name="T11" fmla="*/ 47 h 67"/>
                <a:gd name="T12" fmla="*/ 51 w 61"/>
                <a:gd name="T13" fmla="*/ 28 h 67"/>
                <a:gd name="T14" fmla="*/ 57 w 61"/>
                <a:gd name="T15" fmla="*/ 14 h 67"/>
                <a:gd name="T16" fmla="*/ 55 w 61"/>
                <a:gd name="T17" fmla="*/ 2 h 67"/>
                <a:gd name="T18" fmla="*/ 46 w 61"/>
                <a:gd name="T19" fmla="*/ 4 h 67"/>
                <a:gd name="T20" fmla="*/ 51 w 61"/>
                <a:gd name="T21" fmla="*/ 5 h 67"/>
                <a:gd name="T22" fmla="*/ 49 w 61"/>
                <a:gd name="T23" fmla="*/ 16 h 67"/>
                <a:gd name="T24" fmla="*/ 43 w 61"/>
                <a:gd name="T25" fmla="*/ 23 h 67"/>
                <a:gd name="T26" fmla="*/ 28 w 61"/>
                <a:gd name="T27" fmla="*/ 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8" name="Freeform 72"/>
            <p:cNvSpPr/>
            <p:nvPr/>
          </p:nvSpPr>
          <p:spPr bwMode="invGray">
            <a:xfrm>
              <a:off x="4098" y="3371"/>
              <a:ext cx="32" cy="27"/>
            </a:xfrm>
            <a:custGeom>
              <a:avLst/>
              <a:gdLst>
                <a:gd name="T0" fmla="*/ 21 w 43"/>
                <a:gd name="T1" fmla="*/ 3 h 36"/>
                <a:gd name="T2" fmla="*/ 6 w 43"/>
                <a:gd name="T3" fmla="*/ 6 h 36"/>
                <a:gd name="T4" fmla="*/ 33 w 43"/>
                <a:gd name="T5" fmla="*/ 36 h 36"/>
                <a:gd name="T6" fmla="*/ 42 w 43"/>
                <a:gd name="T7" fmla="*/ 30 h 36"/>
                <a:gd name="T8" fmla="*/ 21 w 43"/>
                <a:gd name="T9" fmla="*/ 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9" name="Freeform 73"/>
            <p:cNvSpPr/>
            <p:nvPr/>
          </p:nvSpPr>
          <p:spPr bwMode="invGray">
            <a:xfrm>
              <a:off x="4077" y="3342"/>
              <a:ext cx="24" cy="31"/>
            </a:xfrm>
            <a:custGeom>
              <a:avLst/>
              <a:gdLst>
                <a:gd name="T0" fmla="*/ 21 w 32"/>
                <a:gd name="T1" fmla="*/ 0 h 41"/>
                <a:gd name="T2" fmla="*/ 0 w 32"/>
                <a:gd name="T3" fmla="*/ 26 h 41"/>
                <a:gd name="T4" fmla="*/ 16 w 32"/>
                <a:gd name="T5" fmla="*/ 24 h 41"/>
                <a:gd name="T6" fmla="*/ 19 w 32"/>
                <a:gd name="T7" fmla="*/ 29 h 41"/>
                <a:gd name="T8" fmla="*/ 16 w 32"/>
                <a:gd name="T9" fmla="*/ 35 h 41"/>
                <a:gd name="T10" fmla="*/ 30 w 32"/>
                <a:gd name="T11" fmla="*/ 21 h 41"/>
                <a:gd name="T12" fmla="*/ 24 w 32"/>
                <a:gd name="T13" fmla="*/ 9 h 41"/>
                <a:gd name="T14" fmla="*/ 21 w 32"/>
                <a:gd name="T15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0" name="Freeform 74"/>
            <p:cNvSpPr/>
            <p:nvPr/>
          </p:nvSpPr>
          <p:spPr bwMode="invGray">
            <a:xfrm>
              <a:off x="4111" y="3353"/>
              <a:ext cx="34" cy="24"/>
            </a:xfrm>
            <a:custGeom>
              <a:avLst/>
              <a:gdLst>
                <a:gd name="T0" fmla="*/ 21 w 45"/>
                <a:gd name="T1" fmla="*/ 0 h 32"/>
                <a:gd name="T2" fmla="*/ 0 w 45"/>
                <a:gd name="T3" fmla="*/ 7 h 32"/>
                <a:gd name="T4" fmla="*/ 27 w 45"/>
                <a:gd name="T5" fmla="*/ 31 h 32"/>
                <a:gd name="T6" fmla="*/ 45 w 45"/>
                <a:gd name="T7" fmla="*/ 24 h 32"/>
                <a:gd name="T8" fmla="*/ 22 w 45"/>
                <a:gd name="T9" fmla="*/ 10 h 32"/>
                <a:gd name="T10" fmla="*/ 21 w 45"/>
                <a:gd name="T11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1" name="Freeform 75"/>
            <p:cNvSpPr/>
            <p:nvPr/>
          </p:nvSpPr>
          <p:spPr bwMode="invGray">
            <a:xfrm>
              <a:off x="4062" y="3021"/>
              <a:ext cx="27" cy="55"/>
            </a:xfrm>
            <a:custGeom>
              <a:avLst/>
              <a:gdLst>
                <a:gd name="T0" fmla="*/ 30 w 35"/>
                <a:gd name="T1" fmla="*/ 0 h 74"/>
                <a:gd name="T2" fmla="*/ 21 w 35"/>
                <a:gd name="T3" fmla="*/ 15 h 74"/>
                <a:gd name="T4" fmla="*/ 9 w 35"/>
                <a:gd name="T5" fmla="*/ 36 h 74"/>
                <a:gd name="T6" fmla="*/ 0 w 35"/>
                <a:gd name="T7" fmla="*/ 59 h 74"/>
                <a:gd name="T8" fmla="*/ 8 w 35"/>
                <a:gd name="T9" fmla="*/ 74 h 74"/>
                <a:gd name="T10" fmla="*/ 20 w 35"/>
                <a:gd name="T11" fmla="*/ 59 h 74"/>
                <a:gd name="T12" fmla="*/ 35 w 35"/>
                <a:gd name="T13" fmla="*/ 32 h 74"/>
                <a:gd name="T14" fmla="*/ 30 w 35"/>
                <a:gd name="T15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2" name="Freeform 76"/>
            <p:cNvSpPr/>
            <p:nvPr/>
          </p:nvSpPr>
          <p:spPr bwMode="invGray">
            <a:xfrm>
              <a:off x="4113" y="3012"/>
              <a:ext cx="19" cy="55"/>
            </a:xfrm>
            <a:custGeom>
              <a:avLst/>
              <a:gdLst>
                <a:gd name="T0" fmla="*/ 13 w 25"/>
                <a:gd name="T1" fmla="*/ 7 h 73"/>
                <a:gd name="T2" fmla="*/ 4 w 25"/>
                <a:gd name="T3" fmla="*/ 8 h 73"/>
                <a:gd name="T4" fmla="*/ 0 w 25"/>
                <a:gd name="T5" fmla="*/ 22 h 73"/>
                <a:gd name="T6" fmla="*/ 15 w 25"/>
                <a:gd name="T7" fmla="*/ 41 h 73"/>
                <a:gd name="T8" fmla="*/ 25 w 25"/>
                <a:gd name="T9" fmla="*/ 56 h 73"/>
                <a:gd name="T10" fmla="*/ 16 w 25"/>
                <a:gd name="T11" fmla="*/ 20 h 73"/>
                <a:gd name="T12" fmla="*/ 13 w 25"/>
                <a:gd name="T13" fmla="*/ 7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3" name="Freeform 77"/>
            <p:cNvSpPr/>
            <p:nvPr/>
          </p:nvSpPr>
          <p:spPr bwMode="invGray">
            <a:xfrm>
              <a:off x="4135" y="2995"/>
              <a:ext cx="10" cy="25"/>
            </a:xfrm>
            <a:custGeom>
              <a:avLst/>
              <a:gdLst>
                <a:gd name="T0" fmla="*/ 11 w 14"/>
                <a:gd name="T1" fmla="*/ 0 h 33"/>
                <a:gd name="T2" fmla="*/ 1 w 14"/>
                <a:gd name="T3" fmla="*/ 10 h 33"/>
                <a:gd name="T4" fmla="*/ 11 w 14"/>
                <a:gd name="T5" fmla="*/ 25 h 33"/>
                <a:gd name="T6" fmla="*/ 11 w 14"/>
                <a:gd name="T7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4" name="Freeform 78"/>
            <p:cNvSpPr/>
            <p:nvPr/>
          </p:nvSpPr>
          <p:spPr bwMode="invGray">
            <a:xfrm>
              <a:off x="4145" y="3007"/>
              <a:ext cx="21" cy="48"/>
            </a:xfrm>
            <a:custGeom>
              <a:avLst/>
              <a:gdLst>
                <a:gd name="T0" fmla="*/ 5 w 28"/>
                <a:gd name="T1" fmla="*/ 0 h 64"/>
                <a:gd name="T2" fmla="*/ 11 w 28"/>
                <a:gd name="T3" fmla="*/ 14 h 64"/>
                <a:gd name="T4" fmla="*/ 20 w 28"/>
                <a:gd name="T5" fmla="*/ 21 h 64"/>
                <a:gd name="T6" fmla="*/ 8 w 28"/>
                <a:gd name="T7" fmla="*/ 39 h 64"/>
                <a:gd name="T8" fmla="*/ 0 w 28"/>
                <a:gd name="T9" fmla="*/ 56 h 64"/>
                <a:gd name="T10" fmla="*/ 11 w 28"/>
                <a:gd name="T11" fmla="*/ 57 h 64"/>
                <a:gd name="T12" fmla="*/ 26 w 28"/>
                <a:gd name="T13" fmla="*/ 26 h 64"/>
                <a:gd name="T14" fmla="*/ 5 w 28"/>
                <a:gd name="T15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5" name="Freeform 79"/>
            <p:cNvSpPr/>
            <p:nvPr/>
          </p:nvSpPr>
          <p:spPr bwMode="invGray">
            <a:xfrm>
              <a:off x="3876" y="3076"/>
              <a:ext cx="12" cy="27"/>
            </a:xfrm>
            <a:custGeom>
              <a:avLst/>
              <a:gdLst>
                <a:gd name="T0" fmla="*/ 14 w 16"/>
                <a:gd name="T1" fmla="*/ 3 h 36"/>
                <a:gd name="T2" fmla="*/ 0 w 16"/>
                <a:gd name="T3" fmla="*/ 7 h 36"/>
                <a:gd name="T4" fmla="*/ 8 w 16"/>
                <a:gd name="T5" fmla="*/ 22 h 36"/>
                <a:gd name="T6" fmla="*/ 14 w 16"/>
                <a:gd name="T7" fmla="*/ 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6" name="Freeform 80"/>
            <p:cNvSpPr/>
            <p:nvPr/>
          </p:nvSpPr>
          <p:spPr bwMode="invGray">
            <a:xfrm>
              <a:off x="3866" y="3053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7" name="Freeform 81"/>
            <p:cNvSpPr/>
            <p:nvPr/>
          </p:nvSpPr>
          <p:spPr bwMode="invGray">
            <a:xfrm>
              <a:off x="3862" y="3035"/>
              <a:ext cx="12" cy="14"/>
            </a:xfrm>
            <a:custGeom>
              <a:avLst/>
              <a:gdLst>
                <a:gd name="T0" fmla="*/ 10 w 16"/>
                <a:gd name="T1" fmla="*/ 5 h 19"/>
                <a:gd name="T2" fmla="*/ 0 w 16"/>
                <a:gd name="T3" fmla="*/ 10 h 19"/>
                <a:gd name="T4" fmla="*/ 12 w 16"/>
                <a:gd name="T5" fmla="*/ 19 h 19"/>
                <a:gd name="T6" fmla="*/ 10 w 16"/>
                <a:gd name="T7" fmla="*/ 5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8" name="Freeform 82"/>
            <p:cNvSpPr/>
            <p:nvPr/>
          </p:nvSpPr>
          <p:spPr bwMode="invGray">
            <a:xfrm>
              <a:off x="3850" y="2995"/>
              <a:ext cx="11" cy="19"/>
            </a:xfrm>
            <a:custGeom>
              <a:avLst/>
              <a:gdLst>
                <a:gd name="T0" fmla="*/ 6 w 14"/>
                <a:gd name="T1" fmla="*/ 0 h 25"/>
                <a:gd name="T2" fmla="*/ 0 w 14"/>
                <a:gd name="T3" fmla="*/ 13 h 25"/>
                <a:gd name="T4" fmla="*/ 12 w 14"/>
                <a:gd name="T5" fmla="*/ 24 h 25"/>
                <a:gd name="T6" fmla="*/ 6 w 14"/>
                <a:gd name="T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9" name="Freeform 83"/>
            <p:cNvSpPr/>
            <p:nvPr/>
          </p:nvSpPr>
          <p:spPr bwMode="invGray">
            <a:xfrm>
              <a:off x="3852" y="3020"/>
              <a:ext cx="16" cy="13"/>
            </a:xfrm>
            <a:custGeom>
              <a:avLst/>
              <a:gdLst>
                <a:gd name="T0" fmla="*/ 13 w 22"/>
                <a:gd name="T1" fmla="*/ 0 h 18"/>
                <a:gd name="T2" fmla="*/ 19 w 22"/>
                <a:gd name="T3" fmla="*/ 18 h 18"/>
                <a:gd name="T4" fmla="*/ 14 w 22"/>
                <a:gd name="T5" fmla="*/ 6 h 18"/>
                <a:gd name="T6" fmla="*/ 13 w 22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0" name="Freeform 84"/>
            <p:cNvSpPr/>
            <p:nvPr/>
          </p:nvSpPr>
          <p:spPr bwMode="invGray">
            <a:xfrm>
              <a:off x="4688" y="3643"/>
              <a:ext cx="45" cy="60"/>
            </a:xfrm>
            <a:custGeom>
              <a:avLst/>
              <a:gdLst>
                <a:gd name="T0" fmla="*/ 10 w 60"/>
                <a:gd name="T1" fmla="*/ 7 h 81"/>
                <a:gd name="T2" fmla="*/ 3 w 60"/>
                <a:gd name="T3" fmla="*/ 18 h 81"/>
                <a:gd name="T4" fmla="*/ 15 w 60"/>
                <a:gd name="T5" fmla="*/ 39 h 81"/>
                <a:gd name="T6" fmla="*/ 27 w 60"/>
                <a:gd name="T7" fmla="*/ 54 h 81"/>
                <a:gd name="T8" fmla="*/ 40 w 60"/>
                <a:gd name="T9" fmla="*/ 63 h 81"/>
                <a:gd name="T10" fmla="*/ 51 w 60"/>
                <a:gd name="T11" fmla="*/ 81 h 81"/>
                <a:gd name="T12" fmla="*/ 52 w 60"/>
                <a:gd name="T13" fmla="*/ 57 h 81"/>
                <a:gd name="T14" fmla="*/ 43 w 60"/>
                <a:gd name="T15" fmla="*/ 37 h 81"/>
                <a:gd name="T16" fmla="*/ 25 w 60"/>
                <a:gd name="T17" fmla="*/ 18 h 81"/>
                <a:gd name="T18" fmla="*/ 10 w 60"/>
                <a:gd name="T19" fmla="*/ 7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1" name="Freeform 85"/>
            <p:cNvSpPr/>
            <p:nvPr/>
          </p:nvSpPr>
          <p:spPr bwMode="invGray">
            <a:xfrm>
              <a:off x="4919" y="3594"/>
              <a:ext cx="53" cy="46"/>
            </a:xfrm>
            <a:custGeom>
              <a:avLst/>
              <a:gdLst>
                <a:gd name="T0" fmla="*/ 28 w 71"/>
                <a:gd name="T1" fmla="*/ 23 h 61"/>
                <a:gd name="T2" fmla="*/ 13 w 71"/>
                <a:gd name="T3" fmla="*/ 32 h 61"/>
                <a:gd name="T4" fmla="*/ 1 w 71"/>
                <a:gd name="T5" fmla="*/ 44 h 61"/>
                <a:gd name="T6" fmla="*/ 13 w 71"/>
                <a:gd name="T7" fmla="*/ 59 h 61"/>
                <a:gd name="T8" fmla="*/ 28 w 71"/>
                <a:gd name="T9" fmla="*/ 44 h 61"/>
                <a:gd name="T10" fmla="*/ 40 w 71"/>
                <a:gd name="T11" fmla="*/ 23 h 61"/>
                <a:gd name="T12" fmla="*/ 55 w 71"/>
                <a:gd name="T13" fmla="*/ 0 h 61"/>
                <a:gd name="T14" fmla="*/ 71 w 71"/>
                <a:gd name="T15" fmla="*/ 11 h 61"/>
                <a:gd name="T16" fmla="*/ 35 w 71"/>
                <a:gd name="T17" fmla="*/ 23 h 61"/>
                <a:gd name="T18" fmla="*/ 28 w 71"/>
                <a:gd name="T19" fmla="*/ 23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2" name="Freeform 86"/>
            <p:cNvSpPr/>
            <p:nvPr/>
          </p:nvSpPr>
          <p:spPr bwMode="invGray">
            <a:xfrm>
              <a:off x="4759" y="3569"/>
              <a:ext cx="17" cy="23"/>
            </a:xfrm>
            <a:custGeom>
              <a:avLst/>
              <a:gdLst>
                <a:gd name="T0" fmla="*/ 9 w 23"/>
                <a:gd name="T1" fmla="*/ 0 h 30"/>
                <a:gd name="T2" fmla="*/ 0 w 23"/>
                <a:gd name="T3" fmla="*/ 14 h 30"/>
                <a:gd name="T4" fmla="*/ 12 w 23"/>
                <a:gd name="T5" fmla="*/ 30 h 30"/>
                <a:gd name="T6" fmla="*/ 9 w 23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3" name="Freeform 87"/>
            <p:cNvSpPr/>
            <p:nvPr/>
          </p:nvSpPr>
          <p:spPr bwMode="invGray">
            <a:xfrm>
              <a:off x="4751" y="3547"/>
              <a:ext cx="20" cy="17"/>
            </a:xfrm>
            <a:custGeom>
              <a:avLst/>
              <a:gdLst>
                <a:gd name="T0" fmla="*/ 19 w 26"/>
                <a:gd name="T1" fmla="*/ 0 h 23"/>
                <a:gd name="T2" fmla="*/ 0 w 26"/>
                <a:gd name="T3" fmla="*/ 14 h 23"/>
                <a:gd name="T4" fmla="*/ 21 w 26"/>
                <a:gd name="T5" fmla="*/ 20 h 23"/>
                <a:gd name="T6" fmla="*/ 19 w 26"/>
                <a:gd name="T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4" name="Freeform 88"/>
            <p:cNvSpPr/>
            <p:nvPr/>
          </p:nvSpPr>
          <p:spPr bwMode="invGray">
            <a:xfrm>
              <a:off x="4598" y="3353"/>
              <a:ext cx="24" cy="33"/>
            </a:xfrm>
            <a:custGeom>
              <a:avLst/>
              <a:gdLst>
                <a:gd name="T0" fmla="*/ 28 w 32"/>
                <a:gd name="T1" fmla="*/ 0 h 44"/>
                <a:gd name="T2" fmla="*/ 10 w 32"/>
                <a:gd name="T3" fmla="*/ 11 h 44"/>
                <a:gd name="T4" fmla="*/ 12 w 32"/>
                <a:gd name="T5" fmla="*/ 32 h 44"/>
                <a:gd name="T6" fmla="*/ 24 w 32"/>
                <a:gd name="T7" fmla="*/ 36 h 44"/>
                <a:gd name="T8" fmla="*/ 28 w 32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5" name="Freeform 89"/>
            <p:cNvSpPr/>
            <p:nvPr/>
          </p:nvSpPr>
          <p:spPr bwMode="invGray">
            <a:xfrm>
              <a:off x="4632" y="3396"/>
              <a:ext cx="26" cy="33"/>
            </a:xfrm>
            <a:custGeom>
              <a:avLst/>
              <a:gdLst>
                <a:gd name="T0" fmla="*/ 30 w 34"/>
                <a:gd name="T1" fmla="*/ 0 h 44"/>
                <a:gd name="T2" fmla="*/ 10 w 34"/>
                <a:gd name="T3" fmla="*/ 9 h 44"/>
                <a:gd name="T4" fmla="*/ 14 w 34"/>
                <a:gd name="T5" fmla="*/ 32 h 44"/>
                <a:gd name="T6" fmla="*/ 26 w 34"/>
                <a:gd name="T7" fmla="*/ 36 h 44"/>
                <a:gd name="T8" fmla="*/ 30 w 34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6" name="Freeform 90"/>
            <p:cNvSpPr/>
            <p:nvPr/>
          </p:nvSpPr>
          <p:spPr bwMode="invGray">
            <a:xfrm>
              <a:off x="4659" y="3459"/>
              <a:ext cx="28" cy="28"/>
            </a:xfrm>
            <a:custGeom>
              <a:avLst/>
              <a:gdLst>
                <a:gd name="T0" fmla="*/ 34 w 38"/>
                <a:gd name="T1" fmla="*/ 2 h 37"/>
                <a:gd name="T2" fmla="*/ 10 w 38"/>
                <a:gd name="T3" fmla="*/ 2 h 37"/>
                <a:gd name="T4" fmla="*/ 14 w 38"/>
                <a:gd name="T5" fmla="*/ 25 h 37"/>
                <a:gd name="T6" fmla="*/ 26 w 38"/>
                <a:gd name="T7" fmla="*/ 29 h 37"/>
                <a:gd name="T8" fmla="*/ 34 w 38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7" name="Freeform 91"/>
            <p:cNvSpPr/>
            <p:nvPr/>
          </p:nvSpPr>
          <p:spPr bwMode="invGray">
            <a:xfrm>
              <a:off x="4693" y="3449"/>
              <a:ext cx="28" cy="26"/>
            </a:xfrm>
            <a:custGeom>
              <a:avLst/>
              <a:gdLst>
                <a:gd name="T0" fmla="*/ 34 w 38"/>
                <a:gd name="T1" fmla="*/ 2 h 34"/>
                <a:gd name="T2" fmla="*/ 10 w 38"/>
                <a:gd name="T3" fmla="*/ 2 h 34"/>
                <a:gd name="T4" fmla="*/ 16 w 38"/>
                <a:gd name="T5" fmla="*/ 22 h 34"/>
                <a:gd name="T6" fmla="*/ 27 w 38"/>
                <a:gd name="T7" fmla="*/ 22 h 34"/>
                <a:gd name="T8" fmla="*/ 34 w 38"/>
                <a:gd name="T9" fmla="*/ 2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8" name="Freeform 92"/>
            <p:cNvSpPr/>
            <p:nvPr/>
          </p:nvSpPr>
          <p:spPr bwMode="invGray">
            <a:xfrm>
              <a:off x="4683" y="3413"/>
              <a:ext cx="26" cy="20"/>
            </a:xfrm>
            <a:custGeom>
              <a:avLst/>
              <a:gdLst>
                <a:gd name="T0" fmla="*/ 31 w 35"/>
                <a:gd name="T1" fmla="*/ 1 h 27"/>
                <a:gd name="T2" fmla="*/ 10 w 35"/>
                <a:gd name="T3" fmla="*/ 2 h 27"/>
                <a:gd name="T4" fmla="*/ 13 w 35"/>
                <a:gd name="T5" fmla="*/ 15 h 27"/>
                <a:gd name="T6" fmla="*/ 25 w 35"/>
                <a:gd name="T7" fmla="*/ 19 h 27"/>
                <a:gd name="T8" fmla="*/ 31 w 35"/>
                <a:gd name="T9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9" name="Freeform 93"/>
            <p:cNvSpPr/>
            <p:nvPr/>
          </p:nvSpPr>
          <p:spPr bwMode="invGray">
            <a:xfrm>
              <a:off x="4657" y="3388"/>
              <a:ext cx="26" cy="35"/>
            </a:xfrm>
            <a:custGeom>
              <a:avLst/>
              <a:gdLst>
                <a:gd name="T0" fmla="*/ 28 w 35"/>
                <a:gd name="T1" fmla="*/ 16 h 47"/>
                <a:gd name="T2" fmla="*/ 19 w 35"/>
                <a:gd name="T3" fmla="*/ 2 h 47"/>
                <a:gd name="T4" fmla="*/ 10 w 35"/>
                <a:gd name="T5" fmla="*/ 25 h 47"/>
                <a:gd name="T6" fmla="*/ 19 w 35"/>
                <a:gd name="T7" fmla="*/ 35 h 47"/>
                <a:gd name="T8" fmla="*/ 27 w 35"/>
                <a:gd name="T9" fmla="*/ 29 h 47"/>
                <a:gd name="T10" fmla="*/ 28 w 35"/>
                <a:gd name="T11" fmla="*/ 16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0" name="Freeform 94"/>
            <p:cNvSpPr/>
            <p:nvPr/>
          </p:nvSpPr>
          <p:spPr bwMode="invGray">
            <a:xfrm>
              <a:off x="4625" y="3372"/>
              <a:ext cx="24" cy="26"/>
            </a:xfrm>
            <a:custGeom>
              <a:avLst/>
              <a:gdLst>
                <a:gd name="T0" fmla="*/ 22 w 32"/>
                <a:gd name="T1" fmla="*/ 10 h 35"/>
                <a:gd name="T2" fmla="*/ 10 w 32"/>
                <a:gd name="T3" fmla="*/ 2 h 35"/>
                <a:gd name="T4" fmla="*/ 12 w 32"/>
                <a:gd name="T5" fmla="*/ 23 h 35"/>
                <a:gd name="T6" fmla="*/ 24 w 32"/>
                <a:gd name="T7" fmla="*/ 27 h 35"/>
                <a:gd name="T8" fmla="*/ 22 w 32"/>
                <a:gd name="T9" fmla="*/ 1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1" name="Freeform 95"/>
            <p:cNvSpPr/>
            <p:nvPr/>
          </p:nvSpPr>
          <p:spPr bwMode="invGray">
            <a:xfrm>
              <a:off x="4665" y="3425"/>
              <a:ext cx="24" cy="26"/>
            </a:xfrm>
            <a:custGeom>
              <a:avLst/>
              <a:gdLst>
                <a:gd name="T0" fmla="*/ 22 w 32"/>
                <a:gd name="T1" fmla="*/ 10 h 35"/>
                <a:gd name="T2" fmla="*/ 10 w 32"/>
                <a:gd name="T3" fmla="*/ 2 h 35"/>
                <a:gd name="T4" fmla="*/ 12 w 32"/>
                <a:gd name="T5" fmla="*/ 23 h 35"/>
                <a:gd name="T6" fmla="*/ 24 w 32"/>
                <a:gd name="T7" fmla="*/ 27 h 35"/>
                <a:gd name="T8" fmla="*/ 22 w 32"/>
                <a:gd name="T9" fmla="*/ 1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2" name="Freeform 96"/>
            <p:cNvSpPr/>
            <p:nvPr/>
          </p:nvSpPr>
          <p:spPr bwMode="invGray">
            <a:xfrm>
              <a:off x="3055" y="2051"/>
              <a:ext cx="141" cy="108"/>
            </a:xfrm>
            <a:custGeom>
              <a:avLst/>
              <a:gdLst>
                <a:gd name="T0" fmla="*/ 171 w 189"/>
                <a:gd name="T1" fmla="*/ 4 h 144"/>
                <a:gd name="T2" fmla="*/ 185 w 189"/>
                <a:gd name="T3" fmla="*/ 4 h 144"/>
                <a:gd name="T4" fmla="*/ 189 w 189"/>
                <a:gd name="T5" fmla="*/ 16 h 144"/>
                <a:gd name="T6" fmla="*/ 187 w 189"/>
                <a:gd name="T7" fmla="*/ 24 h 144"/>
                <a:gd name="T8" fmla="*/ 131 w 189"/>
                <a:gd name="T9" fmla="*/ 44 h 144"/>
                <a:gd name="T10" fmla="*/ 109 w 189"/>
                <a:gd name="T11" fmla="*/ 58 h 144"/>
                <a:gd name="T12" fmla="*/ 97 w 189"/>
                <a:gd name="T13" fmla="*/ 62 h 144"/>
                <a:gd name="T14" fmla="*/ 71 w 189"/>
                <a:gd name="T15" fmla="*/ 82 h 144"/>
                <a:gd name="T16" fmla="*/ 75 w 189"/>
                <a:gd name="T17" fmla="*/ 92 h 144"/>
                <a:gd name="T18" fmla="*/ 83 w 189"/>
                <a:gd name="T19" fmla="*/ 116 h 144"/>
                <a:gd name="T20" fmla="*/ 107 w 189"/>
                <a:gd name="T21" fmla="*/ 126 h 144"/>
                <a:gd name="T22" fmla="*/ 93 w 189"/>
                <a:gd name="T23" fmla="*/ 140 h 144"/>
                <a:gd name="T24" fmla="*/ 83 w 189"/>
                <a:gd name="T25" fmla="*/ 130 h 144"/>
                <a:gd name="T26" fmla="*/ 71 w 189"/>
                <a:gd name="T27" fmla="*/ 134 h 144"/>
                <a:gd name="T28" fmla="*/ 21 w 189"/>
                <a:gd name="T29" fmla="*/ 122 h 144"/>
                <a:gd name="T30" fmla="*/ 19 w 189"/>
                <a:gd name="T31" fmla="*/ 106 h 144"/>
                <a:gd name="T32" fmla="*/ 47 w 189"/>
                <a:gd name="T33" fmla="*/ 90 h 144"/>
                <a:gd name="T34" fmla="*/ 51 w 189"/>
                <a:gd name="T35" fmla="*/ 76 h 144"/>
                <a:gd name="T36" fmla="*/ 47 w 189"/>
                <a:gd name="T37" fmla="*/ 64 h 144"/>
                <a:gd name="T38" fmla="*/ 73 w 189"/>
                <a:gd name="T39" fmla="*/ 46 h 144"/>
                <a:gd name="T40" fmla="*/ 97 w 189"/>
                <a:gd name="T41" fmla="*/ 36 h 144"/>
                <a:gd name="T42" fmla="*/ 113 w 189"/>
                <a:gd name="T43" fmla="*/ 24 h 144"/>
                <a:gd name="T44" fmla="*/ 171 w 189"/>
                <a:gd name="T45" fmla="*/ 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3" name="Freeform 97"/>
            <p:cNvSpPr/>
            <p:nvPr/>
          </p:nvSpPr>
          <p:spPr bwMode="invGray">
            <a:xfrm>
              <a:off x="3139" y="2155"/>
              <a:ext cx="40" cy="12"/>
            </a:xfrm>
            <a:custGeom>
              <a:avLst/>
              <a:gdLst>
                <a:gd name="T0" fmla="*/ 24 w 53"/>
                <a:gd name="T1" fmla="*/ 0 h 17"/>
                <a:gd name="T2" fmla="*/ 12 w 53"/>
                <a:gd name="T3" fmla="*/ 2 h 17"/>
                <a:gd name="T4" fmla="*/ 32 w 53"/>
                <a:gd name="T5" fmla="*/ 16 h 17"/>
                <a:gd name="T6" fmla="*/ 44 w 53"/>
                <a:gd name="T7" fmla="*/ 14 h 17"/>
                <a:gd name="T8" fmla="*/ 24 w 53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4" name="Freeform 98"/>
            <p:cNvSpPr/>
            <p:nvPr/>
          </p:nvSpPr>
          <p:spPr bwMode="invGray">
            <a:xfrm>
              <a:off x="3344" y="1999"/>
              <a:ext cx="42" cy="28"/>
            </a:xfrm>
            <a:custGeom>
              <a:avLst/>
              <a:gdLst>
                <a:gd name="T0" fmla="*/ 57 w 57"/>
                <a:gd name="T1" fmla="*/ 4 h 37"/>
                <a:gd name="T2" fmla="*/ 25 w 57"/>
                <a:gd name="T3" fmla="*/ 24 h 37"/>
                <a:gd name="T4" fmla="*/ 11 w 57"/>
                <a:gd name="T5" fmla="*/ 34 h 37"/>
                <a:gd name="T6" fmla="*/ 9 w 57"/>
                <a:gd name="T7" fmla="*/ 4 h 37"/>
                <a:gd name="T8" fmla="*/ 21 w 57"/>
                <a:gd name="T9" fmla="*/ 0 h 37"/>
                <a:gd name="T10" fmla="*/ 57 w 57"/>
                <a:gd name="T11" fmla="*/ 4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5" name="Freeform 99"/>
            <p:cNvSpPr/>
            <p:nvPr/>
          </p:nvSpPr>
          <p:spPr bwMode="invGray">
            <a:xfrm>
              <a:off x="3374" y="2012"/>
              <a:ext cx="50" cy="20"/>
            </a:xfrm>
            <a:custGeom>
              <a:avLst/>
              <a:gdLst>
                <a:gd name="T0" fmla="*/ 29 w 68"/>
                <a:gd name="T1" fmla="*/ 0 h 26"/>
                <a:gd name="T2" fmla="*/ 11 w 68"/>
                <a:gd name="T3" fmla="*/ 6 h 26"/>
                <a:gd name="T4" fmla="*/ 57 w 68"/>
                <a:gd name="T5" fmla="*/ 26 h 26"/>
                <a:gd name="T6" fmla="*/ 63 w 68"/>
                <a:gd name="T7" fmla="*/ 24 h 26"/>
                <a:gd name="T8" fmla="*/ 29 w 68"/>
                <a:gd name="T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6" name="Freeform 100"/>
            <p:cNvSpPr/>
            <p:nvPr/>
          </p:nvSpPr>
          <p:spPr bwMode="invGray">
            <a:xfrm>
              <a:off x="3428" y="2015"/>
              <a:ext cx="50" cy="32"/>
            </a:xfrm>
            <a:custGeom>
              <a:avLst/>
              <a:gdLst>
                <a:gd name="T0" fmla="*/ 50 w 66"/>
                <a:gd name="T1" fmla="*/ 9 h 43"/>
                <a:gd name="T2" fmla="*/ 26 w 66"/>
                <a:gd name="T3" fmla="*/ 9 h 43"/>
                <a:gd name="T4" fmla="*/ 10 w 66"/>
                <a:gd name="T5" fmla="*/ 9 h 43"/>
                <a:gd name="T6" fmla="*/ 8 w 66"/>
                <a:gd name="T7" fmla="*/ 35 h 43"/>
                <a:gd name="T8" fmla="*/ 32 w 66"/>
                <a:gd name="T9" fmla="*/ 43 h 43"/>
                <a:gd name="T10" fmla="*/ 62 w 66"/>
                <a:gd name="T11" fmla="*/ 27 h 43"/>
                <a:gd name="T12" fmla="*/ 50 w 66"/>
                <a:gd name="T13" fmla="*/ 9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7" name="Freeform 101"/>
            <p:cNvSpPr/>
            <p:nvPr/>
          </p:nvSpPr>
          <p:spPr bwMode="invGray">
            <a:xfrm>
              <a:off x="3777" y="2042"/>
              <a:ext cx="88" cy="31"/>
            </a:xfrm>
            <a:custGeom>
              <a:avLst/>
              <a:gdLst>
                <a:gd name="T0" fmla="*/ 14 w 117"/>
                <a:gd name="T1" fmla="*/ 0 h 41"/>
                <a:gd name="T2" fmla="*/ 8 w 117"/>
                <a:gd name="T3" fmla="*/ 16 h 41"/>
                <a:gd name="T4" fmla="*/ 50 w 117"/>
                <a:gd name="T5" fmla="*/ 30 h 41"/>
                <a:gd name="T6" fmla="*/ 76 w 117"/>
                <a:gd name="T7" fmla="*/ 36 h 41"/>
                <a:gd name="T8" fmla="*/ 112 w 117"/>
                <a:gd name="T9" fmla="*/ 22 h 41"/>
                <a:gd name="T10" fmla="*/ 78 w 117"/>
                <a:gd name="T11" fmla="*/ 4 h 41"/>
                <a:gd name="T12" fmla="*/ 14 w 117"/>
                <a:gd name="T13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8" name="Freeform 102"/>
            <p:cNvSpPr/>
            <p:nvPr/>
          </p:nvSpPr>
          <p:spPr bwMode="invGray">
            <a:xfrm>
              <a:off x="3867" y="2041"/>
              <a:ext cx="46" cy="24"/>
            </a:xfrm>
            <a:custGeom>
              <a:avLst/>
              <a:gdLst>
                <a:gd name="T0" fmla="*/ 32 w 62"/>
                <a:gd name="T1" fmla="*/ 4 h 32"/>
                <a:gd name="T2" fmla="*/ 62 w 62"/>
                <a:gd name="T3" fmla="*/ 10 h 32"/>
                <a:gd name="T4" fmla="*/ 30 w 62"/>
                <a:gd name="T5" fmla="*/ 32 h 32"/>
                <a:gd name="T6" fmla="*/ 6 w 62"/>
                <a:gd name="T7" fmla="*/ 22 h 32"/>
                <a:gd name="T8" fmla="*/ 32 w 62"/>
                <a:gd name="T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9" name="Freeform 103"/>
            <p:cNvSpPr/>
            <p:nvPr/>
          </p:nvSpPr>
          <p:spPr bwMode="invGray">
            <a:xfrm>
              <a:off x="3846" y="2070"/>
              <a:ext cx="37" cy="17"/>
            </a:xfrm>
            <a:custGeom>
              <a:avLst/>
              <a:gdLst>
                <a:gd name="T0" fmla="*/ 20 w 49"/>
                <a:gd name="T1" fmla="*/ 1 h 23"/>
                <a:gd name="T2" fmla="*/ 6 w 49"/>
                <a:gd name="T3" fmla="*/ 5 h 23"/>
                <a:gd name="T4" fmla="*/ 38 w 49"/>
                <a:gd name="T5" fmla="*/ 23 h 23"/>
                <a:gd name="T6" fmla="*/ 20 w 49"/>
                <a:gd name="T7" fmla="*/ 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0" name="Freeform 104"/>
            <p:cNvSpPr/>
            <p:nvPr/>
          </p:nvSpPr>
          <p:spPr bwMode="invGray">
            <a:xfrm>
              <a:off x="4098" y="2294"/>
              <a:ext cx="76" cy="114"/>
            </a:xfrm>
            <a:custGeom>
              <a:avLst/>
              <a:gdLst>
                <a:gd name="T0" fmla="*/ 6 w 102"/>
                <a:gd name="T1" fmla="*/ 0 h 152"/>
                <a:gd name="T2" fmla="*/ 0 w 102"/>
                <a:gd name="T3" fmla="*/ 18 h 152"/>
                <a:gd name="T4" fmla="*/ 14 w 102"/>
                <a:gd name="T5" fmla="*/ 42 h 152"/>
                <a:gd name="T6" fmla="*/ 32 w 102"/>
                <a:gd name="T7" fmla="*/ 72 h 152"/>
                <a:gd name="T8" fmla="*/ 36 w 102"/>
                <a:gd name="T9" fmla="*/ 104 h 152"/>
                <a:gd name="T10" fmla="*/ 80 w 102"/>
                <a:gd name="T11" fmla="*/ 152 h 152"/>
                <a:gd name="T12" fmla="*/ 86 w 102"/>
                <a:gd name="T13" fmla="*/ 124 h 152"/>
                <a:gd name="T14" fmla="*/ 74 w 102"/>
                <a:gd name="T15" fmla="*/ 102 h 152"/>
                <a:gd name="T16" fmla="*/ 62 w 102"/>
                <a:gd name="T17" fmla="*/ 92 h 152"/>
                <a:gd name="T18" fmla="*/ 52 w 102"/>
                <a:gd name="T19" fmla="*/ 74 h 152"/>
                <a:gd name="T20" fmla="*/ 42 w 102"/>
                <a:gd name="T21" fmla="*/ 44 h 152"/>
                <a:gd name="T22" fmla="*/ 4 w 102"/>
                <a:gd name="T23" fmla="*/ 12 h 152"/>
                <a:gd name="T24" fmla="*/ 6 w 102"/>
                <a:gd name="T25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1" name="Freeform 105"/>
            <p:cNvSpPr/>
            <p:nvPr/>
          </p:nvSpPr>
          <p:spPr bwMode="invGray">
            <a:xfrm>
              <a:off x="4159" y="2412"/>
              <a:ext cx="55" cy="78"/>
            </a:xfrm>
            <a:custGeom>
              <a:avLst/>
              <a:gdLst>
                <a:gd name="T0" fmla="*/ 64 w 74"/>
                <a:gd name="T1" fmla="*/ 22 h 103"/>
                <a:gd name="T2" fmla="*/ 74 w 74"/>
                <a:gd name="T3" fmla="*/ 40 h 103"/>
                <a:gd name="T4" fmla="*/ 30 w 74"/>
                <a:gd name="T5" fmla="*/ 84 h 103"/>
                <a:gd name="T6" fmla="*/ 32 w 74"/>
                <a:gd name="T7" fmla="*/ 100 h 103"/>
                <a:gd name="T8" fmla="*/ 20 w 74"/>
                <a:gd name="T9" fmla="*/ 94 h 103"/>
                <a:gd name="T10" fmla="*/ 6 w 74"/>
                <a:gd name="T11" fmla="*/ 84 h 103"/>
                <a:gd name="T12" fmla="*/ 0 w 74"/>
                <a:gd name="T13" fmla="*/ 82 h 103"/>
                <a:gd name="T14" fmla="*/ 10 w 74"/>
                <a:gd name="T15" fmla="*/ 58 h 103"/>
                <a:gd name="T16" fmla="*/ 12 w 74"/>
                <a:gd name="T17" fmla="*/ 52 h 103"/>
                <a:gd name="T18" fmla="*/ 2 w 74"/>
                <a:gd name="T19" fmla="*/ 24 h 103"/>
                <a:gd name="T20" fmla="*/ 4 w 74"/>
                <a:gd name="T21" fmla="*/ 14 h 103"/>
                <a:gd name="T22" fmla="*/ 26 w 74"/>
                <a:gd name="T23" fmla="*/ 22 h 103"/>
                <a:gd name="T24" fmla="*/ 36 w 74"/>
                <a:gd name="T25" fmla="*/ 36 h 103"/>
                <a:gd name="T26" fmla="*/ 64 w 74"/>
                <a:gd name="T27" fmla="*/ 22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2" name="Freeform 106"/>
            <p:cNvSpPr/>
            <p:nvPr/>
          </p:nvSpPr>
          <p:spPr bwMode="invGray">
            <a:xfrm>
              <a:off x="4123" y="2492"/>
              <a:ext cx="109" cy="189"/>
            </a:xfrm>
            <a:custGeom>
              <a:avLst/>
              <a:gdLst>
                <a:gd name="T0" fmla="*/ 82 w 146"/>
                <a:gd name="T1" fmla="*/ 100 h 252"/>
                <a:gd name="T2" fmla="*/ 66 w 146"/>
                <a:gd name="T3" fmla="*/ 106 h 252"/>
                <a:gd name="T4" fmla="*/ 64 w 146"/>
                <a:gd name="T5" fmla="*/ 132 h 252"/>
                <a:gd name="T6" fmla="*/ 22 w 146"/>
                <a:gd name="T7" fmla="*/ 146 h 252"/>
                <a:gd name="T8" fmla="*/ 8 w 146"/>
                <a:gd name="T9" fmla="*/ 168 h 252"/>
                <a:gd name="T10" fmla="*/ 20 w 146"/>
                <a:gd name="T11" fmla="*/ 182 h 252"/>
                <a:gd name="T12" fmla="*/ 8 w 146"/>
                <a:gd name="T13" fmla="*/ 198 h 252"/>
                <a:gd name="T14" fmla="*/ 24 w 146"/>
                <a:gd name="T15" fmla="*/ 252 h 252"/>
                <a:gd name="T16" fmla="*/ 28 w 146"/>
                <a:gd name="T17" fmla="*/ 214 h 252"/>
                <a:gd name="T18" fmla="*/ 22 w 146"/>
                <a:gd name="T19" fmla="*/ 192 h 252"/>
                <a:gd name="T20" fmla="*/ 42 w 146"/>
                <a:gd name="T21" fmla="*/ 176 h 252"/>
                <a:gd name="T22" fmla="*/ 52 w 146"/>
                <a:gd name="T23" fmla="*/ 158 h 252"/>
                <a:gd name="T24" fmla="*/ 66 w 146"/>
                <a:gd name="T25" fmla="*/ 174 h 252"/>
                <a:gd name="T26" fmla="*/ 44 w 146"/>
                <a:gd name="T27" fmla="*/ 190 h 252"/>
                <a:gd name="T28" fmla="*/ 56 w 146"/>
                <a:gd name="T29" fmla="*/ 200 h 252"/>
                <a:gd name="T30" fmla="*/ 68 w 146"/>
                <a:gd name="T31" fmla="*/ 178 h 252"/>
                <a:gd name="T32" fmla="*/ 84 w 146"/>
                <a:gd name="T33" fmla="*/ 184 h 252"/>
                <a:gd name="T34" fmla="*/ 104 w 146"/>
                <a:gd name="T35" fmla="*/ 148 h 252"/>
                <a:gd name="T36" fmla="*/ 114 w 146"/>
                <a:gd name="T37" fmla="*/ 156 h 252"/>
                <a:gd name="T38" fmla="*/ 136 w 146"/>
                <a:gd name="T39" fmla="*/ 148 h 252"/>
                <a:gd name="T40" fmla="*/ 146 w 146"/>
                <a:gd name="T41" fmla="*/ 130 h 252"/>
                <a:gd name="T42" fmla="*/ 142 w 146"/>
                <a:gd name="T43" fmla="*/ 110 h 252"/>
                <a:gd name="T44" fmla="*/ 134 w 146"/>
                <a:gd name="T45" fmla="*/ 98 h 252"/>
                <a:gd name="T46" fmla="*/ 122 w 146"/>
                <a:gd name="T47" fmla="*/ 40 h 252"/>
                <a:gd name="T48" fmla="*/ 94 w 146"/>
                <a:gd name="T49" fmla="*/ 0 h 252"/>
                <a:gd name="T50" fmla="*/ 78 w 146"/>
                <a:gd name="T51" fmla="*/ 12 h 252"/>
                <a:gd name="T52" fmla="*/ 96 w 146"/>
                <a:gd name="T53" fmla="*/ 34 h 252"/>
                <a:gd name="T54" fmla="*/ 96 w 146"/>
                <a:gd name="T55" fmla="*/ 64 h 252"/>
                <a:gd name="T56" fmla="*/ 82 w 146"/>
                <a:gd name="T57" fmla="*/ 10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3" name="Freeform 107"/>
            <p:cNvSpPr/>
            <p:nvPr/>
          </p:nvSpPr>
          <p:spPr bwMode="invGray">
            <a:xfrm>
              <a:off x="3062" y="1988"/>
              <a:ext cx="52" cy="30"/>
            </a:xfrm>
            <a:custGeom>
              <a:avLst/>
              <a:gdLst>
                <a:gd name="T0" fmla="*/ 59 w 70"/>
                <a:gd name="T1" fmla="*/ 0 h 40"/>
                <a:gd name="T2" fmla="*/ 65 w 70"/>
                <a:gd name="T3" fmla="*/ 20 h 40"/>
                <a:gd name="T4" fmla="*/ 41 w 70"/>
                <a:gd name="T5" fmla="*/ 24 h 40"/>
                <a:gd name="T6" fmla="*/ 31 w 70"/>
                <a:gd name="T7" fmla="*/ 40 h 40"/>
                <a:gd name="T8" fmla="*/ 7 w 70"/>
                <a:gd name="T9" fmla="*/ 38 h 40"/>
                <a:gd name="T10" fmla="*/ 1 w 70"/>
                <a:gd name="T11" fmla="*/ 36 h 40"/>
                <a:gd name="T12" fmla="*/ 33 w 70"/>
                <a:gd name="T13" fmla="*/ 20 h 40"/>
                <a:gd name="T14" fmla="*/ 59 w 70"/>
                <a:gd name="T15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4" name="Freeform 108"/>
            <p:cNvSpPr/>
            <p:nvPr/>
          </p:nvSpPr>
          <p:spPr bwMode="invGray">
            <a:xfrm>
              <a:off x="2955" y="1997"/>
              <a:ext cx="19" cy="22"/>
            </a:xfrm>
            <a:custGeom>
              <a:avLst/>
              <a:gdLst>
                <a:gd name="T0" fmla="*/ 18 w 26"/>
                <a:gd name="T1" fmla="*/ 0 h 29"/>
                <a:gd name="T2" fmla="*/ 0 w 26"/>
                <a:gd name="T3" fmla="*/ 18 h 29"/>
                <a:gd name="T4" fmla="*/ 18 w 26"/>
                <a:gd name="T5" fmla="*/ 26 h 29"/>
                <a:gd name="T6" fmla="*/ 18 w 26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5" name="Freeform 109"/>
            <p:cNvSpPr/>
            <p:nvPr/>
          </p:nvSpPr>
          <p:spPr bwMode="invGray">
            <a:xfrm>
              <a:off x="2979" y="1996"/>
              <a:ext cx="37" cy="27"/>
            </a:xfrm>
            <a:custGeom>
              <a:avLst/>
              <a:gdLst>
                <a:gd name="T0" fmla="*/ 14 w 49"/>
                <a:gd name="T1" fmla="*/ 6 h 36"/>
                <a:gd name="T2" fmla="*/ 0 w 49"/>
                <a:gd name="T3" fmla="*/ 18 h 36"/>
                <a:gd name="T4" fmla="*/ 6 w 49"/>
                <a:gd name="T5" fmla="*/ 32 h 36"/>
                <a:gd name="T6" fmla="*/ 18 w 49"/>
                <a:gd name="T7" fmla="*/ 36 h 36"/>
                <a:gd name="T8" fmla="*/ 40 w 49"/>
                <a:gd name="T9" fmla="*/ 26 h 36"/>
                <a:gd name="T10" fmla="*/ 14 w 49"/>
                <a:gd name="T11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6" name="Freeform 110"/>
            <p:cNvSpPr/>
            <p:nvPr/>
          </p:nvSpPr>
          <p:spPr bwMode="invGray">
            <a:xfrm>
              <a:off x="3040" y="1987"/>
              <a:ext cx="20" cy="16"/>
            </a:xfrm>
            <a:custGeom>
              <a:avLst/>
              <a:gdLst>
                <a:gd name="T0" fmla="*/ 11 w 27"/>
                <a:gd name="T1" fmla="*/ 0 h 22"/>
                <a:gd name="T2" fmla="*/ 3 w 27"/>
                <a:gd name="T3" fmla="*/ 12 h 22"/>
                <a:gd name="T4" fmla="*/ 19 w 27"/>
                <a:gd name="T5" fmla="*/ 22 h 22"/>
                <a:gd name="T6" fmla="*/ 11 w 27"/>
                <a:gd name="T7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7" name="Freeform 111"/>
            <p:cNvSpPr/>
            <p:nvPr/>
          </p:nvSpPr>
          <p:spPr bwMode="invGray">
            <a:xfrm>
              <a:off x="3022" y="2005"/>
              <a:ext cx="15" cy="13"/>
            </a:xfrm>
            <a:custGeom>
              <a:avLst/>
              <a:gdLst>
                <a:gd name="T0" fmla="*/ 11 w 20"/>
                <a:gd name="T1" fmla="*/ 0 h 18"/>
                <a:gd name="T2" fmla="*/ 9 w 20"/>
                <a:gd name="T3" fmla="*/ 18 h 18"/>
                <a:gd name="T4" fmla="*/ 11 w 20"/>
                <a:gd name="T5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8" name="Freeform 112"/>
            <p:cNvSpPr/>
            <p:nvPr/>
          </p:nvSpPr>
          <p:spPr bwMode="invGray">
            <a:xfrm>
              <a:off x="4162" y="2021"/>
              <a:ext cx="18" cy="33"/>
            </a:xfrm>
            <a:custGeom>
              <a:avLst/>
              <a:gdLst>
                <a:gd name="T0" fmla="*/ 24 w 24"/>
                <a:gd name="T1" fmla="*/ 0 h 44"/>
                <a:gd name="T2" fmla="*/ 8 w 24"/>
                <a:gd name="T3" fmla="*/ 16 h 44"/>
                <a:gd name="T4" fmla="*/ 0 w 24"/>
                <a:gd name="T5" fmla="*/ 34 h 44"/>
                <a:gd name="T6" fmla="*/ 16 w 24"/>
                <a:gd name="T7" fmla="*/ 40 h 44"/>
                <a:gd name="T8" fmla="*/ 24 w 24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9" name="Freeform 113"/>
            <p:cNvSpPr/>
            <p:nvPr/>
          </p:nvSpPr>
          <p:spPr bwMode="invGray">
            <a:xfrm>
              <a:off x="3278" y="3473"/>
              <a:ext cx="31" cy="18"/>
            </a:xfrm>
            <a:custGeom>
              <a:avLst/>
              <a:gdLst>
                <a:gd name="T0" fmla="*/ 30 w 41"/>
                <a:gd name="T1" fmla="*/ 0 h 24"/>
                <a:gd name="T2" fmla="*/ 26 w 41"/>
                <a:gd name="T3" fmla="*/ 24 h 24"/>
                <a:gd name="T4" fmla="*/ 30 w 41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0" name="Freeform 114"/>
            <p:cNvSpPr/>
            <p:nvPr/>
          </p:nvSpPr>
          <p:spPr bwMode="invGray">
            <a:xfrm>
              <a:off x="3318" y="3466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1" name="Freeform 115"/>
            <p:cNvSpPr/>
            <p:nvPr/>
          </p:nvSpPr>
          <p:spPr bwMode="invGray">
            <a:xfrm>
              <a:off x="3251" y="3312"/>
              <a:ext cx="9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2" name="Freeform 116"/>
            <p:cNvSpPr/>
            <p:nvPr/>
          </p:nvSpPr>
          <p:spPr bwMode="invGray">
            <a:xfrm>
              <a:off x="3311" y="3239"/>
              <a:ext cx="11" cy="19"/>
            </a:xfrm>
            <a:custGeom>
              <a:avLst/>
              <a:gdLst>
                <a:gd name="T0" fmla="*/ 6 w 14"/>
                <a:gd name="T1" fmla="*/ 0 h 25"/>
                <a:gd name="T2" fmla="*/ 0 w 14"/>
                <a:gd name="T3" fmla="*/ 13 h 25"/>
                <a:gd name="T4" fmla="*/ 12 w 14"/>
                <a:gd name="T5" fmla="*/ 24 h 25"/>
                <a:gd name="T6" fmla="*/ 6 w 14"/>
                <a:gd name="T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3" name="Freeform 117"/>
            <p:cNvSpPr/>
            <p:nvPr/>
          </p:nvSpPr>
          <p:spPr bwMode="invGray">
            <a:xfrm>
              <a:off x="3287" y="3238"/>
              <a:ext cx="11" cy="19"/>
            </a:xfrm>
            <a:custGeom>
              <a:avLst/>
              <a:gdLst>
                <a:gd name="T0" fmla="*/ 6 w 14"/>
                <a:gd name="T1" fmla="*/ 0 h 25"/>
                <a:gd name="T2" fmla="*/ 0 w 14"/>
                <a:gd name="T3" fmla="*/ 13 h 25"/>
                <a:gd name="T4" fmla="*/ 12 w 14"/>
                <a:gd name="T5" fmla="*/ 24 h 25"/>
                <a:gd name="T6" fmla="*/ 6 w 14"/>
                <a:gd name="T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4" name="Freeform 118"/>
            <p:cNvSpPr/>
            <p:nvPr/>
          </p:nvSpPr>
          <p:spPr bwMode="invGray">
            <a:xfrm>
              <a:off x="3276" y="3260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5" name="Freeform 119"/>
            <p:cNvSpPr/>
            <p:nvPr/>
          </p:nvSpPr>
          <p:spPr bwMode="invGray">
            <a:xfrm>
              <a:off x="3251" y="3294"/>
              <a:ext cx="9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6" name="Freeform 120"/>
            <p:cNvSpPr/>
            <p:nvPr/>
          </p:nvSpPr>
          <p:spPr bwMode="invGray">
            <a:xfrm>
              <a:off x="3270" y="3281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7" name="Freeform 121"/>
            <p:cNvSpPr/>
            <p:nvPr/>
          </p:nvSpPr>
          <p:spPr bwMode="invGray">
            <a:xfrm>
              <a:off x="2537" y="2293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8" name="Freeform 122"/>
            <p:cNvSpPr/>
            <p:nvPr/>
          </p:nvSpPr>
          <p:spPr bwMode="invGray">
            <a:xfrm>
              <a:off x="2476" y="2259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9" name="Freeform 123"/>
            <p:cNvSpPr/>
            <p:nvPr/>
          </p:nvSpPr>
          <p:spPr bwMode="invGray">
            <a:xfrm>
              <a:off x="2238" y="2042"/>
              <a:ext cx="2060" cy="1644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41 h 1644"/>
                <a:gd name="T10" fmla="*/ 146 w 2060"/>
                <a:gd name="T11" fmla="*/ 1059 h 1644"/>
                <a:gd name="T12" fmla="*/ 308 w 2060"/>
                <a:gd name="T13" fmla="*/ 1041 h 1644"/>
                <a:gd name="T14" fmla="*/ 396 w 2060"/>
                <a:gd name="T15" fmla="*/ 1138 h 1644"/>
                <a:gd name="T16" fmla="*/ 452 w 2060"/>
                <a:gd name="T17" fmla="*/ 1447 h 1644"/>
                <a:gd name="T18" fmla="*/ 497 w 2060"/>
                <a:gd name="T19" fmla="*/ 1628 h 1644"/>
                <a:gd name="T20" fmla="*/ 704 w 2060"/>
                <a:gd name="T21" fmla="*/ 1574 h 1644"/>
                <a:gd name="T22" fmla="*/ 817 w 2060"/>
                <a:gd name="T23" fmla="*/ 1380 h 1644"/>
                <a:gd name="T24" fmla="*/ 885 w 2060"/>
                <a:gd name="T25" fmla="*/ 1153 h 1644"/>
                <a:gd name="T26" fmla="*/ 998 w 2060"/>
                <a:gd name="T27" fmla="*/ 999 h 1644"/>
                <a:gd name="T28" fmla="*/ 796 w 2060"/>
                <a:gd name="T29" fmla="*/ 856 h 1644"/>
                <a:gd name="T30" fmla="*/ 817 w 2060"/>
                <a:gd name="T31" fmla="*/ 819 h 1644"/>
                <a:gd name="T32" fmla="*/ 1003 w 2060"/>
                <a:gd name="T33" fmla="*/ 916 h 1644"/>
                <a:gd name="T34" fmla="*/ 1098 w 2060"/>
                <a:gd name="T35" fmla="*/ 792 h 1644"/>
                <a:gd name="T36" fmla="*/ 1046 w 2060"/>
                <a:gd name="T37" fmla="*/ 763 h 1644"/>
                <a:gd name="T38" fmla="*/ 929 w 2060"/>
                <a:gd name="T39" fmla="*/ 716 h 1644"/>
                <a:gd name="T40" fmla="*/ 1141 w 2060"/>
                <a:gd name="T41" fmla="*/ 761 h 1644"/>
                <a:gd name="T42" fmla="*/ 1296 w 2060"/>
                <a:gd name="T43" fmla="*/ 852 h 1644"/>
                <a:gd name="T44" fmla="*/ 1373 w 2060"/>
                <a:gd name="T45" fmla="*/ 1033 h 1644"/>
                <a:gd name="T46" fmla="*/ 1608 w 2060"/>
                <a:gd name="T47" fmla="*/ 847 h 1644"/>
                <a:gd name="T48" fmla="*/ 1704 w 2060"/>
                <a:gd name="T49" fmla="*/ 1030 h 1644"/>
                <a:gd name="T50" fmla="*/ 1707 w 2060"/>
                <a:gd name="T51" fmla="*/ 874 h 1644"/>
                <a:gd name="T52" fmla="*/ 1759 w 2060"/>
                <a:gd name="T53" fmla="*/ 800 h 1644"/>
                <a:gd name="T54" fmla="*/ 1783 w 2060"/>
                <a:gd name="T55" fmla="*/ 544 h 1644"/>
                <a:gd name="T56" fmla="*/ 1824 w 2060"/>
                <a:gd name="T57" fmla="*/ 528 h 1644"/>
                <a:gd name="T58" fmla="*/ 1844 w 2060"/>
                <a:gd name="T59" fmla="*/ 427 h 1644"/>
                <a:gd name="T60" fmla="*/ 1805 w 2060"/>
                <a:gd name="T61" fmla="*/ 226 h 1644"/>
                <a:gd name="T62" fmla="*/ 1899 w 2060"/>
                <a:gd name="T63" fmla="*/ 108 h 1644"/>
                <a:gd name="T64" fmla="*/ 1947 w 2060"/>
                <a:gd name="T65" fmla="*/ 209 h 1644"/>
                <a:gd name="T66" fmla="*/ 1943 w 2060"/>
                <a:gd name="T67" fmla="*/ 123 h 1644"/>
                <a:gd name="T68" fmla="*/ 1975 w 2060"/>
                <a:gd name="T69" fmla="*/ 51 h 1644"/>
                <a:gd name="T70" fmla="*/ 2038 w 2060"/>
                <a:gd name="T71" fmla="*/ 0 h 1644"/>
                <a:gd name="T72" fmla="*/ 1820 w 2060"/>
                <a:gd name="T73" fmla="*/ 63 h 1644"/>
                <a:gd name="T74" fmla="*/ 1583 w 2060"/>
                <a:gd name="T75" fmla="*/ 83 h 1644"/>
                <a:gd name="T76" fmla="*/ 1349 w 2060"/>
                <a:gd name="T77" fmla="*/ 30 h 1644"/>
                <a:gd name="T78" fmla="*/ 1132 w 2060"/>
                <a:gd name="T79" fmla="*/ 65 h 1644"/>
                <a:gd name="T80" fmla="*/ 1040 w 2060"/>
                <a:gd name="T81" fmla="*/ 170 h 1644"/>
                <a:gd name="T82" fmla="*/ 926 w 2060"/>
                <a:gd name="T83" fmla="*/ 137 h 1644"/>
                <a:gd name="T84" fmla="*/ 758 w 2060"/>
                <a:gd name="T85" fmla="*/ 183 h 1644"/>
                <a:gd name="T86" fmla="*/ 667 w 2060"/>
                <a:gd name="T87" fmla="*/ 140 h 1644"/>
                <a:gd name="T88" fmla="*/ 364 w 2060"/>
                <a:gd name="T89" fmla="*/ 248 h 1644"/>
                <a:gd name="T90" fmla="*/ 535 w 2060"/>
                <a:gd name="T91" fmla="*/ 213 h 1644"/>
                <a:gd name="T92" fmla="*/ 638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92 w 2060"/>
                <a:gd name="T109" fmla="*/ 548 h 1644"/>
                <a:gd name="T110" fmla="*/ 686 w 2060"/>
                <a:gd name="T111" fmla="*/ 470 h 1644"/>
                <a:gd name="T112" fmla="*/ 772 w 2060"/>
                <a:gd name="T113" fmla="*/ 480 h 1644"/>
                <a:gd name="T114" fmla="*/ 639 w 2060"/>
                <a:gd name="T115" fmla="*/ 598 h 16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FF5425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016433" y="2795199"/>
            <a:ext cx="8534400" cy="1143000"/>
          </a:xfrm>
        </p:spPr>
        <p:txBody>
          <a:bodyPr/>
          <a:lstStyle>
            <a:lvl1pPr algn="ctr">
              <a:defRPr sz="4300" i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dirty="0"/>
              <a:t>单击此处编辑母版标题样式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fld id="{C764DE79-268F-4C1A-8933-263129D2AF90}" type="datetimeFigureOut">
              <a:rPr lang="en-US" smtClean="0"/>
              <a:t>1/4/2026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32" descr="7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2534" y="6165851"/>
            <a:ext cx="2785533" cy="638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31" descr="6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3695700" cy="906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6" descr="2"/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5700" y="441326"/>
            <a:ext cx="4656667" cy="466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24"/>
          <p:cNvSpPr>
            <a:spLocks noChangeArrowheads="1"/>
          </p:cNvSpPr>
          <p:nvPr userDrawn="1"/>
        </p:nvSpPr>
        <p:spPr bwMode="gray">
          <a:xfrm>
            <a:off x="0" y="1"/>
            <a:ext cx="12192000" cy="1484313"/>
          </a:xfrm>
          <a:prstGeom prst="rect">
            <a:avLst/>
          </a:prstGeom>
          <a:gradFill rotWithShape="1">
            <a:gsLst>
              <a:gs pos="0">
                <a:srgbClr val="3366FF">
                  <a:alpha val="60001"/>
                </a:srgbClr>
              </a:gs>
              <a:gs pos="100000">
                <a:srgbClr val="FFFFFF">
                  <a:alpha val="70000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8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1" name="Picture 29" descr="artplus_nature_naturalcity42_f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9417" y="6334126"/>
            <a:ext cx="1826683" cy="52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906464"/>
            <a:ext cx="10515600" cy="7842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image" Target="../media/image6.png"/><Relationship Id="rId5" Type="http://schemas.openxmlformats.org/officeDocument/2006/relationships/tags" Target="../tags/tag6.xml"/><Relationship Id="rId10" Type="http://schemas.openxmlformats.org/officeDocument/2006/relationships/slideLayout" Target="../slideLayouts/slideLayout3.xml"/><Relationship Id="rId4" Type="http://schemas.openxmlformats.org/officeDocument/2006/relationships/tags" Target="../tags/tag5.xml"/><Relationship Id="rId9" Type="http://schemas.openxmlformats.org/officeDocument/2006/relationships/tags" Target="../tags/tag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3" Type="http://schemas.openxmlformats.org/officeDocument/2006/relationships/tags" Target="../tags/tag13.xml"/><Relationship Id="rId7" Type="http://schemas.openxmlformats.org/officeDocument/2006/relationships/tags" Target="../tags/tag17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image" Target="../media/image6.png"/><Relationship Id="rId5" Type="http://schemas.openxmlformats.org/officeDocument/2006/relationships/tags" Target="../tags/tag15.xml"/><Relationship Id="rId10" Type="http://schemas.openxmlformats.org/officeDocument/2006/relationships/slideLayout" Target="../slideLayouts/slideLayout3.xml"/><Relationship Id="rId4" Type="http://schemas.openxmlformats.org/officeDocument/2006/relationships/tags" Target="../tags/tag14.xml"/><Relationship Id="rId9" Type="http://schemas.openxmlformats.org/officeDocument/2006/relationships/tags" Target="../tags/tag1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27.xml"/><Relationship Id="rId3" Type="http://schemas.openxmlformats.org/officeDocument/2006/relationships/tags" Target="../tags/tag22.xml"/><Relationship Id="rId7" Type="http://schemas.openxmlformats.org/officeDocument/2006/relationships/tags" Target="../tags/tag26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tags" Target="../tags/tag25.xml"/><Relationship Id="rId11" Type="http://schemas.openxmlformats.org/officeDocument/2006/relationships/image" Target="../media/image6.png"/><Relationship Id="rId5" Type="http://schemas.openxmlformats.org/officeDocument/2006/relationships/tags" Target="../tags/tag24.xml"/><Relationship Id="rId10" Type="http://schemas.openxmlformats.org/officeDocument/2006/relationships/slideLayout" Target="../slideLayouts/slideLayout3.xml"/><Relationship Id="rId4" Type="http://schemas.openxmlformats.org/officeDocument/2006/relationships/tags" Target="../tags/tag23.xml"/><Relationship Id="rId9" Type="http://schemas.openxmlformats.org/officeDocument/2006/relationships/tags" Target="../tags/tag2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36.xml"/><Relationship Id="rId13" Type="http://schemas.openxmlformats.org/officeDocument/2006/relationships/image" Target="../media/image6.png"/><Relationship Id="rId3" Type="http://schemas.openxmlformats.org/officeDocument/2006/relationships/tags" Target="../tags/tag31.xml"/><Relationship Id="rId7" Type="http://schemas.openxmlformats.org/officeDocument/2006/relationships/tags" Target="../tags/tag35.xml"/><Relationship Id="rId12" Type="http://schemas.openxmlformats.org/officeDocument/2006/relationships/notesSlide" Target="../notesSlides/notesSlide2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11" Type="http://schemas.openxmlformats.org/officeDocument/2006/relationships/slideLayout" Target="../slideLayouts/slideLayout3.xml"/><Relationship Id="rId5" Type="http://schemas.openxmlformats.org/officeDocument/2006/relationships/tags" Target="../tags/tag33.xml"/><Relationship Id="rId10" Type="http://schemas.openxmlformats.org/officeDocument/2006/relationships/tags" Target="../tags/tag38.xml"/><Relationship Id="rId4" Type="http://schemas.openxmlformats.org/officeDocument/2006/relationships/tags" Target="../tags/tag32.xml"/><Relationship Id="rId9" Type="http://schemas.openxmlformats.org/officeDocument/2006/relationships/tags" Target="../tags/tag3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tags" Target="../tags/tag46.xml"/><Relationship Id="rId13" Type="http://schemas.openxmlformats.org/officeDocument/2006/relationships/image" Target="../media/image6.png"/><Relationship Id="rId3" Type="http://schemas.openxmlformats.org/officeDocument/2006/relationships/tags" Target="../tags/tag41.xml"/><Relationship Id="rId7" Type="http://schemas.openxmlformats.org/officeDocument/2006/relationships/tags" Target="../tags/tag45.xml"/><Relationship Id="rId12" Type="http://schemas.openxmlformats.org/officeDocument/2006/relationships/notesSlide" Target="../notesSlides/notesSlide3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tags" Target="../tags/tag44.xml"/><Relationship Id="rId11" Type="http://schemas.openxmlformats.org/officeDocument/2006/relationships/slideLayout" Target="../slideLayouts/slideLayout3.xml"/><Relationship Id="rId5" Type="http://schemas.openxmlformats.org/officeDocument/2006/relationships/tags" Target="../tags/tag43.xml"/><Relationship Id="rId10" Type="http://schemas.openxmlformats.org/officeDocument/2006/relationships/tags" Target="../tags/tag48.xml"/><Relationship Id="rId4" Type="http://schemas.openxmlformats.org/officeDocument/2006/relationships/tags" Target="../tags/tag42.xml"/><Relationship Id="rId9" Type="http://schemas.openxmlformats.org/officeDocument/2006/relationships/tags" Target="../tags/tag4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tags" Target="../tags/tag56.xml"/><Relationship Id="rId3" Type="http://schemas.openxmlformats.org/officeDocument/2006/relationships/tags" Target="../tags/tag51.xml"/><Relationship Id="rId7" Type="http://schemas.openxmlformats.org/officeDocument/2006/relationships/tags" Target="../tags/tag55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tags" Target="../tags/tag54.xml"/><Relationship Id="rId11" Type="http://schemas.openxmlformats.org/officeDocument/2006/relationships/image" Target="../media/image6.png"/><Relationship Id="rId5" Type="http://schemas.openxmlformats.org/officeDocument/2006/relationships/tags" Target="../tags/tag53.xml"/><Relationship Id="rId10" Type="http://schemas.openxmlformats.org/officeDocument/2006/relationships/slideLayout" Target="../slideLayouts/slideLayout3.xml"/><Relationship Id="rId4" Type="http://schemas.openxmlformats.org/officeDocument/2006/relationships/tags" Target="../tags/tag52.xml"/><Relationship Id="rId9" Type="http://schemas.openxmlformats.org/officeDocument/2006/relationships/tags" Target="../tags/tag5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tags" Target="../tags/tag65.xml"/><Relationship Id="rId3" Type="http://schemas.openxmlformats.org/officeDocument/2006/relationships/tags" Target="../tags/tag60.xml"/><Relationship Id="rId7" Type="http://schemas.openxmlformats.org/officeDocument/2006/relationships/tags" Target="../tags/tag64.xml"/><Relationship Id="rId12" Type="http://schemas.openxmlformats.org/officeDocument/2006/relationships/image" Target="../media/image6.png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tags" Target="../tags/tag63.xml"/><Relationship Id="rId11" Type="http://schemas.openxmlformats.org/officeDocument/2006/relationships/slideLayout" Target="../slideLayouts/slideLayout3.xml"/><Relationship Id="rId5" Type="http://schemas.openxmlformats.org/officeDocument/2006/relationships/tags" Target="../tags/tag62.xml"/><Relationship Id="rId10" Type="http://schemas.openxmlformats.org/officeDocument/2006/relationships/tags" Target="../tags/tag67.xml"/><Relationship Id="rId4" Type="http://schemas.openxmlformats.org/officeDocument/2006/relationships/tags" Target="../tags/tag61.xml"/><Relationship Id="rId9" Type="http://schemas.openxmlformats.org/officeDocument/2006/relationships/tags" Target="../tags/tag6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tags" Target="../tags/tag75.xml"/><Relationship Id="rId3" Type="http://schemas.openxmlformats.org/officeDocument/2006/relationships/tags" Target="../tags/tag70.xml"/><Relationship Id="rId7" Type="http://schemas.openxmlformats.org/officeDocument/2006/relationships/tags" Target="../tags/tag74.xml"/><Relationship Id="rId12" Type="http://schemas.openxmlformats.org/officeDocument/2006/relationships/image" Target="../media/image6.png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6" Type="http://schemas.openxmlformats.org/officeDocument/2006/relationships/tags" Target="../tags/tag73.xml"/><Relationship Id="rId11" Type="http://schemas.openxmlformats.org/officeDocument/2006/relationships/slideLayout" Target="../slideLayouts/slideLayout3.xml"/><Relationship Id="rId5" Type="http://schemas.openxmlformats.org/officeDocument/2006/relationships/tags" Target="../tags/tag72.xml"/><Relationship Id="rId10" Type="http://schemas.openxmlformats.org/officeDocument/2006/relationships/tags" Target="../tags/tag77.xml"/><Relationship Id="rId4" Type="http://schemas.openxmlformats.org/officeDocument/2006/relationships/tags" Target="../tags/tag71.xml"/><Relationship Id="rId9" Type="http://schemas.openxmlformats.org/officeDocument/2006/relationships/tags" Target="../tags/tag7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tags" Target="../tags/tag85.xml"/><Relationship Id="rId3" Type="http://schemas.openxmlformats.org/officeDocument/2006/relationships/tags" Target="../tags/tag80.xml"/><Relationship Id="rId7" Type="http://schemas.openxmlformats.org/officeDocument/2006/relationships/tags" Target="../tags/tag84.xml"/><Relationship Id="rId12" Type="http://schemas.openxmlformats.org/officeDocument/2006/relationships/image" Target="../media/image6.png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6" Type="http://schemas.openxmlformats.org/officeDocument/2006/relationships/tags" Target="../tags/tag83.xml"/><Relationship Id="rId11" Type="http://schemas.openxmlformats.org/officeDocument/2006/relationships/slideLayout" Target="../slideLayouts/slideLayout3.xml"/><Relationship Id="rId5" Type="http://schemas.openxmlformats.org/officeDocument/2006/relationships/tags" Target="../tags/tag82.xml"/><Relationship Id="rId10" Type="http://schemas.openxmlformats.org/officeDocument/2006/relationships/tags" Target="../tags/tag87.xml"/><Relationship Id="rId4" Type="http://schemas.openxmlformats.org/officeDocument/2006/relationships/tags" Target="../tags/tag81.xml"/><Relationship Id="rId9" Type="http://schemas.openxmlformats.org/officeDocument/2006/relationships/tags" Target="../tags/tag8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tags" Target="../tags/tag95.xml"/><Relationship Id="rId3" Type="http://schemas.openxmlformats.org/officeDocument/2006/relationships/tags" Target="../tags/tag90.xml"/><Relationship Id="rId7" Type="http://schemas.openxmlformats.org/officeDocument/2006/relationships/tags" Target="../tags/tag94.xml"/><Relationship Id="rId12" Type="http://schemas.openxmlformats.org/officeDocument/2006/relationships/image" Target="../media/image6.png"/><Relationship Id="rId2" Type="http://schemas.openxmlformats.org/officeDocument/2006/relationships/tags" Target="../tags/tag89.xml"/><Relationship Id="rId1" Type="http://schemas.openxmlformats.org/officeDocument/2006/relationships/tags" Target="../tags/tag88.xml"/><Relationship Id="rId6" Type="http://schemas.openxmlformats.org/officeDocument/2006/relationships/tags" Target="../tags/tag93.xml"/><Relationship Id="rId11" Type="http://schemas.openxmlformats.org/officeDocument/2006/relationships/slideLayout" Target="../slideLayouts/slideLayout3.xml"/><Relationship Id="rId5" Type="http://schemas.openxmlformats.org/officeDocument/2006/relationships/tags" Target="../tags/tag92.xml"/><Relationship Id="rId10" Type="http://schemas.openxmlformats.org/officeDocument/2006/relationships/tags" Target="../tags/tag97.xml"/><Relationship Id="rId4" Type="http://schemas.openxmlformats.org/officeDocument/2006/relationships/tags" Target="../tags/tag91.xml"/><Relationship Id="rId9" Type="http://schemas.openxmlformats.org/officeDocument/2006/relationships/tags" Target="../tags/tag9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tags" Target="../tags/tag105.xml"/><Relationship Id="rId3" Type="http://schemas.openxmlformats.org/officeDocument/2006/relationships/tags" Target="../tags/tag100.xml"/><Relationship Id="rId7" Type="http://schemas.openxmlformats.org/officeDocument/2006/relationships/tags" Target="../tags/tag104.xml"/><Relationship Id="rId12" Type="http://schemas.openxmlformats.org/officeDocument/2006/relationships/image" Target="../media/image6.png"/><Relationship Id="rId2" Type="http://schemas.openxmlformats.org/officeDocument/2006/relationships/tags" Target="../tags/tag99.xml"/><Relationship Id="rId1" Type="http://schemas.openxmlformats.org/officeDocument/2006/relationships/tags" Target="../tags/tag98.xml"/><Relationship Id="rId6" Type="http://schemas.openxmlformats.org/officeDocument/2006/relationships/tags" Target="../tags/tag103.xml"/><Relationship Id="rId11" Type="http://schemas.openxmlformats.org/officeDocument/2006/relationships/slideLayout" Target="../slideLayouts/slideLayout3.xml"/><Relationship Id="rId5" Type="http://schemas.openxmlformats.org/officeDocument/2006/relationships/tags" Target="../tags/tag102.xml"/><Relationship Id="rId10" Type="http://schemas.openxmlformats.org/officeDocument/2006/relationships/tags" Target="../tags/tag107.xml"/><Relationship Id="rId4" Type="http://schemas.openxmlformats.org/officeDocument/2006/relationships/tags" Target="../tags/tag101.xml"/><Relationship Id="rId9" Type="http://schemas.openxmlformats.org/officeDocument/2006/relationships/tags" Target="../tags/tag10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tags" Target="../tags/tag115.xml"/><Relationship Id="rId13" Type="http://schemas.openxmlformats.org/officeDocument/2006/relationships/tags" Target="../tags/tag120.xml"/><Relationship Id="rId18" Type="http://schemas.openxmlformats.org/officeDocument/2006/relationships/tags" Target="../tags/tag125.xml"/><Relationship Id="rId3" Type="http://schemas.openxmlformats.org/officeDocument/2006/relationships/tags" Target="../tags/tag110.xml"/><Relationship Id="rId21" Type="http://schemas.openxmlformats.org/officeDocument/2006/relationships/image" Target="../media/image6.png"/><Relationship Id="rId7" Type="http://schemas.openxmlformats.org/officeDocument/2006/relationships/tags" Target="../tags/tag114.xml"/><Relationship Id="rId12" Type="http://schemas.openxmlformats.org/officeDocument/2006/relationships/tags" Target="../tags/tag119.xml"/><Relationship Id="rId17" Type="http://schemas.openxmlformats.org/officeDocument/2006/relationships/tags" Target="../tags/tag124.xml"/><Relationship Id="rId2" Type="http://schemas.openxmlformats.org/officeDocument/2006/relationships/tags" Target="../tags/tag109.xml"/><Relationship Id="rId16" Type="http://schemas.openxmlformats.org/officeDocument/2006/relationships/tags" Target="../tags/tag123.xml"/><Relationship Id="rId20" Type="http://schemas.openxmlformats.org/officeDocument/2006/relationships/notesSlide" Target="../notesSlides/notesSlide4.xml"/><Relationship Id="rId1" Type="http://schemas.openxmlformats.org/officeDocument/2006/relationships/tags" Target="../tags/tag108.xml"/><Relationship Id="rId6" Type="http://schemas.openxmlformats.org/officeDocument/2006/relationships/tags" Target="../tags/tag113.xml"/><Relationship Id="rId11" Type="http://schemas.openxmlformats.org/officeDocument/2006/relationships/tags" Target="../tags/tag118.xml"/><Relationship Id="rId5" Type="http://schemas.openxmlformats.org/officeDocument/2006/relationships/tags" Target="../tags/tag112.xml"/><Relationship Id="rId15" Type="http://schemas.openxmlformats.org/officeDocument/2006/relationships/tags" Target="../tags/tag122.xml"/><Relationship Id="rId10" Type="http://schemas.openxmlformats.org/officeDocument/2006/relationships/tags" Target="../tags/tag117.xml"/><Relationship Id="rId19" Type="http://schemas.openxmlformats.org/officeDocument/2006/relationships/slideLayout" Target="../slideLayouts/slideLayout3.xml"/><Relationship Id="rId4" Type="http://schemas.openxmlformats.org/officeDocument/2006/relationships/tags" Target="../tags/tag111.xml"/><Relationship Id="rId9" Type="http://schemas.openxmlformats.org/officeDocument/2006/relationships/tags" Target="../tags/tag116.xml"/><Relationship Id="rId14" Type="http://schemas.openxmlformats.org/officeDocument/2006/relationships/tags" Target="../tags/tag121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tags" Target="../tags/tag133.xml"/><Relationship Id="rId13" Type="http://schemas.openxmlformats.org/officeDocument/2006/relationships/tags" Target="../tags/tag138.xml"/><Relationship Id="rId18" Type="http://schemas.openxmlformats.org/officeDocument/2006/relationships/tags" Target="../tags/tag143.xml"/><Relationship Id="rId3" Type="http://schemas.openxmlformats.org/officeDocument/2006/relationships/tags" Target="../tags/tag128.xml"/><Relationship Id="rId21" Type="http://schemas.openxmlformats.org/officeDocument/2006/relationships/image" Target="../media/image6.png"/><Relationship Id="rId7" Type="http://schemas.openxmlformats.org/officeDocument/2006/relationships/tags" Target="../tags/tag132.xml"/><Relationship Id="rId12" Type="http://schemas.openxmlformats.org/officeDocument/2006/relationships/tags" Target="../tags/tag137.xml"/><Relationship Id="rId17" Type="http://schemas.openxmlformats.org/officeDocument/2006/relationships/tags" Target="../tags/tag142.xml"/><Relationship Id="rId2" Type="http://schemas.openxmlformats.org/officeDocument/2006/relationships/tags" Target="../tags/tag127.xml"/><Relationship Id="rId16" Type="http://schemas.openxmlformats.org/officeDocument/2006/relationships/tags" Target="../tags/tag141.xml"/><Relationship Id="rId20" Type="http://schemas.openxmlformats.org/officeDocument/2006/relationships/notesSlide" Target="../notesSlides/notesSlide5.xml"/><Relationship Id="rId1" Type="http://schemas.openxmlformats.org/officeDocument/2006/relationships/tags" Target="../tags/tag126.xml"/><Relationship Id="rId6" Type="http://schemas.openxmlformats.org/officeDocument/2006/relationships/tags" Target="../tags/tag131.xml"/><Relationship Id="rId11" Type="http://schemas.openxmlformats.org/officeDocument/2006/relationships/tags" Target="../tags/tag136.xml"/><Relationship Id="rId5" Type="http://schemas.openxmlformats.org/officeDocument/2006/relationships/tags" Target="../tags/tag130.xml"/><Relationship Id="rId15" Type="http://schemas.openxmlformats.org/officeDocument/2006/relationships/tags" Target="../tags/tag140.xml"/><Relationship Id="rId10" Type="http://schemas.openxmlformats.org/officeDocument/2006/relationships/tags" Target="../tags/tag135.xml"/><Relationship Id="rId19" Type="http://schemas.openxmlformats.org/officeDocument/2006/relationships/slideLayout" Target="../slideLayouts/slideLayout3.xml"/><Relationship Id="rId4" Type="http://schemas.openxmlformats.org/officeDocument/2006/relationships/tags" Target="../tags/tag129.xml"/><Relationship Id="rId9" Type="http://schemas.openxmlformats.org/officeDocument/2006/relationships/tags" Target="../tags/tag134.xml"/><Relationship Id="rId14" Type="http://schemas.openxmlformats.org/officeDocument/2006/relationships/tags" Target="../tags/tag139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tags" Target="../tags/tag151.xml"/><Relationship Id="rId3" Type="http://schemas.openxmlformats.org/officeDocument/2006/relationships/tags" Target="../tags/tag146.xml"/><Relationship Id="rId7" Type="http://schemas.openxmlformats.org/officeDocument/2006/relationships/tags" Target="../tags/tag150.xml"/><Relationship Id="rId2" Type="http://schemas.openxmlformats.org/officeDocument/2006/relationships/tags" Target="../tags/tag145.xml"/><Relationship Id="rId1" Type="http://schemas.openxmlformats.org/officeDocument/2006/relationships/tags" Target="../tags/tag144.xml"/><Relationship Id="rId6" Type="http://schemas.openxmlformats.org/officeDocument/2006/relationships/tags" Target="../tags/tag149.xml"/><Relationship Id="rId11" Type="http://schemas.openxmlformats.org/officeDocument/2006/relationships/image" Target="../media/image6.png"/><Relationship Id="rId5" Type="http://schemas.openxmlformats.org/officeDocument/2006/relationships/tags" Target="../tags/tag148.xml"/><Relationship Id="rId10" Type="http://schemas.openxmlformats.org/officeDocument/2006/relationships/slideLayout" Target="../slideLayouts/slideLayout3.xml"/><Relationship Id="rId4" Type="http://schemas.openxmlformats.org/officeDocument/2006/relationships/tags" Target="../tags/tag147.xml"/><Relationship Id="rId9" Type="http://schemas.openxmlformats.org/officeDocument/2006/relationships/tags" Target="../tags/tag15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tags" Target="../tags/tag160.xml"/><Relationship Id="rId13" Type="http://schemas.openxmlformats.org/officeDocument/2006/relationships/tags" Target="../tags/tag165.xml"/><Relationship Id="rId18" Type="http://schemas.openxmlformats.org/officeDocument/2006/relationships/slideLayout" Target="../slideLayouts/slideLayout3.xml"/><Relationship Id="rId3" Type="http://schemas.openxmlformats.org/officeDocument/2006/relationships/tags" Target="../tags/tag155.xml"/><Relationship Id="rId7" Type="http://schemas.openxmlformats.org/officeDocument/2006/relationships/tags" Target="../tags/tag159.xml"/><Relationship Id="rId12" Type="http://schemas.openxmlformats.org/officeDocument/2006/relationships/tags" Target="../tags/tag164.xml"/><Relationship Id="rId17" Type="http://schemas.openxmlformats.org/officeDocument/2006/relationships/tags" Target="../tags/tag169.xml"/><Relationship Id="rId2" Type="http://schemas.openxmlformats.org/officeDocument/2006/relationships/tags" Target="../tags/tag154.xml"/><Relationship Id="rId16" Type="http://schemas.openxmlformats.org/officeDocument/2006/relationships/tags" Target="../tags/tag168.xml"/><Relationship Id="rId1" Type="http://schemas.openxmlformats.org/officeDocument/2006/relationships/tags" Target="../tags/tag153.xml"/><Relationship Id="rId6" Type="http://schemas.openxmlformats.org/officeDocument/2006/relationships/tags" Target="../tags/tag158.xml"/><Relationship Id="rId11" Type="http://schemas.openxmlformats.org/officeDocument/2006/relationships/tags" Target="../tags/tag163.xml"/><Relationship Id="rId5" Type="http://schemas.openxmlformats.org/officeDocument/2006/relationships/tags" Target="../tags/tag157.xml"/><Relationship Id="rId15" Type="http://schemas.openxmlformats.org/officeDocument/2006/relationships/tags" Target="../tags/tag167.xml"/><Relationship Id="rId10" Type="http://schemas.openxmlformats.org/officeDocument/2006/relationships/tags" Target="../tags/tag162.xml"/><Relationship Id="rId19" Type="http://schemas.openxmlformats.org/officeDocument/2006/relationships/image" Target="../media/image6.png"/><Relationship Id="rId4" Type="http://schemas.openxmlformats.org/officeDocument/2006/relationships/tags" Target="../tags/tag156.xml"/><Relationship Id="rId9" Type="http://schemas.openxmlformats.org/officeDocument/2006/relationships/tags" Target="../tags/tag161.xml"/><Relationship Id="rId14" Type="http://schemas.openxmlformats.org/officeDocument/2006/relationships/tags" Target="../tags/tag166.xml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tags" Target="../tags/tag177.xml"/><Relationship Id="rId13" Type="http://schemas.openxmlformats.org/officeDocument/2006/relationships/tags" Target="../tags/tag182.xml"/><Relationship Id="rId18" Type="http://schemas.openxmlformats.org/officeDocument/2006/relationships/slideLayout" Target="../slideLayouts/slideLayout3.xml"/><Relationship Id="rId3" Type="http://schemas.openxmlformats.org/officeDocument/2006/relationships/tags" Target="../tags/tag172.xml"/><Relationship Id="rId7" Type="http://schemas.openxmlformats.org/officeDocument/2006/relationships/tags" Target="../tags/tag176.xml"/><Relationship Id="rId12" Type="http://schemas.openxmlformats.org/officeDocument/2006/relationships/tags" Target="../tags/tag181.xml"/><Relationship Id="rId17" Type="http://schemas.openxmlformats.org/officeDocument/2006/relationships/tags" Target="../tags/tag186.xml"/><Relationship Id="rId2" Type="http://schemas.openxmlformats.org/officeDocument/2006/relationships/tags" Target="../tags/tag171.xml"/><Relationship Id="rId16" Type="http://schemas.openxmlformats.org/officeDocument/2006/relationships/tags" Target="../tags/tag185.xml"/><Relationship Id="rId1" Type="http://schemas.openxmlformats.org/officeDocument/2006/relationships/tags" Target="../tags/tag170.xml"/><Relationship Id="rId6" Type="http://schemas.openxmlformats.org/officeDocument/2006/relationships/tags" Target="../tags/tag175.xml"/><Relationship Id="rId11" Type="http://schemas.openxmlformats.org/officeDocument/2006/relationships/tags" Target="../tags/tag180.xml"/><Relationship Id="rId5" Type="http://schemas.openxmlformats.org/officeDocument/2006/relationships/tags" Target="../tags/tag174.xml"/><Relationship Id="rId15" Type="http://schemas.openxmlformats.org/officeDocument/2006/relationships/tags" Target="../tags/tag184.xml"/><Relationship Id="rId10" Type="http://schemas.openxmlformats.org/officeDocument/2006/relationships/tags" Target="../tags/tag179.xml"/><Relationship Id="rId19" Type="http://schemas.openxmlformats.org/officeDocument/2006/relationships/image" Target="../media/image6.png"/><Relationship Id="rId4" Type="http://schemas.openxmlformats.org/officeDocument/2006/relationships/tags" Target="../tags/tag173.xml"/><Relationship Id="rId9" Type="http://schemas.openxmlformats.org/officeDocument/2006/relationships/tags" Target="../tags/tag178.xml"/><Relationship Id="rId14" Type="http://schemas.openxmlformats.org/officeDocument/2006/relationships/tags" Target="../tags/tag183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882802"/>
            <a:ext cx="12192000" cy="1405305"/>
          </a:xfrm>
        </p:spPr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400" b="1" i="0" dirty="0">
                <a:solidFill>
                  <a:schemeClr val="tx1"/>
                </a:solidFill>
                <a:ea typeface="宋体" panose="02010600030101010101" pitchFamily="2" charset="-122"/>
              </a:rPr>
              <a:t>汇编语言与逆向技术</a:t>
            </a:r>
            <a:br>
              <a:rPr lang="en-US" i="0" dirty="0">
                <a:solidFill>
                  <a:schemeClr val="tx1"/>
                </a:solidFill>
                <a:ea typeface="宋体" panose="02010600030101010101" pitchFamily="2" charset="-122"/>
              </a:rPr>
            </a:br>
            <a:r>
              <a:rPr lang="zh-CN" altLang="en-US" sz="3600" b="1" dirty="0">
                <a:solidFill>
                  <a:srgbClr val="7030A0"/>
                </a:solidFill>
              </a:rPr>
              <a:t>第</a:t>
            </a:r>
            <a:r>
              <a:rPr lang="en-US" altLang="zh-CN" sz="3600" b="1" dirty="0">
                <a:solidFill>
                  <a:srgbClr val="7030A0"/>
                </a:solidFill>
              </a:rPr>
              <a:t>6</a:t>
            </a:r>
            <a:r>
              <a:rPr lang="zh-CN" altLang="en-US" sz="3600" b="1" dirty="0">
                <a:solidFill>
                  <a:srgbClr val="7030A0"/>
                </a:solidFill>
              </a:rPr>
              <a:t>章 条件处理指令及程序结构</a:t>
            </a:r>
            <a:endParaRPr lang="en-US" sz="2800" b="1" dirty="0">
              <a:solidFill>
                <a:srgbClr val="7030A0"/>
              </a:solidFill>
              <a:ea typeface="宋体" panose="02010600030101010101" pitchFamily="2" charset="-122"/>
            </a:endParaRPr>
          </a:p>
        </p:txBody>
      </p:sp>
      <p:sp>
        <p:nvSpPr>
          <p:cNvPr id="5" name="Title 1"/>
          <p:cNvSpPr txBox="1"/>
          <p:nvPr/>
        </p:nvSpPr>
        <p:spPr bwMode="auto">
          <a:xfrm>
            <a:off x="0" y="3626471"/>
            <a:ext cx="12192000" cy="13012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300" b="1" i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/>
            <a:r>
              <a:rPr lang="zh-CN" altLang="en-US" sz="3600" b="0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王志、李旭昇、过辰锴、邓琮弋</a:t>
            </a:r>
            <a:r>
              <a:rPr lang="en-US" altLang="zh-CN" sz="3600" b="0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 algn="ctr" defTabSz="914400"/>
            <a:r>
              <a:rPr lang="en-US" altLang="zh-CN" sz="2400" b="0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zwang@nankai.edu.cn</a:t>
            </a:r>
          </a:p>
        </p:txBody>
      </p:sp>
      <p:sp>
        <p:nvSpPr>
          <p:cNvPr id="4" name="Title 1"/>
          <p:cNvSpPr txBox="1"/>
          <p:nvPr/>
        </p:nvSpPr>
        <p:spPr bwMode="auto">
          <a:xfrm>
            <a:off x="0" y="5179843"/>
            <a:ext cx="12192000" cy="16781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300" b="1" i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>
              <a:lnSpc>
                <a:spcPct val="150000"/>
              </a:lnSpc>
            </a:pPr>
            <a:r>
              <a:rPr lang="zh-CN" altLang="en-US" sz="2400" i="0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南开大学 网络空间安全学院</a:t>
            </a:r>
            <a:endParaRPr lang="en-US" altLang="zh-CN" sz="2400" i="0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 defTabSz="914400">
              <a:lnSpc>
                <a:spcPct val="150000"/>
              </a:lnSpc>
            </a:pPr>
            <a:r>
              <a:rPr lang="en-US" altLang="zh-CN" sz="2400" i="0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2025-2026</a:t>
            </a:r>
            <a:r>
              <a:rPr lang="zh-CN" altLang="en-US" sz="2400" i="0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学年</a:t>
            </a:r>
            <a:endParaRPr lang="en-US" altLang="zh-CN" sz="2400" i="0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本章知识点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>
                <a:latin typeface="宋体" panose="02010600030101010101" pitchFamily="2" charset="-122"/>
              </a:rPr>
              <a:t>程序动态调试</a:t>
            </a:r>
            <a:endParaRPr lang="en-US" altLang="zh-CN" dirty="0">
              <a:latin typeface="宋体" panose="02010600030101010101" pitchFamily="2" charset="-122"/>
            </a:endParaRPr>
          </a:p>
          <a:p>
            <a:r>
              <a:rPr lang="zh-CN" altLang="en-US" dirty="0">
                <a:latin typeface="宋体" panose="02010600030101010101" pitchFamily="2" charset="-122"/>
              </a:rPr>
              <a:t>控制流转移指令</a:t>
            </a:r>
            <a:endParaRPr lang="en-US" altLang="zh-CN" dirty="0">
              <a:latin typeface="宋体" panose="02010600030101010101" pitchFamily="2" charset="-122"/>
            </a:endParaRPr>
          </a:p>
          <a:p>
            <a:pPr lvl="1"/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重点：</a:t>
            </a:r>
            <a:r>
              <a:rPr lang="en-US" altLang="zh-CN" dirty="0">
                <a:solidFill>
                  <a:srgbClr val="FF0000"/>
                </a:solidFill>
                <a:latin typeface="宋体" panose="02010600030101010101" pitchFamily="2" charset="-122"/>
              </a:rPr>
              <a:t>CMP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、条件跳转、</a:t>
            </a:r>
            <a:r>
              <a:rPr lang="en-US" altLang="zh-CN" dirty="0">
                <a:solidFill>
                  <a:srgbClr val="FF0000"/>
                </a:solidFill>
                <a:latin typeface="宋体" panose="02010600030101010101" pitchFamily="2" charset="-122"/>
              </a:rPr>
              <a:t>LOOP</a:t>
            </a:r>
          </a:p>
          <a:p>
            <a:r>
              <a:rPr lang="zh-CN" altLang="en-US" dirty="0">
                <a:latin typeface="宋体" panose="02010600030101010101" pitchFamily="2" charset="-122"/>
              </a:rPr>
              <a:t>过程的定义和使用</a:t>
            </a:r>
            <a:endParaRPr lang="en-US" altLang="zh-CN" dirty="0">
              <a:latin typeface="宋体" panose="02010600030101010101" pitchFamily="2" charset="-122"/>
            </a:endParaRPr>
          </a:p>
          <a:p>
            <a:pPr lvl="1"/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重点：</a:t>
            </a:r>
            <a:r>
              <a:rPr lang="en-US" altLang="zh-CN" dirty="0">
                <a:solidFill>
                  <a:srgbClr val="FF0000"/>
                </a:solidFill>
                <a:latin typeface="宋体" panose="02010600030101010101" pitchFamily="2" charset="-122"/>
              </a:rPr>
              <a:t>PROC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dirty="0">
                <a:solidFill>
                  <a:srgbClr val="FF0000"/>
                </a:solidFill>
                <a:latin typeface="宋体" panose="02010600030101010101" pitchFamily="2" charset="-122"/>
              </a:rPr>
              <a:t>ENDP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dirty="0">
                <a:solidFill>
                  <a:srgbClr val="FF0000"/>
                </a:solidFill>
                <a:latin typeface="宋体" panose="02010600030101010101" pitchFamily="2" charset="-122"/>
              </a:rPr>
              <a:t>CALL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dirty="0">
                <a:solidFill>
                  <a:srgbClr val="FF0000"/>
                </a:solidFill>
                <a:latin typeface="宋体" panose="02010600030101010101" pitchFamily="2" charset="-122"/>
              </a:rPr>
              <a:t>RET</a:t>
            </a:r>
          </a:p>
          <a:p>
            <a:r>
              <a:rPr lang="zh-CN" altLang="en-US" dirty="0">
                <a:latin typeface="宋体" panose="02010600030101010101" pitchFamily="2" charset="-122"/>
              </a:rPr>
              <a:t>调用链接库中的函数</a:t>
            </a:r>
            <a:endParaRPr lang="en-US" altLang="zh-CN" dirty="0">
              <a:latin typeface="宋体" panose="02010600030101010101" pitchFamily="2" charset="-122"/>
            </a:endParaRPr>
          </a:p>
          <a:p>
            <a:pPr lvl="1"/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难点：</a:t>
            </a:r>
            <a:r>
              <a:rPr lang="en-US" altLang="zh-CN" dirty="0">
                <a:solidFill>
                  <a:srgbClr val="FF0000"/>
                </a:solidFill>
                <a:latin typeface="宋体" panose="02010600030101010101" pitchFamily="2" charset="-122"/>
              </a:rPr>
              <a:t>PROTO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伪指令</a:t>
            </a:r>
            <a:endParaRPr lang="en-US" altLang="zh-CN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4727" y="2337582"/>
            <a:ext cx="6400800" cy="1143000"/>
          </a:xfrm>
        </p:spPr>
        <p:txBody>
          <a:bodyPr/>
          <a:lstStyle/>
          <a:p>
            <a:pPr algn="ctr"/>
            <a:r>
              <a:rPr lang="zh-CN" altLang="en-US" dirty="0"/>
              <a:t>控制流转移指令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有几种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CPU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控制流转移的方式？</a:t>
            </a:r>
          </a:p>
        </p:txBody>
      </p:sp>
      <p:sp>
        <p:nvSpPr>
          <p:cNvPr id="6" name="矩形: 圆角 5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</a:p>
        </p:txBody>
      </p:sp>
      <p:grpSp>
        <p:nvGrpSpPr>
          <p:cNvPr id="11" name="组合 10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7" name="TitleBackground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ColorBlock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TypeText"/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主观题</a:t>
              </a:r>
            </a:p>
          </p:txBody>
        </p:sp>
        <p:sp>
          <p:nvSpPr>
            <p:cNvPr id="10" name="TipText"/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/>
          <p:cNvPicPr/>
          <p:nvPr>
            <p:custDataLst>
              <p:tags r:id="rId5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控制转移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控制转移（</a:t>
            </a:r>
            <a:r>
              <a:rPr lang="en-US" altLang="zh-CN" dirty="0"/>
              <a:t>transfer of control</a:t>
            </a:r>
            <a:r>
              <a:rPr lang="zh-CN" altLang="en-US" dirty="0"/>
              <a:t>）是一种改变汇编语句执行顺序的方法。</a:t>
            </a:r>
            <a:endParaRPr lang="en-US" altLang="zh-CN" dirty="0"/>
          </a:p>
          <a:p>
            <a:pPr lvl="1"/>
            <a:r>
              <a:rPr lang="zh-CN" altLang="en-US" dirty="0"/>
              <a:t>无条件转移</a:t>
            </a:r>
            <a:endParaRPr lang="en-US" altLang="zh-CN" dirty="0"/>
          </a:p>
          <a:p>
            <a:pPr lvl="1"/>
            <a:r>
              <a:rPr lang="zh-CN" altLang="en-US" dirty="0"/>
              <a:t>条件转移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CPU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的控制流跳转是如何实现的？</a:t>
            </a:r>
          </a:p>
        </p:txBody>
      </p:sp>
      <p:sp>
        <p:nvSpPr>
          <p:cNvPr id="5" name="矩形: 圆角 4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</a:p>
        </p:txBody>
      </p:sp>
      <p:grpSp>
        <p:nvGrpSpPr>
          <p:cNvPr id="10" name="组合 9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6" name="TitleBackground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ColorBlock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ypeText"/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主观题</a:t>
              </a:r>
            </a:p>
          </p:txBody>
        </p:sp>
        <p:sp>
          <p:nvSpPr>
            <p:cNvPr id="9" name="TipText"/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/>
          <p:cNvPicPr/>
          <p:nvPr>
            <p:custDataLst>
              <p:tags r:id="rId5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无条件转移 </a:t>
            </a:r>
            <a:r>
              <a:rPr lang="en-US" altLang="zh-CN" dirty="0"/>
              <a:t>Unconditional Jump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将</a:t>
            </a:r>
            <a:r>
              <a:rPr lang="en-US" altLang="zh-CN" dirty="0"/>
              <a:t>CPU</a:t>
            </a:r>
            <a:r>
              <a:rPr lang="zh-CN" altLang="en-US" dirty="0"/>
              <a:t>控制权直接转移到指定的汇编语句</a:t>
            </a:r>
            <a:endParaRPr lang="en-US" altLang="zh-CN" dirty="0"/>
          </a:p>
          <a:p>
            <a:pPr lvl="1"/>
            <a:r>
              <a:rPr lang="zh-CN" altLang="en-US" dirty="0"/>
              <a:t>修改</a:t>
            </a:r>
            <a:r>
              <a:rPr lang="en-US" altLang="zh-CN" dirty="0"/>
              <a:t>EIP</a:t>
            </a:r>
            <a:r>
              <a:rPr lang="zh-CN" altLang="en-US" dirty="0"/>
              <a:t>为指定的内存地址</a:t>
            </a:r>
            <a:endParaRPr lang="en-US" altLang="zh-CN" dirty="0"/>
          </a:p>
          <a:p>
            <a:pPr lvl="1"/>
            <a:r>
              <a:rPr lang="en-US" altLang="zh-CN" dirty="0"/>
              <a:t>CPU</a:t>
            </a:r>
            <a:r>
              <a:rPr lang="zh-CN" altLang="en-US" dirty="0"/>
              <a:t>从</a:t>
            </a:r>
            <a:r>
              <a:rPr lang="en-US" altLang="zh-CN" dirty="0"/>
              <a:t>EIP</a:t>
            </a:r>
            <a:r>
              <a:rPr lang="zh-CN" altLang="en-US" dirty="0"/>
              <a:t>指定的内存地址读取下一条机器指令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JMP</a:t>
            </a:r>
            <a:r>
              <a:rPr lang="zh-CN" altLang="en-US" dirty="0"/>
              <a:t>指令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7500" lnSpcReduction="10000"/>
          </a:bodyPr>
          <a:lstStyle/>
          <a:p>
            <a:r>
              <a:rPr lang="en-US" altLang="zh-CN" dirty="0">
                <a:sym typeface="+mn-ea"/>
              </a:rPr>
              <a:t>JMP指令也被称为无条件转移（Jump）指令，这意味着程序可以在没有任何先决条件的情况下改变执行顺序。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JMP</a:t>
            </a:r>
            <a:r>
              <a:rPr lang="en-US" altLang="zh-CN" dirty="0"/>
              <a:t> </a:t>
            </a:r>
            <a:r>
              <a:rPr lang="zh-CN" altLang="en-US" dirty="0">
                <a:solidFill>
                  <a:schemeClr val="accent5">
                    <a:lumMod val="50000"/>
                  </a:schemeClr>
                </a:solidFill>
              </a:rPr>
              <a:t>目的地址</a:t>
            </a:r>
            <a:endParaRPr lang="en-US" altLang="zh-CN" dirty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en-US" altLang="zh-CN" dirty="0"/>
              <a:t>JMP</a:t>
            </a:r>
            <a:r>
              <a:rPr lang="zh-CN" altLang="en-US" dirty="0"/>
              <a:t>指令实现</a:t>
            </a:r>
            <a:r>
              <a:rPr lang="en-US" altLang="zh-CN" dirty="0"/>
              <a:t>CPU</a:t>
            </a:r>
            <a:r>
              <a:rPr lang="zh-CN" altLang="en-US" dirty="0"/>
              <a:t>控制权的无条件跳转</a:t>
            </a:r>
          </a:p>
          <a:p>
            <a:r>
              <a:rPr lang="zh-CN" altLang="en-US" dirty="0"/>
              <a:t>目的地址是代码标号</a:t>
            </a:r>
            <a:endParaRPr lang="en-US" altLang="zh-CN" dirty="0"/>
          </a:p>
          <a:p>
            <a:pPr lvl="1"/>
            <a:r>
              <a:rPr lang="zh-CN" altLang="en-US" dirty="0"/>
              <a:t>代码标号被</a:t>
            </a:r>
            <a:r>
              <a:rPr lang="zh-CN" altLang="en-US" dirty="0">
                <a:solidFill>
                  <a:srgbClr val="FF0000"/>
                </a:solidFill>
              </a:rPr>
              <a:t>汇编器</a:t>
            </a:r>
            <a:r>
              <a:rPr lang="zh-CN" altLang="en-US" dirty="0"/>
              <a:t>翻译成内存地址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CPU</a:t>
            </a:r>
            <a:r>
              <a:rPr lang="zh-CN" altLang="en-US" dirty="0"/>
              <a:t>看到的是内存地址，不是代码标号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循环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21978" y="1989139"/>
            <a:ext cx="7940675" cy="4092575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top</a:t>
            </a:r>
            <a:r>
              <a:rPr lang="zh-CN" altLang="en-US" dirty="0"/>
              <a:t>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...</a:t>
            </a:r>
            <a:r>
              <a:rPr lang="zh-CN" altLang="en-US" dirty="0"/>
              <a:t> </a:t>
            </a:r>
            <a:r>
              <a:rPr lang="en-US" altLang="zh-CN" dirty="0"/>
              <a:t>...</a:t>
            </a:r>
          </a:p>
          <a:p>
            <a:pPr marL="0" indent="0">
              <a:buNone/>
            </a:pPr>
            <a:r>
              <a:rPr lang="en-US" altLang="zh-CN" dirty="0"/>
              <a:t>    ... ...</a:t>
            </a:r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en-US" altLang="zh-CN" dirty="0">
                <a:solidFill>
                  <a:srgbClr val="FF0000"/>
                </a:solidFill>
              </a:rPr>
              <a:t>JMP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0070C0"/>
                </a:solidFill>
              </a:rPr>
              <a:t>top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14" name="箭头: 左弧形 13"/>
          <p:cNvSpPr/>
          <p:nvPr/>
        </p:nvSpPr>
        <p:spPr>
          <a:xfrm rot="10615263">
            <a:off x="3936271" y="2290354"/>
            <a:ext cx="870857" cy="2760616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190309" y="3429001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accent2">
                    <a:lumMod val="75000"/>
                  </a:schemeClr>
                </a:solidFill>
              </a:rPr>
              <a:t>无限循环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条件跳转指令的判断条件存储在哪里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?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" name="矩形: 圆角 6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</a:p>
        </p:txBody>
      </p:sp>
      <p:grpSp>
        <p:nvGrpSpPr>
          <p:cNvPr id="12" name="组合 11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8" name="TitleBackground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ColorBlock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TypeText"/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主观题</a:t>
              </a:r>
            </a:p>
          </p:txBody>
        </p:sp>
        <p:sp>
          <p:nvSpPr>
            <p:cNvPr id="11" name="TipText"/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/>
          <p:cNvPicPr/>
          <p:nvPr>
            <p:custDataLst>
              <p:tags r:id="rId5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条件跳转指令 </a:t>
            </a:r>
            <a:r>
              <a:rPr lang="en-US" altLang="zh-CN" dirty="0"/>
              <a:t>Conditional Jump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66762" y="2475706"/>
            <a:ext cx="10515600" cy="1853406"/>
          </a:xfrm>
        </p:spPr>
        <p:txBody>
          <a:bodyPr/>
          <a:lstStyle/>
          <a:p>
            <a:r>
              <a:rPr lang="zh-CN" altLang="en-US"/>
              <a:t>布尔和比较指令</a:t>
            </a:r>
            <a:endParaRPr lang="en-US" altLang="zh-CN"/>
          </a:p>
          <a:p>
            <a:pPr lvl="1"/>
            <a:r>
              <a:rPr lang="en-US" altLang="zh-CN"/>
              <a:t>AND</a:t>
            </a:r>
            <a:r>
              <a:rPr lang="zh-CN" altLang="en-US"/>
              <a:t>、</a:t>
            </a:r>
            <a:r>
              <a:rPr lang="en-US" altLang="zh-CN"/>
              <a:t>OR</a:t>
            </a:r>
            <a:r>
              <a:rPr lang="zh-CN" altLang="en-US"/>
              <a:t>、</a:t>
            </a:r>
            <a:r>
              <a:rPr lang="en-US" altLang="zh-CN"/>
              <a:t>XOR</a:t>
            </a:r>
            <a:r>
              <a:rPr lang="zh-CN" altLang="en-US"/>
              <a:t>、</a:t>
            </a:r>
            <a:r>
              <a:rPr lang="en-US" altLang="zh-CN"/>
              <a:t>NOT</a:t>
            </a:r>
            <a:r>
              <a:rPr lang="zh-CN" altLang="en-US"/>
              <a:t>、</a:t>
            </a:r>
            <a:r>
              <a:rPr lang="en-US" altLang="zh-CN"/>
              <a:t>TEST</a:t>
            </a:r>
            <a:r>
              <a:rPr lang="zh-CN" altLang="en-US"/>
              <a:t>、</a:t>
            </a:r>
            <a:r>
              <a:rPr lang="en-US" altLang="zh-CN"/>
              <a:t>CMP</a:t>
            </a:r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/>
              <a:t>AND</a:t>
            </a:r>
            <a:r>
              <a:rPr lang="zh-CN" altLang="en-US"/>
              <a:t>指令</a:t>
            </a:r>
          </a:p>
        </p:txBody>
      </p:sp>
      <p:sp>
        <p:nvSpPr>
          <p:cNvPr id="3" name="内容占位符 2"/>
          <p:cNvSpPr txBox="1"/>
          <p:nvPr/>
        </p:nvSpPr>
        <p:spPr>
          <a:xfrm>
            <a:off x="766762" y="1854200"/>
            <a:ext cx="10515600" cy="42545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600">
                <a:sym typeface="+mn-ea"/>
              </a:rPr>
              <a:t>A</a:t>
            </a:r>
            <a:r>
              <a:rPr lang="zh-CN" altLang="en-US" sz="3600">
                <a:sym typeface="+mn-ea"/>
              </a:rPr>
              <a:t>ND指令可以操作寄存器和存储单元作为目的操作数，而立即数、寄存器和存储单元可以作为源操作数，但目的操作数和源操作数中不能同时都是存储器操作数。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AND reg, reg</a:t>
            </a:r>
          </a:p>
          <a:p>
            <a:pPr marL="0" indent="0">
              <a:buNone/>
            </a:pPr>
            <a:r>
              <a:rPr lang="en-US" altLang="zh-CN"/>
              <a:t>AND reg, mem</a:t>
            </a:r>
          </a:p>
          <a:p>
            <a:pPr marL="0" indent="0">
              <a:buNone/>
            </a:pPr>
            <a:r>
              <a:rPr lang="en-US" altLang="zh-CN"/>
              <a:t>AND reg, imm</a:t>
            </a:r>
          </a:p>
          <a:p>
            <a:pPr marL="0" indent="0">
              <a:buNone/>
            </a:pPr>
            <a:r>
              <a:rPr lang="en-US" altLang="zh-CN"/>
              <a:t>AND mem, reg</a:t>
            </a:r>
          </a:p>
          <a:p>
            <a:pPr marL="0" indent="0">
              <a:buNone/>
            </a:pPr>
            <a:r>
              <a:rPr lang="en-US" altLang="zh-CN"/>
              <a:t>AND mem, imm</a:t>
            </a:r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/>
              <a:t>AND</a:t>
            </a:r>
            <a:r>
              <a:rPr lang="zh-CN" altLang="en-US"/>
              <a:t>指令</a:t>
            </a:r>
          </a:p>
        </p:txBody>
      </p:sp>
      <p:sp>
        <p:nvSpPr>
          <p:cNvPr id="3" name="内容占位符 2"/>
          <p:cNvSpPr txBox="1"/>
          <p:nvPr/>
        </p:nvSpPr>
        <p:spPr>
          <a:xfrm>
            <a:off x="766762" y="1854200"/>
            <a:ext cx="10515600" cy="42545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3600"/>
              <a:t>常被用于清除选定位，保留其他位</a:t>
            </a:r>
            <a:r>
              <a:rPr lang="en-US" altLang="zh-CN" sz="3600"/>
              <a:t>,</a:t>
            </a:r>
            <a:r>
              <a:rPr lang="zh-CN" altLang="en-US" sz="3600">
                <a:sym typeface="+mn-ea"/>
              </a:rPr>
              <a:t>当执行AND指令时，它会设置标志位CF和OF为0，根据结果按照定义来影响标志位SF、ZF和PF。</a:t>
            </a:r>
            <a:endParaRPr lang="zh-CN" altLang="en-US" sz="3600"/>
          </a:p>
          <a:p>
            <a:pPr marL="0" indent="0">
              <a:buNone/>
            </a:pPr>
            <a:endParaRPr lang="zh-CN" altLang="en-US" sz="3600"/>
          </a:p>
          <a:p>
            <a:endParaRPr lang="en-US" altLang="zh-CN"/>
          </a:p>
          <a:p>
            <a:pPr marL="0" indent="0">
              <a:buNone/>
            </a:pP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2875" y="3977627"/>
            <a:ext cx="4346039" cy="140018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275144"/>
            <a:ext cx="4108494" cy="99535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/>
              <a:t>OR</a:t>
            </a:r>
            <a:r>
              <a:rPr lang="zh-CN" altLang="en-US"/>
              <a:t>指令</a:t>
            </a:r>
          </a:p>
        </p:txBody>
      </p:sp>
      <p:sp>
        <p:nvSpPr>
          <p:cNvPr id="3" name="内容占位符 2"/>
          <p:cNvSpPr txBox="1"/>
          <p:nvPr/>
        </p:nvSpPr>
        <p:spPr>
          <a:xfrm>
            <a:off x="766445" y="1854200"/>
            <a:ext cx="10515600" cy="509460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/>
              <a:t>按位“或” 操作，结果存放在目的操作数中</a:t>
            </a:r>
            <a:r>
              <a:rPr lang="zh-CN" altLang="en-US" sz="3600"/>
              <a:t>。</a:t>
            </a:r>
          </a:p>
          <a:p>
            <a:r>
              <a:rPr lang="en-US" altLang="zh-CN" sz="3200"/>
              <a:t>OR指令可以操作寄存器和存储单元作为目的操作数，而立即数、寄存器和存储单元可以作为源操作数，但目的操作数和源操作数中不能同时都是存储器操作数。</a:t>
            </a:r>
          </a:p>
          <a:p>
            <a:pPr marL="0" indent="0">
              <a:buNone/>
            </a:pPr>
            <a:r>
              <a:rPr lang="en-US" altLang="zh-CN"/>
              <a:t>OR reg, reg</a:t>
            </a:r>
          </a:p>
          <a:p>
            <a:pPr marL="0" indent="0">
              <a:buNone/>
            </a:pPr>
            <a:r>
              <a:rPr lang="en-US" altLang="zh-CN"/>
              <a:t>OR reg, mem</a:t>
            </a:r>
          </a:p>
          <a:p>
            <a:pPr marL="0" indent="0">
              <a:buNone/>
            </a:pPr>
            <a:r>
              <a:rPr lang="en-US" altLang="zh-CN"/>
              <a:t>OR reg, imm</a:t>
            </a:r>
          </a:p>
          <a:p>
            <a:pPr marL="0" indent="0">
              <a:buNone/>
            </a:pPr>
            <a:r>
              <a:rPr lang="en-US" altLang="zh-CN"/>
              <a:t>OR mem, reg</a:t>
            </a:r>
          </a:p>
          <a:p>
            <a:pPr marL="0" indent="0">
              <a:buNone/>
            </a:pPr>
            <a:r>
              <a:rPr lang="en-US" altLang="zh-CN"/>
              <a:t>OR mem, imm</a:t>
            </a:r>
          </a:p>
          <a:p>
            <a:pPr marL="0" indent="0">
              <a:buNone/>
            </a:pPr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/>
              <a:t>OR</a:t>
            </a:r>
            <a:r>
              <a:rPr lang="zh-CN" altLang="en-US"/>
              <a:t>指令</a:t>
            </a:r>
          </a:p>
        </p:txBody>
      </p:sp>
      <p:sp>
        <p:nvSpPr>
          <p:cNvPr id="3" name="内容占位符 2"/>
          <p:cNvSpPr txBox="1"/>
          <p:nvPr/>
        </p:nvSpPr>
        <p:spPr>
          <a:xfrm>
            <a:off x="766762" y="1854200"/>
            <a:ext cx="10515600" cy="42545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3600"/>
              <a:t>常被用于设定选定位，保留其他位。当执行OR指令时，它会设置标志位CF和OF为0</a:t>
            </a:r>
          </a:p>
          <a:p>
            <a:endParaRPr lang="en-US" altLang="zh-CN"/>
          </a:p>
          <a:p>
            <a:pPr marL="0" indent="0">
              <a:buNone/>
            </a:pPr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445" y="3429182"/>
            <a:ext cx="5264230" cy="168670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551113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MOV  EAX, 35H</a:t>
            </a:r>
          </a:p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AND  EAX, 53H</a:t>
            </a:r>
          </a:p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OR     EAX, 35H</a:t>
            </a:r>
          </a:p>
          <a:p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                              的结果？</a:t>
            </a:r>
          </a:p>
        </p:txBody>
      </p:sp>
      <p:sp>
        <p:nvSpPr>
          <p:cNvPr id="5" name="圆角矩形 4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</a:p>
        </p:txBody>
      </p:sp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1219200" y="635000"/>
            <a:ext cx="9753600" cy="487680"/>
          </a:xfrm>
          <a:prstGeom prst="rect">
            <a:avLst/>
          </a:prstGeom>
          <a:solidFill>
            <a:srgbClr val="FBFAEF">
              <a:alpha val="90000"/>
            </a:srgbClr>
          </a:solidFill>
        </p:spPr>
        <p:txBody>
          <a:bodyPr vert="horz" wrap="none" rtlCol="0" anchor="ctr" anchorCtr="1">
            <a:noAutofit/>
          </a:bodyPr>
          <a:lstStyle/>
          <a:p>
            <a:r>
              <a:rPr lang="zh-CN" altLang="en-US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此题未设置答案，请点击右侧设置按钮</a:t>
            </a:r>
          </a:p>
        </p:txBody>
      </p:sp>
      <p:grpSp>
        <p:nvGrpSpPr>
          <p:cNvPr id="10" name="组合 9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6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填空题</a:t>
              </a:r>
            </a:p>
          </p:txBody>
        </p:sp>
        <p:sp>
          <p:nvSpPr>
            <p:cNvPr id="9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0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/>
          <p:cNvPicPr/>
          <p:nvPr>
            <p:custDataLst>
              <p:tags r:id="rId6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/>
              <a:t>XOR</a:t>
            </a:r>
            <a:r>
              <a:rPr lang="zh-CN" altLang="en-US"/>
              <a:t>指令</a:t>
            </a:r>
          </a:p>
        </p:txBody>
      </p:sp>
      <p:sp>
        <p:nvSpPr>
          <p:cNvPr id="3" name="内容占位符 2"/>
          <p:cNvSpPr txBox="1"/>
          <p:nvPr/>
        </p:nvSpPr>
        <p:spPr>
          <a:xfrm>
            <a:off x="766762" y="1854200"/>
            <a:ext cx="10515600" cy="42545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3600"/>
              <a:t>按位“异或” 操作，结果存放在目的操作数中。</a:t>
            </a:r>
            <a:endParaRPr lang="en-US" altLang="zh-CN" sz="3600"/>
          </a:p>
          <a:p>
            <a:pPr lvl="1">
              <a:lnSpc>
                <a:spcPct val="150000"/>
              </a:lnSpc>
            </a:pPr>
            <a:r>
              <a:rPr lang="zh-CN" altLang="en-US" sz="3200"/>
              <a:t>如果位相同，结果为</a:t>
            </a:r>
            <a:r>
              <a:rPr lang="en-US" altLang="zh-CN" sz="3200"/>
              <a:t>0</a:t>
            </a:r>
            <a:r>
              <a:rPr lang="zh-CN" altLang="en-US" sz="3200"/>
              <a:t>；否则为</a:t>
            </a:r>
            <a:r>
              <a:rPr lang="en-US" altLang="zh-CN" sz="3200"/>
              <a:t>1</a:t>
            </a:r>
            <a:r>
              <a:rPr lang="zh-CN" altLang="en-US" sz="3200"/>
              <a:t>。</a:t>
            </a:r>
            <a:endParaRPr lang="en-US" altLang="zh-CN" sz="3200"/>
          </a:p>
          <a:p>
            <a:pPr lvl="1">
              <a:lnSpc>
                <a:spcPct val="150000"/>
              </a:lnSpc>
            </a:pPr>
            <a:r>
              <a:rPr lang="zh-CN" altLang="en-US" sz="3200"/>
              <a:t>与同样操作数执行两次</a:t>
            </a:r>
            <a:r>
              <a:rPr lang="en-US" altLang="zh-CN" sz="3200"/>
              <a:t>XOR</a:t>
            </a:r>
            <a:r>
              <a:rPr lang="zh-CN" altLang="en-US" sz="3200"/>
              <a:t>运算后，其值保持不变。</a:t>
            </a:r>
            <a:endParaRPr lang="en-US" altLang="zh-CN" sz="3200"/>
          </a:p>
          <a:p>
            <a:pPr lvl="1">
              <a:lnSpc>
                <a:spcPct val="150000"/>
              </a:lnSpc>
            </a:pPr>
            <a:r>
              <a:rPr lang="zh-CN" altLang="en-US" sz="3200"/>
              <a:t>用于检查奇偶标志</a:t>
            </a:r>
          </a:p>
          <a:p>
            <a:pPr lvl="1">
              <a:lnSpc>
                <a:spcPct val="150000"/>
              </a:lnSpc>
            </a:pPr>
            <a:endParaRPr lang="en-US" altLang="zh-CN" sz="3200"/>
          </a:p>
          <a:p>
            <a:pPr lvl="1"/>
            <a:endParaRPr lang="en-US" altLang="zh-CN" sz="3200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endParaRPr lang="en-US" altLang="zh-CN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/>
              <a:t>NOT</a:t>
            </a:r>
            <a:r>
              <a:rPr lang="zh-CN" altLang="en-US"/>
              <a:t>指令</a:t>
            </a:r>
          </a:p>
        </p:txBody>
      </p:sp>
      <p:sp>
        <p:nvSpPr>
          <p:cNvPr id="3" name="内容占位符 2"/>
          <p:cNvSpPr txBox="1"/>
          <p:nvPr/>
        </p:nvSpPr>
        <p:spPr>
          <a:xfrm>
            <a:off x="766762" y="1854200"/>
            <a:ext cx="10515600" cy="42545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3600"/>
              <a:t>单操作数，按位“取反” 操作，结果存放在该操作数中。</a:t>
            </a:r>
            <a:endParaRPr lang="en-US" altLang="zh-CN" sz="360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3600"/>
              <a:t>NOT reg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3600"/>
              <a:t>NOT mem</a:t>
            </a:r>
          </a:p>
          <a:p>
            <a:pPr lvl="1"/>
            <a:endParaRPr lang="en-US" altLang="zh-CN" sz="3200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endParaRPr lang="en-US" altLang="zh-CN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551113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MOV  EAX, 35H</a:t>
            </a:r>
          </a:p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XOR  EAX, 53H</a:t>
            </a:r>
          </a:p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NOT   EAX, 35H</a:t>
            </a:r>
          </a:p>
          <a:p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                              的结果？</a:t>
            </a:r>
          </a:p>
        </p:txBody>
      </p:sp>
      <p:sp>
        <p:nvSpPr>
          <p:cNvPr id="5" name="圆角矩形 4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</a:p>
        </p:txBody>
      </p:sp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1219200" y="635000"/>
            <a:ext cx="9753600" cy="487680"/>
          </a:xfrm>
          <a:prstGeom prst="rect">
            <a:avLst/>
          </a:prstGeom>
          <a:solidFill>
            <a:srgbClr val="FBFAEF">
              <a:alpha val="90000"/>
            </a:srgbClr>
          </a:solidFill>
        </p:spPr>
        <p:txBody>
          <a:bodyPr vert="horz" wrap="none" rtlCol="0" anchor="ctr" anchorCtr="1">
            <a:noAutofit/>
          </a:bodyPr>
          <a:lstStyle/>
          <a:p>
            <a:r>
              <a:rPr lang="zh-CN" altLang="en-US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此题未设置答案，请点击右侧设置按钮</a:t>
            </a:r>
          </a:p>
        </p:txBody>
      </p:sp>
      <p:grpSp>
        <p:nvGrpSpPr>
          <p:cNvPr id="10" name="组合 9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6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填空题</a:t>
              </a:r>
            </a:p>
          </p:txBody>
        </p:sp>
        <p:sp>
          <p:nvSpPr>
            <p:cNvPr id="9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0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/>
          <p:cNvPicPr/>
          <p:nvPr>
            <p:custDataLst>
              <p:tags r:id="rId6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3100" y="631828"/>
            <a:ext cx="10515600" cy="784224"/>
          </a:xfrm>
        </p:spPr>
        <p:txBody>
          <a:bodyPr/>
          <a:lstStyle/>
          <a:p>
            <a:pPr algn="l"/>
            <a:r>
              <a:rPr lang="en-US" altLang="zh-CN"/>
              <a:t>TEST</a:t>
            </a:r>
            <a:r>
              <a:rPr lang="zh-CN" altLang="en-US"/>
              <a:t>指令</a:t>
            </a:r>
          </a:p>
        </p:txBody>
      </p:sp>
      <p:sp>
        <p:nvSpPr>
          <p:cNvPr id="3" name="内容占位符 2"/>
          <p:cNvSpPr txBox="1"/>
          <p:nvPr/>
        </p:nvSpPr>
        <p:spPr>
          <a:xfrm>
            <a:off x="766762" y="1600200"/>
            <a:ext cx="10515600" cy="45085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3600"/>
              <a:t>按位“与” 操作，但结果不会存放在目的操作数中（与</a:t>
            </a:r>
            <a:r>
              <a:rPr lang="en-US" altLang="zh-CN" sz="3600"/>
              <a:t>AND</a:t>
            </a:r>
            <a:r>
              <a:rPr lang="zh-CN" altLang="en-US" sz="3600"/>
              <a:t>的区别），只会设置相应的标志位。</a:t>
            </a:r>
            <a:endParaRPr lang="en-US" altLang="zh-CN" sz="3600"/>
          </a:p>
          <a:p>
            <a:pPr lvl="1">
              <a:lnSpc>
                <a:spcPct val="150000"/>
              </a:lnSpc>
            </a:pPr>
            <a:r>
              <a:rPr lang="zh-CN" altLang="en-US" sz="3200"/>
              <a:t>检查某些位是否为</a:t>
            </a:r>
            <a:r>
              <a:rPr lang="en-US" altLang="zh-CN" sz="3200"/>
              <a:t>1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6520" y="4244163"/>
            <a:ext cx="5145650" cy="243049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CMP</a:t>
            </a:r>
            <a:r>
              <a:rPr lang="zh-CN" altLang="en-US" dirty="0"/>
              <a:t>指令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CMP</a:t>
            </a:r>
            <a:r>
              <a:rPr lang="zh-CN" altLang="en-US" dirty="0"/>
              <a:t>指令，比较目的操作数和源操作数</a:t>
            </a:r>
            <a:endParaRPr lang="en-US" altLang="zh-CN" dirty="0"/>
          </a:p>
          <a:p>
            <a:pPr lvl="1"/>
            <a:r>
              <a:rPr lang="en-US" altLang="zh-CN" dirty="0"/>
              <a:t>CMP reg</a:t>
            </a:r>
            <a:r>
              <a:rPr lang="zh-CN" altLang="en-US" dirty="0"/>
              <a:t>，</a:t>
            </a:r>
            <a:r>
              <a:rPr lang="en-US" altLang="zh-CN" dirty="0"/>
              <a:t>reg</a:t>
            </a:r>
          </a:p>
          <a:p>
            <a:pPr lvl="1"/>
            <a:r>
              <a:rPr lang="en-US" altLang="zh-CN" dirty="0"/>
              <a:t>CMP reg</a:t>
            </a:r>
            <a:r>
              <a:rPr lang="zh-CN" altLang="en-US" dirty="0"/>
              <a:t>，</a:t>
            </a:r>
            <a:r>
              <a:rPr lang="en-US" altLang="zh-CN" dirty="0" err="1"/>
              <a:t>imm</a:t>
            </a:r>
            <a:endParaRPr lang="en-US" altLang="zh-CN" dirty="0"/>
          </a:p>
          <a:p>
            <a:pPr lvl="1"/>
            <a:r>
              <a:rPr lang="en-US" altLang="zh-CN" dirty="0"/>
              <a:t>CMP mem</a:t>
            </a:r>
            <a:r>
              <a:rPr lang="zh-CN" altLang="en-US" dirty="0"/>
              <a:t>，</a:t>
            </a:r>
            <a:r>
              <a:rPr lang="en-US" altLang="zh-CN" dirty="0"/>
              <a:t>reg</a:t>
            </a:r>
          </a:p>
          <a:p>
            <a:pPr lvl="1"/>
            <a:r>
              <a:rPr lang="en-US" altLang="zh-CN" dirty="0"/>
              <a:t>CMP mem</a:t>
            </a:r>
            <a:r>
              <a:rPr lang="zh-CN" altLang="en-US" dirty="0"/>
              <a:t>，</a:t>
            </a:r>
            <a:r>
              <a:rPr lang="en-US" altLang="zh-CN" dirty="0" err="1"/>
              <a:t>imm</a:t>
            </a:r>
            <a:endParaRPr lang="en-US" altLang="zh-CN" dirty="0"/>
          </a:p>
          <a:p>
            <a:pPr lvl="1"/>
            <a:r>
              <a:rPr lang="en-US" altLang="zh-CN" dirty="0"/>
              <a:t>CMP reg</a:t>
            </a:r>
            <a:r>
              <a:rPr lang="zh-CN" altLang="en-US" dirty="0"/>
              <a:t>，</a:t>
            </a:r>
            <a:r>
              <a:rPr lang="en-US" altLang="zh-CN" dirty="0"/>
              <a:t>mem</a:t>
            </a:r>
            <a:endParaRPr lang="zh-CN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CMP</a:t>
            </a:r>
            <a:r>
              <a:rPr lang="zh-CN" altLang="en-US" dirty="0"/>
              <a:t>指令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执行从源操作数中</a:t>
            </a:r>
            <a:r>
              <a:rPr lang="zh-CN" altLang="en-US" dirty="0">
                <a:highlight>
                  <a:srgbClr val="FFFF00"/>
                </a:highlight>
              </a:rPr>
              <a:t>减</a:t>
            </a:r>
            <a:r>
              <a:rPr lang="zh-CN" altLang="en-US" dirty="0"/>
              <a:t>掉目的操作数的减法操作</a:t>
            </a:r>
            <a:endParaRPr lang="en-US" altLang="zh-CN" dirty="0"/>
          </a:p>
          <a:p>
            <a:pPr lvl="1"/>
            <a:r>
              <a:rPr lang="zh-CN" altLang="en-US" dirty="0"/>
              <a:t>用于条件跳转指令的条件判断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不改变目的操作数和源操作数</a:t>
            </a:r>
            <a:r>
              <a:rPr lang="zh-CN" altLang="en-US" dirty="0"/>
              <a:t>，只影响</a:t>
            </a:r>
            <a:r>
              <a:rPr lang="en-US" altLang="zh-CN" dirty="0" err="1"/>
              <a:t>eflags</a:t>
            </a:r>
            <a:r>
              <a:rPr lang="zh-CN" altLang="en-US" dirty="0"/>
              <a:t>的标志位</a:t>
            </a:r>
            <a:endParaRPr lang="en-US" altLang="zh-CN" dirty="0"/>
          </a:p>
          <a:p>
            <a:r>
              <a:rPr lang="zh-CN" altLang="en-US" dirty="0"/>
              <a:t>设置相应的标志位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标志位：</a:t>
            </a:r>
            <a:r>
              <a:rPr lang="en-US" altLang="zh-CN" dirty="0">
                <a:solidFill>
                  <a:srgbClr val="FF0000"/>
                </a:solidFill>
              </a:rPr>
              <a:t>OF</a:t>
            </a:r>
            <a:r>
              <a:rPr lang="zh-CN" altLang="en-US" dirty="0">
                <a:solidFill>
                  <a:srgbClr val="FF0000"/>
                </a:solidFill>
              </a:rPr>
              <a:t>、</a:t>
            </a:r>
            <a:r>
              <a:rPr lang="en-US" altLang="zh-CN" dirty="0">
                <a:solidFill>
                  <a:srgbClr val="FF0000"/>
                </a:solidFill>
              </a:rPr>
              <a:t>SF</a:t>
            </a:r>
            <a:r>
              <a:rPr lang="zh-CN" altLang="en-US" dirty="0">
                <a:solidFill>
                  <a:srgbClr val="FF0000"/>
                </a:solidFill>
              </a:rPr>
              <a:t>、</a:t>
            </a:r>
            <a:r>
              <a:rPr lang="en-US" altLang="zh-CN" dirty="0">
                <a:solidFill>
                  <a:srgbClr val="FF0000"/>
                </a:solidFill>
              </a:rPr>
              <a:t>ZF</a:t>
            </a:r>
            <a:r>
              <a:rPr lang="zh-CN" altLang="en-US" dirty="0">
                <a:solidFill>
                  <a:srgbClr val="FF0000"/>
                </a:solidFill>
              </a:rPr>
              <a:t>、</a:t>
            </a:r>
            <a:r>
              <a:rPr lang="en-US" altLang="zh-CN" dirty="0">
                <a:solidFill>
                  <a:srgbClr val="FF0000"/>
                </a:solidFill>
              </a:rPr>
              <a:t>AF</a:t>
            </a:r>
            <a:r>
              <a:rPr lang="zh-CN" altLang="en-US" dirty="0">
                <a:solidFill>
                  <a:srgbClr val="FF0000"/>
                </a:solidFill>
              </a:rPr>
              <a:t>、</a:t>
            </a:r>
            <a:r>
              <a:rPr lang="en-US" altLang="zh-CN" dirty="0">
                <a:solidFill>
                  <a:srgbClr val="FF0000"/>
                </a:solidFill>
              </a:rPr>
              <a:t>PF</a:t>
            </a:r>
            <a:r>
              <a:rPr lang="zh-CN" altLang="en-US" dirty="0">
                <a:solidFill>
                  <a:srgbClr val="FF0000"/>
                </a:solidFill>
              </a:rPr>
              <a:t>、</a:t>
            </a:r>
            <a:r>
              <a:rPr lang="en-US" altLang="zh-CN" dirty="0">
                <a:solidFill>
                  <a:srgbClr val="FF0000"/>
                </a:solidFill>
              </a:rPr>
              <a:t>CF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25663" y="848315"/>
            <a:ext cx="7940675" cy="5387022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sz="2800" dirty="0"/>
              <a:t>    MOV EAX</a:t>
            </a:r>
            <a:r>
              <a:rPr lang="zh-CN" altLang="en-US" sz="2800" dirty="0"/>
              <a:t>，</a:t>
            </a:r>
            <a:r>
              <a:rPr lang="en-US" altLang="zh-CN" sz="2800" dirty="0"/>
              <a:t>100h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800" dirty="0"/>
              <a:t>    MOV EBX,  200h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800" dirty="0"/>
              <a:t>    </a:t>
            </a:r>
            <a:r>
              <a:rPr lang="en-US" altLang="zh-CN" sz="2800" dirty="0">
                <a:solidFill>
                  <a:srgbClr val="FF0000"/>
                </a:solidFill>
              </a:rPr>
              <a:t>CMP EAX, EBX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800" dirty="0"/>
              <a:t>    JA L1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800" dirty="0"/>
              <a:t>    INVOKE </a:t>
            </a:r>
            <a:r>
              <a:rPr lang="en-US" altLang="zh-CN" sz="2800" dirty="0" err="1"/>
              <a:t>StdOut</a:t>
            </a:r>
            <a:r>
              <a:rPr lang="zh-CN" altLang="en-US" sz="2800" dirty="0"/>
              <a:t>， </a:t>
            </a:r>
            <a:r>
              <a:rPr lang="en-US" altLang="zh-CN" sz="2800" dirty="0"/>
              <a:t>ADDR str1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800" dirty="0"/>
              <a:t>    </a:t>
            </a:r>
            <a:r>
              <a:rPr lang="en-US" altLang="zh-CN" sz="2800" dirty="0">
                <a:solidFill>
                  <a:srgbClr val="FF0000"/>
                </a:solidFill>
              </a:rPr>
              <a:t>JMP L2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800" dirty="0"/>
              <a:t>L1</a:t>
            </a:r>
            <a:r>
              <a:rPr lang="zh-CN" altLang="en-US" sz="2800" dirty="0"/>
              <a:t>：</a:t>
            </a:r>
            <a:endParaRPr lang="en-US" altLang="zh-CN" sz="28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800" dirty="0"/>
              <a:t>    INVOKE </a:t>
            </a:r>
            <a:r>
              <a:rPr lang="en-US" altLang="zh-CN" sz="2800" dirty="0" err="1"/>
              <a:t>StdOut</a:t>
            </a:r>
            <a:r>
              <a:rPr lang="zh-CN" altLang="en-US" sz="2800" dirty="0"/>
              <a:t>，</a:t>
            </a:r>
            <a:r>
              <a:rPr lang="en-US" altLang="zh-CN" sz="2800" dirty="0"/>
              <a:t>ADDR str2 </a:t>
            </a:r>
            <a:r>
              <a:rPr lang="en-US" altLang="zh-CN" dirty="0"/>
              <a:t>;</a:t>
            </a:r>
            <a:r>
              <a:rPr lang="zh-CN" altLang="en-US" dirty="0"/>
              <a:t> </a:t>
            </a:r>
            <a:endParaRPr lang="en-US" altLang="zh-CN" sz="28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800" dirty="0"/>
              <a:t>L2</a:t>
            </a:r>
            <a:r>
              <a:rPr lang="zh-CN" altLang="en-US" sz="2800" dirty="0"/>
              <a:t>：</a:t>
            </a:r>
            <a:endParaRPr lang="en-US" altLang="zh-CN" sz="28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800" dirty="0"/>
              <a:t>    INVOKE </a:t>
            </a:r>
            <a:r>
              <a:rPr lang="en-US" altLang="zh-CN" sz="2800" dirty="0" err="1"/>
              <a:t>ExitProcess</a:t>
            </a:r>
            <a:r>
              <a:rPr lang="zh-CN" altLang="en-US" sz="2800" dirty="0"/>
              <a:t>，</a:t>
            </a:r>
            <a:r>
              <a:rPr lang="en-US" altLang="zh-CN" sz="2800" dirty="0"/>
              <a:t>0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设置标志位技巧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3200"/>
              <a:t>设置和清除零标志位</a:t>
            </a:r>
            <a:r>
              <a:rPr lang="en-US" altLang="zh-CN" sz="3200"/>
              <a:t>ZF</a:t>
            </a:r>
          </a:p>
          <a:p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509" y="3083710"/>
            <a:ext cx="9540981" cy="1835167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设置符号标志技巧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3200"/>
              <a:t>设置和清除符号标志位</a:t>
            </a:r>
            <a:r>
              <a:rPr lang="en-US" altLang="zh-CN" sz="3200"/>
              <a:t>SF</a:t>
            </a:r>
          </a:p>
          <a:p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818" y="3286112"/>
            <a:ext cx="9076364" cy="1247787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设置进位标志技巧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3200"/>
              <a:t>设置和清除进位标志位</a:t>
            </a:r>
            <a:r>
              <a:rPr lang="en-US" altLang="zh-CN" sz="3200"/>
              <a:t>CF</a:t>
            </a:r>
          </a:p>
          <a:p>
            <a:endParaRPr lang="en-US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1905000" y="3429000"/>
            <a:ext cx="383027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/>
              <a:t>STC     ;</a:t>
            </a:r>
            <a:r>
              <a:rPr lang="zh-CN" altLang="en-US" sz="3200"/>
              <a:t>设置进位标志</a:t>
            </a:r>
            <a:endParaRPr lang="en-US" altLang="zh-CN" sz="3200"/>
          </a:p>
          <a:p>
            <a:r>
              <a:rPr lang="en-US" altLang="zh-CN" sz="3200"/>
              <a:t>   </a:t>
            </a:r>
          </a:p>
          <a:p>
            <a:r>
              <a:rPr lang="en-US" altLang="zh-CN" sz="3200"/>
              <a:t>CLC     ;</a:t>
            </a:r>
            <a:r>
              <a:rPr lang="zh-CN" altLang="en-US" sz="3200"/>
              <a:t>清除进位标志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设置溢出标志技巧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3200"/>
              <a:t>设置和清除溢出标志位</a:t>
            </a:r>
            <a:r>
              <a:rPr lang="en-US" altLang="zh-CN" sz="3200"/>
              <a:t>OF</a:t>
            </a:r>
          </a:p>
          <a:p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238483"/>
            <a:ext cx="10440536" cy="1422417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条件跳转指令</a:t>
            </a:r>
            <a:r>
              <a:rPr lang="en-US" altLang="zh-CN" dirty="0"/>
              <a:t>Conditional Jump</a:t>
            </a:r>
            <a:endParaRPr lang="zh-CN" altLang="en-US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</p:nvPr>
        </p:nvGraphicFramePr>
        <p:xfrm>
          <a:off x="2166397" y="3272953"/>
          <a:ext cx="7859205" cy="2631440"/>
        </p:xfrm>
        <a:graphic>
          <a:graphicData uri="http://schemas.openxmlformats.org/drawingml/2006/table">
            <a:tbl>
              <a:tblPr/>
              <a:tblGrid>
                <a:gridCol w="14270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23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19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en-US" b="1" dirty="0">
                          <a:solidFill>
                            <a:srgbClr val="7030A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Instruction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b="1" dirty="0">
                          <a:solidFill>
                            <a:srgbClr val="7030A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b="1" dirty="0">
                          <a:solidFill>
                            <a:srgbClr val="7030A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Flags tested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JE/JZ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Jump Equal or Jump Zero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ZF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JNE/JNZ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Jump not Equal or Jump Not Zero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ZF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JG/JNLE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Jump Greater or Jump Not Less/Equal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OF, SF, ZF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JGE/JNL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Jump Greater/Equal or Jump Not Less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OF, SF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JL/JNGE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Jump Less or Jump Not Greater/Equal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OF, SF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JLE/JNG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Jump Less/Equal or Jump Not Greater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OF, SF, ZF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3048000" y="262662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有符号数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的条件跳转指令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Conditional jump instructions used on signed data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内容占位符 2"/>
          <p:cNvSpPr txBox="1"/>
          <p:nvPr/>
        </p:nvSpPr>
        <p:spPr>
          <a:xfrm>
            <a:off x="838200" y="1825625"/>
            <a:ext cx="10515600" cy="815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/>
              <a:t>条件指令</a:t>
            </a:r>
            <a:r>
              <a:rPr lang="en-US" altLang="zh-CN" sz="2400" dirty="0"/>
              <a:t>j&lt;condition&gt;</a:t>
            </a:r>
            <a:r>
              <a:rPr lang="zh-CN" altLang="en-US" sz="2400" dirty="0"/>
              <a:t>，通过条件判断来修改</a:t>
            </a:r>
            <a:r>
              <a:rPr lang="en-US" altLang="zh-CN" sz="2400" dirty="0"/>
              <a:t>CPU</a:t>
            </a:r>
            <a:r>
              <a:rPr lang="zh-CN" altLang="en-US" sz="2400" dirty="0"/>
              <a:t>控制流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条件跳转指令 </a:t>
            </a:r>
            <a:r>
              <a:rPr lang="en-US" altLang="zh-CN" dirty="0"/>
              <a:t>Conditional Jump</a:t>
            </a:r>
            <a:endParaRPr lang="zh-CN" altLang="en-US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</p:nvPr>
        </p:nvGraphicFramePr>
        <p:xfrm>
          <a:off x="2166397" y="2830391"/>
          <a:ext cx="7859205" cy="2631440"/>
        </p:xfrm>
        <a:graphic>
          <a:graphicData uri="http://schemas.openxmlformats.org/drawingml/2006/table">
            <a:tbl>
              <a:tblPr/>
              <a:tblGrid>
                <a:gridCol w="15263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30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19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en-US" b="1">
                          <a:solidFill>
                            <a:srgbClr val="7030A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Instruction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b="1" dirty="0">
                          <a:solidFill>
                            <a:srgbClr val="7030A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b="1" dirty="0">
                          <a:solidFill>
                            <a:srgbClr val="7030A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Flags tested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JE/JZ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Jump Equal or Jump Zero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ZF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JNE/JNZ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Jump not Equal or Jump Not Zero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ZF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JA/JNBE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Jump Above or Jump Not Below/Equal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CF, ZF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JAE/JNB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Jump Above/Equal or Jump Not Below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CF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JB/JNAE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Jump Below or Jump Not Above/Equal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CF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JBE/JNA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Jump Below/Equal or Jump Not Above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AF, CF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3047999" y="20983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无符号数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的条件跳转指令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Conditional jump instructions used on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unsigned data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条件跳转指令 </a:t>
            </a:r>
            <a:r>
              <a:rPr lang="en-US" altLang="zh-CN" dirty="0"/>
              <a:t>Conditional Jump</a:t>
            </a:r>
            <a:endParaRPr lang="zh-CN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2712350" y="3067538"/>
          <a:ext cx="6415608" cy="3604860"/>
        </p:xfrm>
        <a:graphic>
          <a:graphicData uri="http://schemas.openxmlformats.org/drawingml/2006/table">
            <a:tbl>
              <a:tblPr/>
              <a:tblGrid>
                <a:gridCol w="14575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53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27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6400"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US" sz="1800" b="1" kern="1200" dirty="0">
                          <a:solidFill>
                            <a:srgbClr val="7030A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Instruction</a:t>
                      </a:r>
                    </a:p>
                  </a:txBody>
                  <a:tcPr marL="43083" marR="43083" marT="43083" marB="430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US" sz="1800" b="1" kern="1200" dirty="0">
                          <a:solidFill>
                            <a:srgbClr val="7030A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43083" marR="43083" marT="43083" marB="430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US" sz="1800" b="1" kern="1200" dirty="0">
                          <a:solidFill>
                            <a:srgbClr val="7030A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Flags tested</a:t>
                      </a:r>
                    </a:p>
                  </a:txBody>
                  <a:tcPr marL="43083" marR="43083" marT="43083" marB="430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400"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US" sz="18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JXCZ</a:t>
                      </a:r>
                    </a:p>
                  </a:txBody>
                  <a:tcPr marL="43083" marR="43083" marT="43083" marB="430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Jump if CX is Zero</a:t>
                      </a:r>
                    </a:p>
                  </a:txBody>
                  <a:tcPr marL="43083" marR="43083" marT="43083" marB="430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none</a:t>
                      </a:r>
                    </a:p>
                  </a:txBody>
                  <a:tcPr marL="43083" marR="43083" marT="43083" marB="430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400"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US" sz="18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JC</a:t>
                      </a:r>
                    </a:p>
                  </a:txBody>
                  <a:tcPr marL="43083" marR="43083" marT="43083" marB="430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Jump If Carry</a:t>
                      </a:r>
                    </a:p>
                  </a:txBody>
                  <a:tcPr marL="43083" marR="43083" marT="43083" marB="430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US" sz="18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CF</a:t>
                      </a:r>
                    </a:p>
                  </a:txBody>
                  <a:tcPr marL="43083" marR="43083" marT="43083" marB="430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400"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US" sz="18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JNC</a:t>
                      </a:r>
                    </a:p>
                  </a:txBody>
                  <a:tcPr marL="43083" marR="43083" marT="43083" marB="430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Jump If No Carry</a:t>
                      </a:r>
                    </a:p>
                  </a:txBody>
                  <a:tcPr marL="43083" marR="43083" marT="43083" marB="430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US" sz="18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CF</a:t>
                      </a:r>
                    </a:p>
                  </a:txBody>
                  <a:tcPr marL="43083" marR="43083" marT="43083" marB="430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400"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US" sz="18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JO</a:t>
                      </a:r>
                    </a:p>
                  </a:txBody>
                  <a:tcPr marL="43083" marR="43083" marT="43083" marB="430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Jump If Overflow</a:t>
                      </a:r>
                    </a:p>
                  </a:txBody>
                  <a:tcPr marL="43083" marR="43083" marT="43083" marB="430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US" sz="18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OF</a:t>
                      </a:r>
                    </a:p>
                  </a:txBody>
                  <a:tcPr marL="43083" marR="43083" marT="43083" marB="430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400"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US" sz="18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JNO</a:t>
                      </a:r>
                    </a:p>
                  </a:txBody>
                  <a:tcPr marL="43083" marR="43083" marT="43083" marB="430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Jump If No Overflow</a:t>
                      </a:r>
                    </a:p>
                  </a:txBody>
                  <a:tcPr marL="43083" marR="43083" marT="43083" marB="430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US" sz="18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OF</a:t>
                      </a:r>
                    </a:p>
                  </a:txBody>
                  <a:tcPr marL="43083" marR="43083" marT="43083" marB="430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400"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US" sz="18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JP/JPE</a:t>
                      </a:r>
                    </a:p>
                  </a:txBody>
                  <a:tcPr marL="43083" marR="43083" marT="43083" marB="430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Jump Parity or Jump Parity Even</a:t>
                      </a:r>
                    </a:p>
                  </a:txBody>
                  <a:tcPr marL="43083" marR="43083" marT="43083" marB="430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US" sz="18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PF</a:t>
                      </a:r>
                    </a:p>
                  </a:txBody>
                  <a:tcPr marL="43083" marR="43083" marT="43083" marB="430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6400"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US" sz="18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JNP/JPO</a:t>
                      </a:r>
                    </a:p>
                  </a:txBody>
                  <a:tcPr marL="43083" marR="43083" marT="43083" marB="430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Jump No Parity or Jump Parity Odd</a:t>
                      </a:r>
                    </a:p>
                  </a:txBody>
                  <a:tcPr marL="43083" marR="43083" marT="43083" marB="430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US" sz="18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PF</a:t>
                      </a:r>
                    </a:p>
                  </a:txBody>
                  <a:tcPr marL="43083" marR="43083" marT="43083" marB="430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6400"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US" sz="18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JS</a:t>
                      </a:r>
                    </a:p>
                  </a:txBody>
                  <a:tcPr marL="43083" marR="43083" marT="43083" marB="430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US" sz="18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Jump Sign (negative value)</a:t>
                      </a:r>
                    </a:p>
                  </a:txBody>
                  <a:tcPr marL="43083" marR="43083" marT="43083" marB="430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US" sz="18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SF</a:t>
                      </a:r>
                    </a:p>
                  </a:txBody>
                  <a:tcPr marL="43083" marR="43083" marT="43083" marB="430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6400"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US" sz="18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JNS</a:t>
                      </a:r>
                    </a:p>
                  </a:txBody>
                  <a:tcPr marL="43083" marR="43083" marT="43083" marB="430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US" sz="18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Jump No Sign (positive value)</a:t>
                      </a:r>
                    </a:p>
                  </a:txBody>
                  <a:tcPr marL="43083" marR="43083" marT="43083" marB="430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SF</a:t>
                      </a:r>
                    </a:p>
                  </a:txBody>
                  <a:tcPr marL="43083" marR="43083" marT="43083" marB="430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2276436" y="2375096"/>
            <a:ext cx="72874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标志位和特殊用途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的条件跳转指令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conditional jump instructions have special uses and check the value of flags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如何进行跳转条件的判断？</a:t>
            </a:r>
          </a:p>
        </p:txBody>
      </p:sp>
      <p:sp>
        <p:nvSpPr>
          <p:cNvPr id="7" name="矩形: 圆角 6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</a:p>
        </p:txBody>
      </p:sp>
      <p:grpSp>
        <p:nvGrpSpPr>
          <p:cNvPr id="12" name="组合 11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8" name="TitleBackground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ColorBlock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TypeText"/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主观题</a:t>
              </a:r>
            </a:p>
          </p:txBody>
        </p:sp>
        <p:sp>
          <p:nvSpPr>
            <p:cNvPr id="11" name="TipText"/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/>
          <p:cNvPicPr/>
          <p:nvPr>
            <p:custDataLst>
              <p:tags r:id="rId5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LOOP</a:t>
            </a:r>
            <a:r>
              <a:rPr lang="zh-CN" altLang="en-US" dirty="0"/>
              <a:t>指令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25663" y="1784351"/>
            <a:ext cx="7940675" cy="4092575"/>
          </a:xfrm>
        </p:spPr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</a:rPr>
              <a:t>LOOP</a:t>
            </a:r>
            <a:r>
              <a:rPr lang="en-US" altLang="zh-CN" dirty="0"/>
              <a:t> </a:t>
            </a:r>
            <a:r>
              <a:rPr lang="zh-CN" altLang="en-US" dirty="0">
                <a:solidFill>
                  <a:srgbClr val="0070C0"/>
                </a:solidFill>
              </a:rPr>
              <a:t>目的地址</a:t>
            </a:r>
            <a:endParaRPr lang="en-US" altLang="zh-CN" dirty="0">
              <a:solidFill>
                <a:srgbClr val="0070C0"/>
              </a:solidFill>
            </a:endParaRPr>
          </a:p>
          <a:p>
            <a:r>
              <a:rPr lang="en-US" altLang="zh-CN" dirty="0"/>
              <a:t>LOOP</a:t>
            </a:r>
            <a:r>
              <a:rPr lang="zh-CN" altLang="en-US" dirty="0"/>
              <a:t>指令可以指定循环执行的次数 （</a:t>
            </a:r>
            <a:r>
              <a:rPr lang="en-US" altLang="zh-CN" dirty="0"/>
              <a:t>loop count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ECX</a:t>
            </a:r>
            <a:r>
              <a:rPr lang="zh-CN" altLang="en-US" dirty="0"/>
              <a:t>寄存器作为循环计数器</a:t>
            </a:r>
            <a:endParaRPr lang="en-US" altLang="zh-CN" dirty="0"/>
          </a:p>
          <a:p>
            <a:pPr lvl="1"/>
            <a:r>
              <a:rPr lang="en-US" altLang="zh-CN" dirty="0"/>
              <a:t>LOOP</a:t>
            </a:r>
            <a:r>
              <a:rPr lang="zh-CN" altLang="en-US" dirty="0"/>
              <a:t>指令执行时，</a:t>
            </a:r>
            <a:r>
              <a:rPr lang="en-US" altLang="zh-CN" dirty="0"/>
              <a:t>ECX</a:t>
            </a:r>
            <a:r>
              <a:rPr lang="zh-CN" altLang="en-US" dirty="0"/>
              <a:t>减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如果</a:t>
            </a:r>
            <a:r>
              <a:rPr lang="en-US" altLang="zh-CN" dirty="0">
                <a:solidFill>
                  <a:srgbClr val="0070C0"/>
                </a:solidFill>
              </a:rPr>
              <a:t>ECX</a:t>
            </a:r>
            <a:r>
              <a:rPr lang="zh-CN" altLang="en-US" dirty="0">
                <a:solidFill>
                  <a:srgbClr val="FF0000"/>
                </a:solidFill>
              </a:rPr>
              <a:t>不等于</a:t>
            </a:r>
            <a:r>
              <a:rPr lang="en-US" altLang="zh-CN" dirty="0">
                <a:solidFill>
                  <a:srgbClr val="FF0000"/>
                </a:solidFill>
              </a:rPr>
              <a:t>0</a:t>
            </a:r>
            <a:r>
              <a:rPr lang="zh-CN" altLang="en-US" dirty="0"/>
              <a:t>，跳转到目的地址</a:t>
            </a:r>
            <a:endParaRPr lang="en-US" altLang="zh-CN" dirty="0"/>
          </a:p>
          <a:p>
            <a:pPr lvl="1"/>
            <a:r>
              <a:rPr lang="zh-CN" altLang="en-US" dirty="0"/>
              <a:t>如果</a:t>
            </a:r>
            <a:r>
              <a:rPr lang="en-US" altLang="zh-CN" dirty="0">
                <a:solidFill>
                  <a:srgbClr val="0070C0"/>
                </a:solidFill>
              </a:rPr>
              <a:t>ECX</a:t>
            </a:r>
            <a:r>
              <a:rPr lang="zh-CN" altLang="en-US" dirty="0">
                <a:solidFill>
                  <a:srgbClr val="FF0000"/>
                </a:solidFill>
              </a:rPr>
              <a:t>等于</a:t>
            </a:r>
            <a:r>
              <a:rPr lang="en-US" altLang="zh-CN" dirty="0">
                <a:solidFill>
                  <a:srgbClr val="FF0000"/>
                </a:solidFill>
              </a:rPr>
              <a:t>0</a:t>
            </a:r>
            <a:r>
              <a:rPr lang="zh-CN" altLang="en-US" dirty="0"/>
              <a:t>，不跳转，顺序执行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LOOP</a:t>
            </a:r>
            <a:r>
              <a:rPr lang="zh-CN" altLang="en-US" dirty="0"/>
              <a:t>指令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MOV EAX 10h</a:t>
            </a:r>
          </a:p>
          <a:p>
            <a:pPr marL="0" indent="0">
              <a:buNone/>
            </a:pPr>
            <a:r>
              <a:rPr lang="en-US" altLang="zh-CN" dirty="0"/>
              <a:t>MOV </a:t>
            </a:r>
            <a:r>
              <a:rPr lang="en-US" altLang="zh-CN" dirty="0">
                <a:solidFill>
                  <a:srgbClr val="FF0000"/>
                </a:solidFill>
              </a:rPr>
              <a:t>ECX</a:t>
            </a:r>
            <a:r>
              <a:rPr lang="en-US" altLang="zh-CN" dirty="0"/>
              <a:t> 10h</a:t>
            </a:r>
          </a:p>
          <a:p>
            <a:pPr marL="0" indent="0">
              <a:buNone/>
            </a:pPr>
            <a:r>
              <a:rPr lang="en-US" altLang="zh-CN" dirty="0"/>
              <a:t>L1</a:t>
            </a:r>
            <a:r>
              <a:rPr lang="zh-CN" altLang="en-US" dirty="0"/>
              <a:t>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INC EAX</a:t>
            </a:r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en-US" altLang="zh-CN" dirty="0">
                <a:solidFill>
                  <a:srgbClr val="FF0000"/>
                </a:solidFill>
              </a:rPr>
              <a:t>LOOP</a:t>
            </a:r>
            <a:r>
              <a:rPr lang="en-US" altLang="zh-CN" dirty="0"/>
              <a:t> L1</a:t>
            </a:r>
            <a:endParaRPr lang="zh-CN" alt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4802823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 EAX 10h</a:t>
            </a:r>
          </a:p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 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10h</a:t>
            </a:r>
          </a:p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L1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INC EAX</a:t>
            </a:r>
          </a:p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LOOP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L1</a:t>
            </a:r>
          </a:p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LOOP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循环结束后，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EAX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寄存器的值为</a:t>
            </a:r>
            <a:r>
              <a:rPr lang="zh-CN" altLang="en-US" sz="2800" dirty="0">
                <a:solidFill>
                  <a:srgbClr val="639E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639E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CN" altLang="en-US" sz="2800" dirty="0">
                <a:solidFill>
                  <a:srgbClr val="639E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填空</a:t>
            </a:r>
            <a:r>
              <a:rPr lang="en-US" altLang="zh-CN" sz="2800" dirty="0">
                <a:solidFill>
                  <a:srgbClr val="639E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1]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: 圆角 6"/>
          <p:cNvSpPr/>
          <p:nvPr>
            <p:custDataLst>
              <p:tags r:id="rId3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</a:p>
        </p:txBody>
      </p:sp>
      <p:sp>
        <p:nvSpPr>
          <p:cNvPr id="13" name="矩形 12"/>
          <p:cNvSpPr/>
          <p:nvPr>
            <p:custDataLst>
              <p:tags r:id="rId4"/>
            </p:custDataLst>
          </p:nvPr>
        </p:nvSpPr>
        <p:spPr>
          <a:xfrm>
            <a:off x="1524000" y="5849303"/>
            <a:ext cx="9144000" cy="36576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正常使用填空题需</a:t>
            </a:r>
            <a:r>
              <a:rPr lang="en-US" altLang="zh-CN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以上版本雨课堂</a:t>
            </a:r>
          </a:p>
        </p:txBody>
      </p:sp>
      <p:grpSp>
        <p:nvGrpSpPr>
          <p:cNvPr id="12" name="组合 11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8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ColorBlock"/>
            <p:cNvSpPr/>
            <p:nvPr>
              <p:custDataLst>
                <p:tags r:id="rId8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填空题</a:t>
              </a:r>
            </a:p>
          </p:txBody>
        </p:sp>
        <p:sp>
          <p:nvSpPr>
            <p:cNvPr id="11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/>
          <p:cNvPicPr/>
          <p:nvPr>
            <p:custDataLst>
              <p:tags r:id="rId6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LOOP</a:t>
            </a:r>
            <a:r>
              <a:rPr lang="zh-CN" altLang="en-US" dirty="0"/>
              <a:t>指令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LOOP</a:t>
            </a:r>
            <a:r>
              <a:rPr lang="zh-CN" altLang="en-US" dirty="0"/>
              <a:t>指令先</a:t>
            </a:r>
            <a:r>
              <a:rPr lang="en-US" altLang="zh-CN" dirty="0" err="1"/>
              <a:t>ecx</a:t>
            </a:r>
            <a:r>
              <a:rPr lang="zh-CN" altLang="en-US" dirty="0"/>
              <a:t>减</a:t>
            </a:r>
            <a:r>
              <a:rPr lang="en-US" altLang="zh-CN" dirty="0"/>
              <a:t>1</a:t>
            </a:r>
            <a:r>
              <a:rPr lang="zh-CN" altLang="en-US" dirty="0"/>
              <a:t>，然后判断</a:t>
            </a:r>
            <a:r>
              <a:rPr lang="en-US" altLang="zh-CN" dirty="0" err="1"/>
              <a:t>ecx</a:t>
            </a:r>
            <a:r>
              <a:rPr lang="zh-CN" altLang="en-US" dirty="0"/>
              <a:t>是否为</a:t>
            </a:r>
            <a:r>
              <a:rPr lang="en-US" altLang="zh-CN" dirty="0"/>
              <a:t>0.</a:t>
            </a:r>
          </a:p>
          <a:p>
            <a:r>
              <a:rPr lang="en-US" altLang="zh-CN" dirty="0"/>
              <a:t>LOOP is exactly like dec </a:t>
            </a:r>
            <a:r>
              <a:rPr lang="en-US" altLang="zh-CN" dirty="0" err="1"/>
              <a:t>ecx</a:t>
            </a:r>
            <a:r>
              <a:rPr lang="en-US" altLang="zh-CN" dirty="0"/>
              <a:t> / </a:t>
            </a:r>
            <a:r>
              <a:rPr lang="en-US" altLang="zh-CN" dirty="0" err="1"/>
              <a:t>jnz</a:t>
            </a:r>
            <a:endParaRPr lang="zh-CN" alt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4250509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MOV EAX 10h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MOV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ECX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0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L1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INC EAX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LOOP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L1</a:t>
            </a:r>
          </a:p>
          <a:p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如果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ECX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的初始值为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LOOP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会循环执行</a:t>
            </a:r>
            <a:r>
              <a:rPr lang="zh-CN" altLang="en-US" sz="2400" dirty="0">
                <a:solidFill>
                  <a:srgbClr val="639EF4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639EF4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zh-CN" altLang="en-US" sz="2400" dirty="0">
                <a:solidFill>
                  <a:srgbClr val="639EF4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填空</a:t>
            </a:r>
            <a:r>
              <a:rPr lang="en-US" altLang="zh-CN" sz="2400" dirty="0">
                <a:solidFill>
                  <a:srgbClr val="639EF4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1]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次。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矩形: 圆角 6"/>
          <p:cNvSpPr/>
          <p:nvPr>
            <p:custDataLst>
              <p:tags r:id="rId3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</a:p>
        </p:txBody>
      </p:sp>
      <p:sp>
        <p:nvSpPr>
          <p:cNvPr id="13" name="矩形 12"/>
          <p:cNvSpPr/>
          <p:nvPr>
            <p:custDataLst>
              <p:tags r:id="rId4"/>
            </p:custDataLst>
          </p:nvPr>
        </p:nvSpPr>
        <p:spPr>
          <a:xfrm>
            <a:off x="1524000" y="5849303"/>
            <a:ext cx="9144000" cy="36576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正常使用填空题需</a:t>
            </a:r>
            <a:r>
              <a:rPr lang="en-US" altLang="zh-CN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以上版本雨课堂</a:t>
            </a:r>
          </a:p>
        </p:txBody>
      </p:sp>
      <p:grpSp>
        <p:nvGrpSpPr>
          <p:cNvPr id="12" name="组合 11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8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ColorBlock"/>
            <p:cNvSpPr/>
            <p:nvPr>
              <p:custDataLst>
                <p:tags r:id="rId8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填空题</a:t>
              </a:r>
            </a:p>
          </p:txBody>
        </p:sp>
        <p:sp>
          <p:nvSpPr>
            <p:cNvPr id="11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/>
          <p:cNvPicPr/>
          <p:nvPr>
            <p:custDataLst>
              <p:tags r:id="rId6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循环的嵌套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25663" y="1718266"/>
            <a:ext cx="7940675" cy="4092575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sz="2000" dirty="0"/>
              <a:t>.data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000" dirty="0"/>
              <a:t>    </a:t>
            </a:r>
            <a:r>
              <a:rPr lang="en-US" altLang="zh-CN" sz="2000" dirty="0">
                <a:solidFill>
                  <a:srgbClr val="FF0000"/>
                </a:solidFill>
              </a:rPr>
              <a:t>count</a:t>
            </a:r>
            <a:r>
              <a:rPr lang="en-US" altLang="zh-CN" sz="2000" dirty="0"/>
              <a:t> DWORD 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000" dirty="0"/>
              <a:t>.code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000" dirty="0"/>
              <a:t>    MOV </a:t>
            </a:r>
            <a:r>
              <a:rPr lang="en-US" altLang="zh-CN" sz="2000" dirty="0">
                <a:solidFill>
                  <a:srgbClr val="FF0000"/>
                </a:solidFill>
              </a:rPr>
              <a:t>ECX</a:t>
            </a:r>
            <a:r>
              <a:rPr lang="en-US" altLang="zh-CN" sz="2000" dirty="0"/>
              <a:t>, 100</a:t>
            </a:r>
            <a:r>
              <a:rPr lang="zh-CN" altLang="en-US" sz="2000" dirty="0"/>
              <a:t>；</a:t>
            </a:r>
            <a:r>
              <a:rPr lang="zh-CN" altLang="en-US" sz="2000" dirty="0">
                <a:solidFill>
                  <a:srgbClr val="C00000"/>
                </a:solidFill>
              </a:rPr>
              <a:t> </a:t>
            </a:r>
            <a:r>
              <a:rPr lang="en-US" altLang="zh-CN" sz="2000" dirty="0">
                <a:solidFill>
                  <a:srgbClr val="C00000"/>
                </a:solidFill>
              </a:rPr>
              <a:t>L1 </a:t>
            </a:r>
            <a:r>
              <a:rPr lang="zh-CN" altLang="en-US" sz="2000" dirty="0">
                <a:solidFill>
                  <a:srgbClr val="C00000"/>
                </a:solidFill>
              </a:rPr>
              <a:t>循环</a:t>
            </a:r>
            <a:r>
              <a:rPr lang="en-US" altLang="zh-CN" sz="2000" dirty="0">
                <a:solidFill>
                  <a:srgbClr val="C00000"/>
                </a:solidFill>
              </a:rPr>
              <a:t>100</a:t>
            </a:r>
            <a:r>
              <a:rPr lang="zh-CN" altLang="en-US" sz="2000" dirty="0">
                <a:solidFill>
                  <a:srgbClr val="C00000"/>
                </a:solidFill>
              </a:rPr>
              <a:t>次</a:t>
            </a:r>
            <a:endParaRPr lang="en-US" altLang="zh-CN" sz="2000" dirty="0">
              <a:solidFill>
                <a:srgbClr val="C00000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000" dirty="0">
                <a:solidFill>
                  <a:srgbClr val="FF0000"/>
                </a:solidFill>
              </a:rPr>
              <a:t>L1</a:t>
            </a:r>
            <a:r>
              <a:rPr lang="zh-CN" altLang="en-US" sz="2000" dirty="0">
                <a:solidFill>
                  <a:srgbClr val="FF0000"/>
                </a:solidFill>
              </a:rPr>
              <a:t>：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000" dirty="0"/>
              <a:t>    MOV count, ECX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000" dirty="0"/>
              <a:t>    MOV ECX, 10 </a:t>
            </a:r>
            <a:r>
              <a:rPr lang="en-US" altLang="zh-CN" sz="2000" dirty="0">
                <a:solidFill>
                  <a:schemeClr val="accent5">
                    <a:lumMod val="50000"/>
                  </a:schemeClr>
                </a:solidFill>
              </a:rPr>
              <a:t>; L2 </a:t>
            </a:r>
            <a:r>
              <a:rPr lang="zh-CN" altLang="en-US" sz="2000" dirty="0">
                <a:solidFill>
                  <a:schemeClr val="accent5">
                    <a:lumMod val="50000"/>
                  </a:schemeClr>
                </a:solidFill>
              </a:rPr>
              <a:t>循环</a:t>
            </a:r>
            <a:r>
              <a:rPr lang="en-US" altLang="zh-CN" sz="2000" dirty="0">
                <a:solidFill>
                  <a:schemeClr val="accent5">
                    <a:lumMod val="50000"/>
                  </a:schemeClr>
                </a:solidFill>
              </a:rPr>
              <a:t>10</a:t>
            </a:r>
            <a:r>
              <a:rPr lang="zh-CN" altLang="en-US" sz="2000" dirty="0">
                <a:solidFill>
                  <a:schemeClr val="accent5">
                    <a:lumMod val="50000"/>
                  </a:schemeClr>
                </a:solidFill>
              </a:rPr>
              <a:t>次</a:t>
            </a:r>
            <a:endParaRPr lang="en-US" altLang="zh-CN" sz="2000" dirty="0">
              <a:solidFill>
                <a:schemeClr val="accent5">
                  <a:lumMod val="50000"/>
                </a:schemeClr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000" dirty="0">
                <a:solidFill>
                  <a:srgbClr val="0070C0"/>
                </a:solidFill>
              </a:rPr>
              <a:t>L2: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000" dirty="0">
                <a:solidFill>
                  <a:srgbClr val="0070C0"/>
                </a:solidFill>
              </a:rPr>
              <a:t>    ... ....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000" dirty="0">
                <a:solidFill>
                  <a:srgbClr val="0070C0"/>
                </a:solidFill>
              </a:rPr>
              <a:t>    LOOP L2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000" dirty="0"/>
              <a:t>    MOV ECX</a:t>
            </a:r>
            <a:r>
              <a:rPr lang="zh-CN" altLang="en-US" sz="2000" dirty="0"/>
              <a:t>， </a:t>
            </a:r>
            <a:r>
              <a:rPr lang="en-US" altLang="zh-CN" sz="2000" dirty="0"/>
              <a:t>count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000" dirty="0"/>
              <a:t>    </a:t>
            </a:r>
            <a:r>
              <a:rPr lang="en-US" altLang="zh-CN" sz="2000" dirty="0">
                <a:solidFill>
                  <a:srgbClr val="FF0000"/>
                </a:solidFill>
              </a:rPr>
              <a:t>LOOP L1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2438400" y="635000"/>
            <a:ext cx="7315200" cy="3536406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.data</a:t>
            </a:r>
          </a:p>
          <a:p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array DWORD 100h, 200h, 300h, 400h</a:t>
            </a:r>
          </a:p>
          <a:p>
            <a:endParaRPr lang="en-US" altLang="zh-CN" sz="2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编写汇编代码，计算数组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array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的和</a:t>
            </a:r>
            <a:endParaRPr lang="en-US" altLang="zh-CN" sz="2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矩形: 圆角 6"/>
          <p:cNvSpPr/>
          <p:nvPr>
            <p:custDataLst>
              <p:tags r:id="rId3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</a:p>
        </p:txBody>
      </p:sp>
      <p:sp>
        <p:nvSpPr>
          <p:cNvPr id="13" name="矩形 12"/>
          <p:cNvSpPr/>
          <p:nvPr>
            <p:custDataLst>
              <p:tags r:id="rId4"/>
            </p:custDataLst>
          </p:nvPr>
        </p:nvSpPr>
        <p:spPr>
          <a:xfrm>
            <a:off x="1524000" y="5849303"/>
            <a:ext cx="9144000" cy="36576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正常使用主观题需</a:t>
            </a:r>
            <a:r>
              <a:rPr lang="en-US" altLang="zh-CN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2.0</a:t>
            </a:r>
            <a:r>
              <a:rPr lang="zh-CN" altLang="en-US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以上版本雨课堂</a:t>
            </a:r>
          </a:p>
        </p:txBody>
      </p:sp>
      <p:grpSp>
        <p:nvGrpSpPr>
          <p:cNvPr id="12" name="组合 11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8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ColorBlock"/>
            <p:cNvSpPr/>
            <p:nvPr>
              <p:custDataLst>
                <p:tags r:id="rId8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主观题</a:t>
              </a:r>
            </a:p>
          </p:txBody>
        </p:sp>
        <p:sp>
          <p:nvSpPr>
            <p:cNvPr id="11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/>
          <p:cNvPicPr/>
          <p:nvPr>
            <p:custDataLst>
              <p:tags r:id="rId6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LOOP</a:t>
            </a:r>
            <a:r>
              <a:rPr lang="zh-CN" altLang="en-US"/>
              <a:t>指令的变种（自学）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LOOPZ</a:t>
            </a:r>
            <a:r>
              <a:rPr lang="zh-CN" altLang="en-US"/>
              <a:t>、</a:t>
            </a:r>
            <a:r>
              <a:rPr lang="en-US" altLang="zh-CN"/>
              <a:t> LOOPE </a:t>
            </a:r>
          </a:p>
          <a:p>
            <a:r>
              <a:rPr lang="en-US" altLang="zh-CN"/>
              <a:t>LOOPNZ</a:t>
            </a:r>
            <a:r>
              <a:rPr lang="zh-CN" altLang="en-US"/>
              <a:t>、</a:t>
            </a:r>
            <a:r>
              <a:rPr lang="en-US" altLang="zh-CN"/>
              <a:t> LOOPNE</a:t>
            </a:r>
            <a:endParaRPr lang="en-US" altLang="zh-CN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数组求和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25663" y="1784351"/>
            <a:ext cx="7940675" cy="4092575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sz="2400" dirty="0"/>
              <a:t>.data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400" dirty="0"/>
              <a:t>    array DWORD 100h, 200h, 300h, 400h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400" dirty="0"/>
              <a:t>.code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400" dirty="0"/>
              <a:t>    MOV </a:t>
            </a:r>
            <a:r>
              <a:rPr lang="en-US" altLang="zh-CN" sz="2400" dirty="0">
                <a:solidFill>
                  <a:srgbClr val="FF0000"/>
                </a:solidFill>
              </a:rPr>
              <a:t>ECX</a:t>
            </a:r>
            <a:r>
              <a:rPr lang="en-US" altLang="zh-CN" sz="2400" dirty="0"/>
              <a:t>, LENGTHOF array ; </a:t>
            </a:r>
            <a:r>
              <a:rPr lang="zh-CN" altLang="en-US" sz="2400" dirty="0">
                <a:solidFill>
                  <a:srgbClr val="FF0000"/>
                </a:solidFill>
              </a:rPr>
              <a:t>循环次数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400" dirty="0"/>
              <a:t>    MOV EDI</a:t>
            </a:r>
            <a:r>
              <a:rPr lang="zh-CN" altLang="en-US" sz="2400" dirty="0"/>
              <a:t>，</a:t>
            </a:r>
            <a:r>
              <a:rPr lang="en-US" altLang="zh-CN" sz="2400" dirty="0"/>
              <a:t>OFFSET array</a:t>
            </a:r>
            <a:r>
              <a:rPr lang="zh-CN" altLang="en-US" sz="2400" dirty="0"/>
              <a:t>；索引</a:t>
            </a:r>
            <a:endParaRPr lang="en-US" altLang="zh-CN" sz="24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400" dirty="0"/>
              <a:t>    MOV EAX</a:t>
            </a:r>
            <a:r>
              <a:rPr lang="zh-CN" altLang="en-US" sz="2400" dirty="0"/>
              <a:t>，</a:t>
            </a:r>
            <a:r>
              <a:rPr lang="en-US" altLang="zh-CN" sz="2400" dirty="0"/>
              <a:t>0</a:t>
            </a:r>
            <a:r>
              <a:rPr lang="zh-CN" altLang="en-US" sz="2400" dirty="0"/>
              <a:t>；和</a:t>
            </a:r>
            <a:endParaRPr lang="en-US" altLang="zh-CN" sz="24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400" dirty="0">
                <a:solidFill>
                  <a:srgbClr val="FF0000"/>
                </a:solidFill>
              </a:rPr>
              <a:t>L1</a:t>
            </a:r>
            <a:r>
              <a:rPr lang="zh-CN" altLang="en-US" sz="2400" dirty="0">
                <a:solidFill>
                  <a:srgbClr val="FF0000"/>
                </a:solidFill>
              </a:rPr>
              <a:t>：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400" dirty="0"/>
              <a:t>    ADD EAX</a:t>
            </a:r>
            <a:r>
              <a:rPr lang="zh-CN" altLang="en-US" sz="2400" dirty="0"/>
              <a:t>，</a:t>
            </a:r>
            <a:r>
              <a:rPr lang="en-US" altLang="zh-CN" sz="2400" dirty="0"/>
              <a:t>[EDI]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400" dirty="0"/>
              <a:t>    ADD EDI, TYPE array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400" dirty="0"/>
              <a:t>    </a:t>
            </a:r>
            <a:r>
              <a:rPr lang="en-US" altLang="zh-CN" sz="2400" dirty="0">
                <a:solidFill>
                  <a:srgbClr val="FF0000"/>
                </a:solidFill>
              </a:rPr>
              <a:t>LOOP L1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zh-CN" sz="2400" dirty="0"/>
          </a:p>
          <a:p>
            <a:endParaRPr lang="zh-CN" altLang="en-US" sz="2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4102463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.data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    </a:t>
            </a:r>
            <a:r>
              <a:rPr lang="en-US" altLang="zh-CN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src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 BYTE “Hello World”, 0Dh, 0Ah, 0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    </a:t>
            </a:r>
            <a:r>
              <a:rPr lang="en-US" altLang="zh-CN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dst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 BYTE SIZEOF </a:t>
            </a:r>
            <a:r>
              <a:rPr lang="en-US" altLang="zh-CN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src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 DUP(0), 0</a:t>
            </a:r>
          </a:p>
          <a:p>
            <a:endParaRPr lang="en-US" altLang="zh-CN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微软雅黑" panose="020B0503020204020204" pitchFamily="34" charset="-122"/>
            </a:endParaRPr>
          </a:p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使用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LOOP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指令，将字符串</a:t>
            </a:r>
            <a:r>
              <a:rPr lang="en-US" altLang="zh-CN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src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复制到</a:t>
            </a:r>
            <a:r>
              <a:rPr lang="en-US" altLang="zh-CN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dst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sp>
        <p:nvSpPr>
          <p:cNvPr id="7" name="矩形: 圆角 6"/>
          <p:cNvSpPr/>
          <p:nvPr>
            <p:custDataLst>
              <p:tags r:id="rId3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</a:p>
        </p:txBody>
      </p:sp>
      <p:sp>
        <p:nvSpPr>
          <p:cNvPr id="13" name="矩形 12"/>
          <p:cNvSpPr/>
          <p:nvPr>
            <p:custDataLst>
              <p:tags r:id="rId4"/>
            </p:custDataLst>
          </p:nvPr>
        </p:nvSpPr>
        <p:spPr>
          <a:xfrm>
            <a:off x="1524000" y="5849303"/>
            <a:ext cx="9144000" cy="36576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正常使用主观题需</a:t>
            </a:r>
            <a:r>
              <a:rPr lang="en-US" altLang="zh-CN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2.0</a:t>
            </a:r>
            <a:r>
              <a:rPr lang="zh-CN" altLang="en-US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以上版本雨课堂</a:t>
            </a:r>
          </a:p>
        </p:txBody>
      </p:sp>
      <p:grpSp>
        <p:nvGrpSpPr>
          <p:cNvPr id="12" name="组合 11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8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ColorBlock"/>
            <p:cNvSpPr/>
            <p:nvPr>
              <p:custDataLst>
                <p:tags r:id="rId8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主观题</a:t>
              </a:r>
            </a:p>
          </p:txBody>
        </p:sp>
        <p:sp>
          <p:nvSpPr>
            <p:cNvPr id="11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/>
          <p:cNvPicPr/>
          <p:nvPr>
            <p:custDataLst>
              <p:tags r:id="rId6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字符串赋值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35189" y="1675630"/>
            <a:ext cx="7940675" cy="4092575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sz="2400" dirty="0">
                <a:sym typeface="微软雅黑" panose="020B0503020204020204" pitchFamily="34" charset="-122"/>
              </a:rPr>
              <a:t>.data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400" dirty="0">
                <a:sym typeface="微软雅黑" panose="020B0503020204020204" pitchFamily="34" charset="-122"/>
              </a:rPr>
              <a:t>    </a:t>
            </a:r>
            <a:r>
              <a:rPr lang="en-US" altLang="zh-CN" sz="2400" dirty="0" err="1">
                <a:sym typeface="微软雅黑" panose="020B0503020204020204" pitchFamily="34" charset="-122"/>
              </a:rPr>
              <a:t>src</a:t>
            </a:r>
            <a:r>
              <a:rPr lang="en-US" altLang="zh-CN" sz="2400" dirty="0">
                <a:sym typeface="微软雅黑" panose="020B0503020204020204" pitchFamily="34" charset="-122"/>
              </a:rPr>
              <a:t> BYTE “Hello World”, 0Dh, 0Ah, 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400" dirty="0">
                <a:sym typeface="微软雅黑" panose="020B0503020204020204" pitchFamily="34" charset="-122"/>
              </a:rPr>
              <a:t>    </a:t>
            </a:r>
            <a:r>
              <a:rPr lang="en-US" altLang="zh-CN" sz="2400" dirty="0" err="1">
                <a:sym typeface="微软雅黑" panose="020B0503020204020204" pitchFamily="34" charset="-122"/>
              </a:rPr>
              <a:t>dst</a:t>
            </a:r>
            <a:r>
              <a:rPr lang="en-US" altLang="zh-CN" sz="2400" dirty="0">
                <a:sym typeface="微软雅黑" panose="020B0503020204020204" pitchFamily="34" charset="-122"/>
              </a:rPr>
              <a:t> BYTE SIZEOF </a:t>
            </a:r>
            <a:r>
              <a:rPr lang="en-US" altLang="zh-CN" sz="2400" dirty="0" err="1">
                <a:sym typeface="微软雅黑" panose="020B0503020204020204" pitchFamily="34" charset="-122"/>
              </a:rPr>
              <a:t>src</a:t>
            </a:r>
            <a:r>
              <a:rPr lang="en-US" altLang="zh-CN" sz="2400" dirty="0">
                <a:sym typeface="微软雅黑" panose="020B0503020204020204" pitchFamily="34" charset="-122"/>
              </a:rPr>
              <a:t> DUP(0), 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400" dirty="0">
                <a:sym typeface="微软雅黑" panose="020B0503020204020204" pitchFamily="34" charset="-122"/>
              </a:rPr>
              <a:t>.code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400" dirty="0">
                <a:sym typeface="微软雅黑" panose="020B0503020204020204" pitchFamily="34" charset="-122"/>
              </a:rPr>
              <a:t>    MOV </a:t>
            </a:r>
            <a:r>
              <a:rPr lang="en-US" altLang="zh-CN" sz="2400" dirty="0">
                <a:solidFill>
                  <a:srgbClr val="FF0000"/>
                </a:solidFill>
                <a:sym typeface="微软雅黑" panose="020B0503020204020204" pitchFamily="34" charset="-122"/>
              </a:rPr>
              <a:t>ECX</a:t>
            </a:r>
            <a:r>
              <a:rPr lang="en-US" altLang="zh-CN" sz="2400" dirty="0">
                <a:sym typeface="微软雅黑" panose="020B0503020204020204" pitchFamily="34" charset="-122"/>
              </a:rPr>
              <a:t>, SIZEOF </a:t>
            </a:r>
            <a:r>
              <a:rPr lang="en-US" altLang="zh-CN" sz="2400" dirty="0" err="1">
                <a:sym typeface="微软雅黑" panose="020B0503020204020204" pitchFamily="34" charset="-122"/>
              </a:rPr>
              <a:t>src</a:t>
            </a:r>
            <a:r>
              <a:rPr lang="en-US" altLang="zh-CN" sz="2400" dirty="0">
                <a:sym typeface="微软雅黑" panose="020B0503020204020204" pitchFamily="34" charset="-122"/>
              </a:rPr>
              <a:t> </a:t>
            </a:r>
            <a:r>
              <a:rPr lang="zh-CN" altLang="en-US" sz="2400" dirty="0">
                <a:sym typeface="微软雅黑" panose="020B0503020204020204" pitchFamily="34" charset="-122"/>
              </a:rPr>
              <a:t>；</a:t>
            </a:r>
            <a:r>
              <a:rPr lang="zh-CN" altLang="en-US" sz="2400" dirty="0">
                <a:solidFill>
                  <a:srgbClr val="FF0000"/>
                </a:solidFill>
                <a:sym typeface="微软雅黑" panose="020B0503020204020204" pitchFamily="34" charset="-122"/>
              </a:rPr>
              <a:t>循环次数</a:t>
            </a:r>
            <a:endParaRPr lang="en-US" altLang="zh-CN" sz="2400" dirty="0">
              <a:solidFill>
                <a:srgbClr val="FF0000"/>
              </a:solidFill>
              <a:sym typeface="微软雅黑" panose="020B0503020204020204" pitchFamily="34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400" dirty="0">
                <a:sym typeface="微软雅黑" panose="020B0503020204020204" pitchFamily="34" charset="-122"/>
              </a:rPr>
              <a:t>    MOV ESI, 0 </a:t>
            </a:r>
            <a:r>
              <a:rPr lang="zh-CN" altLang="en-US" sz="2400" dirty="0">
                <a:sym typeface="微软雅黑" panose="020B0503020204020204" pitchFamily="34" charset="-122"/>
              </a:rPr>
              <a:t>；</a:t>
            </a:r>
            <a:r>
              <a:rPr lang="zh-CN" altLang="en-US" sz="2400" dirty="0">
                <a:solidFill>
                  <a:srgbClr val="FF0000"/>
                </a:solidFill>
                <a:sym typeface="微软雅黑" panose="020B0503020204020204" pitchFamily="34" charset="-122"/>
              </a:rPr>
              <a:t>字符索引</a:t>
            </a:r>
            <a:endParaRPr lang="en-US" altLang="zh-CN" sz="2400" dirty="0">
              <a:solidFill>
                <a:srgbClr val="FF0000"/>
              </a:solidFill>
              <a:sym typeface="微软雅黑" panose="020B0503020204020204" pitchFamily="34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400" dirty="0">
                <a:solidFill>
                  <a:srgbClr val="FF0000"/>
                </a:solidFill>
                <a:sym typeface="微软雅黑" panose="020B0503020204020204" pitchFamily="34" charset="-122"/>
              </a:rPr>
              <a:t>L1: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400" dirty="0">
                <a:sym typeface="微软雅黑" panose="020B0503020204020204" pitchFamily="34" charset="-122"/>
              </a:rPr>
              <a:t>    MOV AL, BYTE PTR </a:t>
            </a:r>
            <a:r>
              <a:rPr lang="en-US" altLang="zh-CN" sz="2400" dirty="0" err="1">
                <a:sym typeface="微软雅黑" panose="020B0503020204020204" pitchFamily="34" charset="-122"/>
              </a:rPr>
              <a:t>src</a:t>
            </a:r>
            <a:r>
              <a:rPr lang="en-US" altLang="zh-CN" sz="2400" dirty="0">
                <a:sym typeface="微软雅黑" panose="020B0503020204020204" pitchFamily="34" charset="-122"/>
              </a:rPr>
              <a:t>[ESI]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400" dirty="0">
                <a:sym typeface="微软雅黑" panose="020B0503020204020204" pitchFamily="34" charset="-122"/>
              </a:rPr>
              <a:t>    MOV BYTE PTR </a:t>
            </a:r>
            <a:r>
              <a:rPr lang="en-US" altLang="zh-CN" sz="2400" dirty="0" err="1">
                <a:sym typeface="微软雅黑" panose="020B0503020204020204" pitchFamily="34" charset="-122"/>
              </a:rPr>
              <a:t>dst</a:t>
            </a:r>
            <a:r>
              <a:rPr lang="en-US" altLang="zh-CN" sz="2400" dirty="0">
                <a:sym typeface="微软雅黑" panose="020B0503020204020204" pitchFamily="34" charset="-122"/>
              </a:rPr>
              <a:t>[ESI], AL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400" dirty="0">
                <a:sym typeface="微软雅黑" panose="020B0503020204020204" pitchFamily="34" charset="-122"/>
              </a:rPr>
              <a:t>    INC ESI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400" dirty="0">
                <a:sym typeface="微软雅黑" panose="020B0503020204020204" pitchFamily="34" charset="-122"/>
              </a:rPr>
              <a:t>    </a:t>
            </a:r>
            <a:r>
              <a:rPr lang="en-US" altLang="zh-CN" sz="2400" dirty="0">
                <a:solidFill>
                  <a:srgbClr val="FF0000"/>
                </a:solidFill>
                <a:sym typeface="微软雅黑" panose="020B0503020204020204" pitchFamily="34" charset="-122"/>
              </a:rPr>
              <a:t>LOOP L1</a:t>
            </a:r>
          </a:p>
          <a:p>
            <a:pPr marL="0" indent="0">
              <a:lnSpc>
                <a:spcPct val="100000"/>
              </a:lnSpc>
              <a:buNone/>
            </a:pPr>
            <a:endParaRPr lang="zh-CN" altLang="en-US" sz="2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2438400" y="634999"/>
            <a:ext cx="7315200" cy="5356498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.data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    num BYTE 1, 2, 3, 4, 5, 6, 7, 8, 9, 0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.code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    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将数字转换成对应的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ASCII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字符，输出到命令行窗口</a:t>
            </a:r>
            <a:endParaRPr lang="en-US" altLang="zh-CN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微软雅黑" panose="020B0503020204020204" pitchFamily="34" charset="-122"/>
            </a:endParaRPr>
          </a:p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ASCII 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编码：</a:t>
            </a:r>
            <a:endParaRPr lang="en-US" altLang="zh-CN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微软雅黑" panose="020B0503020204020204" pitchFamily="34" charset="-122"/>
            </a:endParaRPr>
          </a:p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  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‘0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’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30h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  ‘1’31h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   ... ...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  ‘9’39h</a:t>
            </a:r>
          </a:p>
        </p:txBody>
      </p:sp>
      <p:sp>
        <p:nvSpPr>
          <p:cNvPr id="7" name="矩形: 圆角 6"/>
          <p:cNvSpPr/>
          <p:nvPr>
            <p:custDataLst>
              <p:tags r:id="rId3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</a:p>
        </p:txBody>
      </p:sp>
      <p:sp>
        <p:nvSpPr>
          <p:cNvPr id="13" name="矩形 12"/>
          <p:cNvSpPr/>
          <p:nvPr>
            <p:custDataLst>
              <p:tags r:id="rId4"/>
            </p:custDataLst>
          </p:nvPr>
        </p:nvSpPr>
        <p:spPr>
          <a:xfrm>
            <a:off x="1524000" y="5849303"/>
            <a:ext cx="9144000" cy="36576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正常使用主观题需</a:t>
            </a:r>
            <a:r>
              <a:rPr lang="en-US" altLang="zh-CN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2.0</a:t>
            </a:r>
            <a:r>
              <a:rPr lang="zh-CN" altLang="en-US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以上版本雨课堂</a:t>
            </a:r>
          </a:p>
        </p:txBody>
      </p:sp>
      <p:grpSp>
        <p:nvGrpSpPr>
          <p:cNvPr id="12" name="组合 11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8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ColorBlock"/>
            <p:cNvSpPr/>
            <p:nvPr>
              <p:custDataLst>
                <p:tags r:id="rId8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主观题</a:t>
              </a:r>
            </a:p>
          </p:txBody>
        </p:sp>
        <p:sp>
          <p:nvSpPr>
            <p:cNvPr id="11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/>
          <p:cNvPicPr/>
          <p:nvPr>
            <p:custDataLst>
              <p:tags r:id="rId6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25662" y="952819"/>
            <a:ext cx="8420418" cy="4092575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sz="2800" dirty="0">
                <a:sym typeface="微软雅黑" panose="020B0503020204020204" pitchFamily="34" charset="-122"/>
              </a:rPr>
              <a:t>.data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800" dirty="0">
                <a:sym typeface="微软雅黑" panose="020B0503020204020204" pitchFamily="34" charset="-122"/>
              </a:rPr>
              <a:t>    num BYTE 1</a:t>
            </a:r>
            <a:r>
              <a:rPr lang="zh-CN" altLang="en-US" sz="2800" dirty="0">
                <a:sym typeface="微软雅黑" panose="020B0503020204020204" pitchFamily="34" charset="-122"/>
              </a:rPr>
              <a:t>， </a:t>
            </a:r>
            <a:r>
              <a:rPr lang="en-US" altLang="zh-CN" sz="2800" dirty="0">
                <a:sym typeface="微软雅黑" panose="020B0503020204020204" pitchFamily="34" charset="-122"/>
              </a:rPr>
              <a:t>2</a:t>
            </a:r>
            <a:r>
              <a:rPr lang="zh-CN" altLang="en-US" sz="2800" dirty="0">
                <a:sym typeface="微软雅黑" panose="020B0503020204020204" pitchFamily="34" charset="-122"/>
              </a:rPr>
              <a:t>， </a:t>
            </a:r>
            <a:r>
              <a:rPr lang="en-US" altLang="zh-CN" sz="2800" dirty="0">
                <a:sym typeface="微软雅黑" panose="020B0503020204020204" pitchFamily="34" charset="-122"/>
              </a:rPr>
              <a:t>3</a:t>
            </a:r>
            <a:r>
              <a:rPr lang="zh-CN" altLang="en-US" sz="2800" dirty="0">
                <a:sym typeface="微软雅黑" panose="020B0503020204020204" pitchFamily="34" charset="-122"/>
              </a:rPr>
              <a:t>， </a:t>
            </a:r>
            <a:r>
              <a:rPr lang="en-US" altLang="zh-CN" sz="2800" dirty="0">
                <a:sym typeface="微软雅黑" panose="020B0503020204020204" pitchFamily="34" charset="-122"/>
              </a:rPr>
              <a:t>4</a:t>
            </a:r>
            <a:r>
              <a:rPr lang="zh-CN" altLang="en-US" sz="2800" dirty="0">
                <a:sym typeface="微软雅黑" panose="020B0503020204020204" pitchFamily="34" charset="-122"/>
              </a:rPr>
              <a:t>， </a:t>
            </a:r>
            <a:r>
              <a:rPr lang="en-US" altLang="zh-CN" sz="2800" dirty="0">
                <a:sym typeface="微软雅黑" panose="020B0503020204020204" pitchFamily="34" charset="-122"/>
              </a:rPr>
              <a:t>5</a:t>
            </a:r>
            <a:r>
              <a:rPr lang="zh-CN" altLang="en-US" sz="2800" dirty="0">
                <a:sym typeface="微软雅黑" panose="020B0503020204020204" pitchFamily="34" charset="-122"/>
              </a:rPr>
              <a:t>， </a:t>
            </a:r>
            <a:r>
              <a:rPr lang="en-US" altLang="zh-CN" sz="2800" dirty="0">
                <a:sym typeface="微软雅黑" panose="020B0503020204020204" pitchFamily="34" charset="-122"/>
              </a:rPr>
              <a:t>6</a:t>
            </a:r>
            <a:r>
              <a:rPr lang="zh-CN" altLang="en-US" sz="2800" dirty="0">
                <a:sym typeface="微软雅黑" panose="020B0503020204020204" pitchFamily="34" charset="-122"/>
              </a:rPr>
              <a:t>， </a:t>
            </a:r>
            <a:r>
              <a:rPr lang="en-US" altLang="zh-CN" sz="2800" dirty="0">
                <a:sym typeface="微软雅黑" panose="020B0503020204020204" pitchFamily="34" charset="-122"/>
              </a:rPr>
              <a:t>7</a:t>
            </a:r>
            <a:r>
              <a:rPr lang="zh-CN" altLang="en-US" sz="2800" dirty="0">
                <a:sym typeface="微软雅黑" panose="020B0503020204020204" pitchFamily="34" charset="-122"/>
              </a:rPr>
              <a:t>， </a:t>
            </a:r>
            <a:r>
              <a:rPr lang="en-US" altLang="zh-CN" sz="2800" dirty="0">
                <a:sym typeface="微软雅黑" panose="020B0503020204020204" pitchFamily="34" charset="-122"/>
              </a:rPr>
              <a:t>8</a:t>
            </a:r>
            <a:r>
              <a:rPr lang="zh-CN" altLang="en-US" sz="2800" dirty="0">
                <a:sym typeface="微软雅黑" panose="020B0503020204020204" pitchFamily="34" charset="-122"/>
              </a:rPr>
              <a:t>， </a:t>
            </a:r>
            <a:r>
              <a:rPr lang="en-US" altLang="zh-CN" sz="2800" dirty="0">
                <a:sym typeface="微软雅黑" panose="020B0503020204020204" pitchFamily="34" charset="-122"/>
              </a:rPr>
              <a:t>9</a:t>
            </a:r>
            <a:r>
              <a:rPr lang="zh-CN" altLang="en-US" sz="2800" dirty="0">
                <a:sym typeface="微软雅黑" panose="020B0503020204020204" pitchFamily="34" charset="-122"/>
              </a:rPr>
              <a:t>， </a:t>
            </a:r>
            <a:r>
              <a:rPr lang="en-US" altLang="zh-CN" sz="2800" dirty="0">
                <a:sym typeface="微软雅黑" panose="020B0503020204020204" pitchFamily="34" charset="-122"/>
              </a:rPr>
              <a:t>0</a:t>
            </a:r>
            <a:r>
              <a:rPr lang="zh-CN" altLang="en-US" sz="2800" dirty="0">
                <a:sym typeface="微软雅黑" panose="020B0503020204020204" pitchFamily="34" charset="-122"/>
              </a:rPr>
              <a:t>，</a:t>
            </a:r>
            <a:r>
              <a:rPr lang="en-US" altLang="zh-CN" sz="2800" dirty="0">
                <a:sym typeface="微软雅黑" panose="020B0503020204020204" pitchFamily="34" charset="-122"/>
              </a:rPr>
              <a:t>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800" dirty="0">
                <a:sym typeface="微软雅黑" panose="020B0503020204020204" pitchFamily="34" charset="-122"/>
              </a:rPr>
              <a:t>.code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800" dirty="0">
                <a:sym typeface="微软雅黑" panose="020B0503020204020204" pitchFamily="34" charset="-122"/>
              </a:rPr>
              <a:t>    MOV </a:t>
            </a:r>
            <a:r>
              <a:rPr lang="en-US" altLang="zh-CN" sz="2800" dirty="0">
                <a:solidFill>
                  <a:srgbClr val="FF0000"/>
                </a:solidFill>
                <a:sym typeface="微软雅黑" panose="020B0503020204020204" pitchFamily="34" charset="-122"/>
              </a:rPr>
              <a:t>ECX</a:t>
            </a:r>
            <a:r>
              <a:rPr lang="en-US" altLang="zh-CN" sz="2800" dirty="0">
                <a:sym typeface="微软雅黑" panose="020B0503020204020204" pitchFamily="34" charset="-122"/>
              </a:rPr>
              <a:t>, 10 </a:t>
            </a:r>
            <a:r>
              <a:rPr lang="zh-CN" altLang="en-US" sz="2800" dirty="0">
                <a:sym typeface="微软雅黑" panose="020B0503020204020204" pitchFamily="34" charset="-122"/>
              </a:rPr>
              <a:t>；循环次数</a:t>
            </a:r>
            <a:endParaRPr lang="en-US" altLang="zh-CN" sz="2800" dirty="0">
              <a:sym typeface="微软雅黑" panose="020B0503020204020204" pitchFamily="34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800" dirty="0">
                <a:sym typeface="微软雅黑" panose="020B0503020204020204" pitchFamily="34" charset="-122"/>
              </a:rPr>
              <a:t>    MOV ESI, 0 </a:t>
            </a:r>
            <a:r>
              <a:rPr lang="zh-CN" altLang="en-US" sz="2800" dirty="0">
                <a:sym typeface="微软雅黑" panose="020B0503020204020204" pitchFamily="34" charset="-122"/>
              </a:rPr>
              <a:t>； 索引</a:t>
            </a:r>
            <a:endParaRPr lang="en-US" altLang="zh-CN" sz="2800" dirty="0">
              <a:sym typeface="微软雅黑" panose="020B0503020204020204" pitchFamily="34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800" dirty="0">
                <a:solidFill>
                  <a:srgbClr val="FF0000"/>
                </a:solidFill>
                <a:sym typeface="微软雅黑" panose="020B0503020204020204" pitchFamily="34" charset="-122"/>
              </a:rPr>
              <a:t>L1: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800" dirty="0">
                <a:sym typeface="微软雅黑" panose="020B0503020204020204" pitchFamily="34" charset="-122"/>
              </a:rPr>
              <a:t>    MOV AL, BYTE PTR num[ESI]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800" dirty="0">
                <a:sym typeface="微软雅黑" panose="020B0503020204020204" pitchFamily="34" charset="-122"/>
              </a:rPr>
              <a:t>    ADD AL</a:t>
            </a:r>
            <a:r>
              <a:rPr lang="zh-CN" altLang="en-US" sz="2800" dirty="0">
                <a:sym typeface="微软雅黑" panose="020B0503020204020204" pitchFamily="34" charset="-122"/>
              </a:rPr>
              <a:t>，</a:t>
            </a:r>
            <a:r>
              <a:rPr lang="en-US" altLang="zh-CN" sz="2800" dirty="0">
                <a:sym typeface="微软雅黑" panose="020B0503020204020204" pitchFamily="34" charset="-122"/>
              </a:rPr>
              <a:t>30h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800" dirty="0">
                <a:sym typeface="微软雅黑" panose="020B0503020204020204" pitchFamily="34" charset="-122"/>
              </a:rPr>
              <a:t>    MOV BYTE PTR num[ESI], AL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800" dirty="0">
                <a:sym typeface="微软雅黑" panose="020B0503020204020204" pitchFamily="34" charset="-122"/>
              </a:rPr>
              <a:t>    INC ESI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800" dirty="0">
                <a:sym typeface="微软雅黑" panose="020B0503020204020204" pitchFamily="34" charset="-122"/>
              </a:rPr>
              <a:t>    </a:t>
            </a:r>
            <a:r>
              <a:rPr lang="en-US" altLang="zh-CN" sz="2800" dirty="0">
                <a:solidFill>
                  <a:srgbClr val="FF0000"/>
                </a:solidFill>
                <a:sym typeface="微软雅黑" panose="020B0503020204020204" pitchFamily="34" charset="-122"/>
              </a:rPr>
              <a:t>LOOP L1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4727" y="2337582"/>
            <a:ext cx="6400800" cy="1143000"/>
          </a:xfrm>
        </p:spPr>
        <p:txBody>
          <a:bodyPr/>
          <a:lstStyle/>
          <a:p>
            <a:pPr algn="ctr"/>
            <a:r>
              <a:rPr lang="zh-CN" altLang="en-US"/>
              <a:t>整数算术指令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移位和循环移位指令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863" y="2184366"/>
            <a:ext cx="9342019" cy="2806734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逻辑移位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r>
              <a:rPr lang="zh-CN" altLang="en-US"/>
              <a:t>逻辑</a:t>
            </a:r>
            <a:r>
              <a:rPr lang="zh-CN" altLang="en-US" b="1"/>
              <a:t>左移</a:t>
            </a:r>
            <a:r>
              <a:rPr lang="en-US" altLang="zh-CN" b="1"/>
              <a:t>\</a:t>
            </a:r>
            <a:r>
              <a:rPr lang="zh-CN" altLang="en-US" b="1"/>
              <a:t>右移</a:t>
            </a:r>
            <a:r>
              <a:rPr lang="zh-CN" altLang="en-US"/>
              <a:t>：对无符号数进行移位，以</a:t>
            </a:r>
            <a:r>
              <a:rPr lang="en-US" altLang="zh-CN"/>
              <a:t>0</a:t>
            </a:r>
            <a:r>
              <a:rPr lang="zh-CN" altLang="en-US"/>
              <a:t>填充移出的位</a:t>
            </a:r>
            <a:endParaRPr lang="en-US" altLang="zh-CN"/>
          </a:p>
          <a:p>
            <a:pPr marL="0" indent="0">
              <a:buNone/>
            </a:pPr>
            <a:r>
              <a:rPr lang="en-US" altLang="zh-CN" b="1"/>
              <a:t>SHL\SHR </a:t>
            </a:r>
            <a:r>
              <a:rPr lang="zh-CN" altLang="en-US" b="1"/>
              <a:t>目的操作数，移位位数</a:t>
            </a:r>
            <a:endParaRPr lang="en-US" altLang="zh-CN" b="1"/>
          </a:p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2411" y="3734962"/>
            <a:ext cx="3001586" cy="1980037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054100" y="6176963"/>
            <a:ext cx="72491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>
                <a:solidFill>
                  <a:srgbClr val="FF0000"/>
                </a:solidFill>
              </a:rPr>
              <a:t>可以使用</a:t>
            </a:r>
            <a:r>
              <a:rPr lang="en-US" altLang="zh-CN" sz="2400">
                <a:solidFill>
                  <a:srgbClr val="FF0000"/>
                </a:solidFill>
              </a:rPr>
              <a:t>CL</a:t>
            </a:r>
            <a:r>
              <a:rPr lang="zh-CN" altLang="en-US" sz="2400">
                <a:solidFill>
                  <a:srgbClr val="FF0000"/>
                </a:solidFill>
              </a:rPr>
              <a:t>存放移动的位数，适用于所有的移位操作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逻辑移位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pPr marL="0" indent="0">
              <a:buNone/>
            </a:pPr>
            <a:r>
              <a:rPr lang="zh-CN" altLang="en-US"/>
              <a:t>逻辑左移：实现无符号数快速乘法，</a:t>
            </a:r>
            <a:r>
              <a:rPr lang="en-US" altLang="zh-CN"/>
              <a:t>2^n</a:t>
            </a:r>
          </a:p>
          <a:p>
            <a:pPr marL="0" indent="0">
              <a:buNone/>
            </a:pPr>
            <a:r>
              <a:rPr lang="zh-CN" altLang="en-US"/>
              <a:t>逻辑右移：实现无符号数快速除法，</a:t>
            </a:r>
            <a:r>
              <a:rPr lang="en-US" altLang="zh-CN"/>
              <a:t>2^n</a:t>
            </a:r>
          </a:p>
          <a:p>
            <a:r>
              <a:rPr lang="zh-CN" altLang="en-US" b="1"/>
              <a:t>实现</a:t>
            </a:r>
            <a:r>
              <a:rPr lang="en-US" altLang="zh-CN" b="1"/>
              <a:t>dl</a:t>
            </a:r>
            <a:r>
              <a:rPr lang="zh-CN" altLang="en-US" b="1"/>
              <a:t>乘以</a:t>
            </a:r>
            <a:r>
              <a:rPr lang="en-US" altLang="zh-CN" b="1"/>
              <a:t>2</a:t>
            </a:r>
          </a:p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9744" y="4213211"/>
            <a:ext cx="2600355" cy="1193604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算术移位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838200" y="1690688"/>
            <a:ext cx="10807700" cy="4486275"/>
          </a:xfrm>
        </p:spPr>
        <p:txBody>
          <a:bodyPr/>
          <a:lstStyle/>
          <a:p>
            <a:r>
              <a:rPr lang="zh-CN" altLang="en-US"/>
              <a:t>算术</a:t>
            </a:r>
            <a:r>
              <a:rPr lang="zh-CN" altLang="en-US" b="1"/>
              <a:t>左移</a:t>
            </a:r>
            <a:r>
              <a:rPr lang="en-US" altLang="zh-CN" b="1"/>
              <a:t>\</a:t>
            </a:r>
            <a:r>
              <a:rPr lang="zh-CN" altLang="en-US" b="1"/>
              <a:t>右移</a:t>
            </a:r>
            <a:r>
              <a:rPr lang="zh-CN" altLang="en-US"/>
              <a:t>：对</a:t>
            </a:r>
            <a:r>
              <a:rPr lang="zh-CN" altLang="en-US">
                <a:solidFill>
                  <a:srgbClr val="FF0000"/>
                </a:solidFill>
              </a:rPr>
              <a:t>有符号数</a:t>
            </a:r>
            <a:r>
              <a:rPr lang="zh-CN" altLang="en-US"/>
              <a:t>进行移位，符号位不变，</a:t>
            </a:r>
            <a:endParaRPr lang="en-US" altLang="zh-CN"/>
          </a:p>
          <a:p>
            <a:r>
              <a:rPr lang="zh-CN" altLang="en-US"/>
              <a:t>算术左移：以</a:t>
            </a:r>
            <a:r>
              <a:rPr lang="en-US" altLang="zh-CN"/>
              <a:t>0</a:t>
            </a:r>
            <a:r>
              <a:rPr lang="zh-CN" altLang="en-US"/>
              <a:t>填充移出的位；算术右移：以符号位填充移出的位</a:t>
            </a:r>
            <a:endParaRPr lang="en-US" altLang="zh-CN"/>
          </a:p>
          <a:p>
            <a:pPr marL="0" indent="0">
              <a:buNone/>
            </a:pPr>
            <a:r>
              <a:rPr lang="en-US" altLang="zh-CN" b="1"/>
              <a:t>SAL\SAR </a:t>
            </a:r>
            <a:r>
              <a:rPr lang="zh-CN" altLang="en-US" b="1"/>
              <a:t>目的操作数，移位位数</a:t>
            </a:r>
            <a:endParaRPr lang="en-US" altLang="zh-CN" b="1"/>
          </a:p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248" y="4406890"/>
            <a:ext cx="10223603" cy="88901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3008313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请写出</a:t>
            </a:r>
            <a:endParaRPr lang="en-US" altLang="zh-CN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            MOV     AL, 35h</a:t>
            </a:r>
          </a:p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            SHL       AL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，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</a:t>
            </a:r>
          </a:p>
          <a:p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的运算结果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" name="圆角矩形 5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</a:p>
        </p:txBody>
      </p:sp>
      <p:sp>
        <p:nvSpPr>
          <p:cNvPr id="12" name="文本框 11"/>
          <p:cNvSpPr txBox="1"/>
          <p:nvPr>
            <p:custDataLst>
              <p:tags r:id="rId4"/>
            </p:custDataLst>
          </p:nvPr>
        </p:nvSpPr>
        <p:spPr>
          <a:xfrm>
            <a:off x="1219200" y="635000"/>
            <a:ext cx="9753600" cy="487680"/>
          </a:xfrm>
          <a:prstGeom prst="rect">
            <a:avLst/>
          </a:prstGeom>
          <a:solidFill>
            <a:srgbClr val="FBFAEF">
              <a:alpha val="90000"/>
            </a:srgbClr>
          </a:solidFill>
        </p:spPr>
        <p:txBody>
          <a:bodyPr vert="horz" wrap="none" rtlCol="0" anchor="ctr" anchorCtr="1">
            <a:noAutofit/>
          </a:bodyPr>
          <a:lstStyle/>
          <a:p>
            <a:r>
              <a:rPr lang="zh-CN" altLang="en-US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此题未设置答案，请点击右侧设置按钮</a:t>
            </a:r>
          </a:p>
        </p:txBody>
      </p:sp>
      <p:sp>
        <p:nvSpPr>
          <p:cNvPr id="13" name="矩形 12" hidden="1"/>
          <p:cNvSpPr/>
          <p:nvPr>
            <p:custDataLst>
              <p:tags r:id="rId5"/>
            </p:custDataLst>
          </p:nvPr>
        </p:nvSpPr>
        <p:spPr>
          <a:xfrm>
            <a:off x="12573000" y="0"/>
            <a:ext cx="3840480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8" name="文本框 17" hidden="1"/>
          <p:cNvSpPr txBox="1"/>
          <p:nvPr>
            <p:custDataLst>
              <p:tags r:id="rId6"/>
            </p:custDataLst>
          </p:nvPr>
        </p:nvSpPr>
        <p:spPr>
          <a:xfrm>
            <a:off x="12661900" y="6326832"/>
            <a:ext cx="366268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可为此题添加文本、图片、公式等解析，且需将内容全部放在本区域内。</a:t>
            </a:r>
          </a:p>
        </p:txBody>
      </p:sp>
      <p:sp>
        <p:nvSpPr>
          <p:cNvPr id="19" name="文本框 18" hidden="1"/>
          <p:cNvSpPr txBox="1"/>
          <p:nvPr>
            <p:custDataLst>
              <p:tags r:id="rId7"/>
            </p:custDataLst>
          </p:nvPr>
        </p:nvSpPr>
        <p:spPr>
          <a:xfrm>
            <a:off x="12674600" y="635000"/>
            <a:ext cx="3332480" cy="40011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A8H</a:t>
            </a: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0" name="矩形 19" hidden="1"/>
          <p:cNvSpPr/>
          <p:nvPr>
            <p:custDataLst>
              <p:tags r:id="rId8"/>
            </p:custDataLst>
          </p:nvPr>
        </p:nvSpPr>
        <p:spPr>
          <a:xfrm>
            <a:off x="12573000" y="0"/>
            <a:ext cx="3840480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17" name="组合 16" hidden="1"/>
          <p:cNvGrpSpPr/>
          <p:nvPr>
            <p:custDataLst>
              <p:tags r:id="rId9"/>
            </p:custDataLst>
          </p:nvPr>
        </p:nvGrpSpPr>
        <p:grpSpPr>
          <a:xfrm>
            <a:off x="12585700" y="0"/>
            <a:ext cx="3815080" cy="647700"/>
            <a:chOff x="12585700" y="0"/>
            <a:chExt cx="3815080" cy="647700"/>
          </a:xfrm>
        </p:grpSpPr>
        <p:sp>
          <p:nvSpPr>
            <p:cNvPr id="14" name="RemarkBack" hidden="1"/>
            <p:cNvSpPr/>
            <p:nvPr>
              <p:custDataLst>
                <p:tags r:id="rId16"/>
              </p:custDataLst>
            </p:nvPr>
          </p:nvSpPr>
          <p:spPr>
            <a:xfrm>
              <a:off x="12585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RemarkBlock" hidden="1"/>
            <p:cNvSpPr/>
            <p:nvPr>
              <p:custDataLst>
                <p:tags r:id="rId17"/>
              </p:custDataLst>
            </p:nvPr>
          </p:nvSpPr>
          <p:spPr>
            <a:xfrm>
              <a:off x="12585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RemarkTitleText" hidden="1"/>
            <p:cNvSpPr txBox="1"/>
            <p:nvPr>
              <p:custDataLst>
                <p:tags r:id="rId18"/>
              </p:custDataLst>
            </p:nvPr>
          </p:nvSpPr>
          <p:spPr>
            <a:xfrm>
              <a:off x="12827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答案解析</a:t>
              </a:r>
            </a:p>
          </p:txBody>
        </p:sp>
      </p:grpSp>
      <p:grpSp>
        <p:nvGrpSpPr>
          <p:cNvPr id="11" name="组合 10"/>
          <p:cNvGrpSpPr/>
          <p:nvPr>
            <p:custDataLst>
              <p:tags r:id="rId10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7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填空题</a:t>
              </a:r>
            </a:p>
          </p:txBody>
        </p:sp>
        <p:sp>
          <p:nvSpPr>
            <p:cNvPr id="10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0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/>
          <p:cNvPicPr/>
          <p:nvPr>
            <p:custDataLst>
              <p:tags r:id="rId11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3008313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请写出</a:t>
            </a:r>
            <a:endParaRPr lang="en-US" altLang="zh-CN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            MOV     AL, 0B5h</a:t>
            </a:r>
          </a:p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            SAR       AL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，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</a:t>
            </a:r>
          </a:p>
          <a:p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的运算结果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" name="圆角矩形 5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</a:p>
        </p:txBody>
      </p:sp>
      <p:sp>
        <p:nvSpPr>
          <p:cNvPr id="12" name="文本框 11"/>
          <p:cNvSpPr txBox="1"/>
          <p:nvPr>
            <p:custDataLst>
              <p:tags r:id="rId4"/>
            </p:custDataLst>
          </p:nvPr>
        </p:nvSpPr>
        <p:spPr>
          <a:xfrm>
            <a:off x="1219200" y="635000"/>
            <a:ext cx="9753600" cy="487680"/>
          </a:xfrm>
          <a:prstGeom prst="rect">
            <a:avLst/>
          </a:prstGeom>
          <a:solidFill>
            <a:srgbClr val="FBFAEF">
              <a:alpha val="90000"/>
            </a:srgbClr>
          </a:solidFill>
        </p:spPr>
        <p:txBody>
          <a:bodyPr vert="horz" wrap="none" rtlCol="0" anchor="ctr" anchorCtr="1">
            <a:noAutofit/>
          </a:bodyPr>
          <a:lstStyle/>
          <a:p>
            <a:r>
              <a:rPr lang="zh-CN" altLang="en-US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此题未设置答案，请点击右侧设置按钮</a:t>
            </a:r>
          </a:p>
        </p:txBody>
      </p:sp>
      <p:sp>
        <p:nvSpPr>
          <p:cNvPr id="13" name="矩形 12" hidden="1"/>
          <p:cNvSpPr/>
          <p:nvPr>
            <p:custDataLst>
              <p:tags r:id="rId5"/>
            </p:custDataLst>
          </p:nvPr>
        </p:nvSpPr>
        <p:spPr>
          <a:xfrm>
            <a:off x="12573000" y="0"/>
            <a:ext cx="3840480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8" name="文本框 17" hidden="1"/>
          <p:cNvSpPr txBox="1"/>
          <p:nvPr>
            <p:custDataLst>
              <p:tags r:id="rId6"/>
            </p:custDataLst>
          </p:nvPr>
        </p:nvSpPr>
        <p:spPr>
          <a:xfrm>
            <a:off x="12661900" y="6326832"/>
            <a:ext cx="366268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可为此题添加文本、图片、公式等解析，且需将内容全部放在本区域内。</a:t>
            </a:r>
          </a:p>
        </p:txBody>
      </p:sp>
      <p:sp>
        <p:nvSpPr>
          <p:cNvPr id="19" name="文本框 18" hidden="1"/>
          <p:cNvSpPr txBox="1"/>
          <p:nvPr>
            <p:custDataLst>
              <p:tags r:id="rId7"/>
            </p:custDataLst>
          </p:nvPr>
        </p:nvSpPr>
        <p:spPr>
          <a:xfrm>
            <a:off x="12674600" y="635000"/>
            <a:ext cx="3332480" cy="40011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A8H</a:t>
            </a: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0" name="矩形 19" hidden="1"/>
          <p:cNvSpPr/>
          <p:nvPr>
            <p:custDataLst>
              <p:tags r:id="rId8"/>
            </p:custDataLst>
          </p:nvPr>
        </p:nvSpPr>
        <p:spPr>
          <a:xfrm>
            <a:off x="12573000" y="0"/>
            <a:ext cx="3840480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17" name="组合 16" hidden="1"/>
          <p:cNvGrpSpPr/>
          <p:nvPr>
            <p:custDataLst>
              <p:tags r:id="rId9"/>
            </p:custDataLst>
          </p:nvPr>
        </p:nvGrpSpPr>
        <p:grpSpPr>
          <a:xfrm>
            <a:off x="12585700" y="0"/>
            <a:ext cx="3815080" cy="647700"/>
            <a:chOff x="12585700" y="0"/>
            <a:chExt cx="3815080" cy="647700"/>
          </a:xfrm>
        </p:grpSpPr>
        <p:sp>
          <p:nvSpPr>
            <p:cNvPr id="14" name="RemarkBack" hidden="1"/>
            <p:cNvSpPr/>
            <p:nvPr>
              <p:custDataLst>
                <p:tags r:id="rId16"/>
              </p:custDataLst>
            </p:nvPr>
          </p:nvSpPr>
          <p:spPr>
            <a:xfrm>
              <a:off x="12585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RemarkBlock" hidden="1"/>
            <p:cNvSpPr/>
            <p:nvPr>
              <p:custDataLst>
                <p:tags r:id="rId17"/>
              </p:custDataLst>
            </p:nvPr>
          </p:nvSpPr>
          <p:spPr>
            <a:xfrm>
              <a:off x="12585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RemarkTitleText" hidden="1"/>
            <p:cNvSpPr txBox="1"/>
            <p:nvPr>
              <p:custDataLst>
                <p:tags r:id="rId18"/>
              </p:custDataLst>
            </p:nvPr>
          </p:nvSpPr>
          <p:spPr>
            <a:xfrm>
              <a:off x="12827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答案解析</a:t>
              </a:r>
            </a:p>
          </p:txBody>
        </p:sp>
      </p:grpSp>
      <p:grpSp>
        <p:nvGrpSpPr>
          <p:cNvPr id="11" name="组合 10"/>
          <p:cNvGrpSpPr/>
          <p:nvPr>
            <p:custDataLst>
              <p:tags r:id="rId10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7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填空题</a:t>
              </a:r>
            </a:p>
          </p:txBody>
        </p:sp>
        <p:sp>
          <p:nvSpPr>
            <p:cNvPr id="10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0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/>
          <p:cNvPicPr/>
          <p:nvPr>
            <p:custDataLst>
              <p:tags r:id="rId11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循环移位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838200" y="1690688"/>
            <a:ext cx="10718800" cy="5065712"/>
          </a:xfrm>
        </p:spPr>
        <p:txBody>
          <a:bodyPr>
            <a:normAutofit/>
          </a:bodyPr>
          <a:lstStyle/>
          <a:p>
            <a:r>
              <a:rPr lang="zh-CN" altLang="en-US" b="1"/>
              <a:t>向左</a:t>
            </a:r>
            <a:r>
              <a:rPr lang="en-US" altLang="zh-CN" b="1"/>
              <a:t>\</a:t>
            </a:r>
            <a:r>
              <a:rPr lang="zh-CN" altLang="en-US" b="1"/>
              <a:t>右循环移位后，把最高</a:t>
            </a:r>
            <a:r>
              <a:rPr lang="en-US" altLang="zh-CN" b="1"/>
              <a:t>\</a:t>
            </a:r>
            <a:r>
              <a:rPr lang="zh-CN" altLang="en-US" b="1"/>
              <a:t>低位同时复制到进位标志和移出位中</a:t>
            </a:r>
            <a:endParaRPr lang="en-US" altLang="zh-CN" b="1"/>
          </a:p>
          <a:p>
            <a:pPr lvl="1"/>
            <a:r>
              <a:rPr lang="zh-CN" altLang="en-US" b="1"/>
              <a:t>循环左移利用</a:t>
            </a:r>
            <a:r>
              <a:rPr lang="en-US" altLang="zh-CN" b="1"/>
              <a:t>ROL</a:t>
            </a:r>
            <a:r>
              <a:rPr lang="zh-CN" altLang="en-US" b="1"/>
              <a:t>实现</a:t>
            </a:r>
            <a:endParaRPr lang="en-US" altLang="zh-CN" b="1"/>
          </a:p>
          <a:p>
            <a:pPr lvl="1"/>
            <a:endParaRPr lang="en-US" altLang="zh-CN" b="1"/>
          </a:p>
          <a:p>
            <a:pPr lvl="1"/>
            <a:endParaRPr lang="en-US" altLang="zh-CN" b="1"/>
          </a:p>
          <a:p>
            <a:pPr lvl="1"/>
            <a:r>
              <a:rPr lang="zh-CN" altLang="en-US" b="1"/>
              <a:t>循环右移利用</a:t>
            </a:r>
            <a:r>
              <a:rPr lang="en-US" altLang="zh-CN" b="1"/>
              <a:t>ROR</a:t>
            </a:r>
            <a:r>
              <a:rPr lang="zh-CN" altLang="en-US" b="1"/>
              <a:t>实现</a:t>
            </a:r>
            <a:endParaRPr lang="en-US" altLang="zh-CN" b="1"/>
          </a:p>
          <a:p>
            <a:pPr lvl="1"/>
            <a:endParaRPr lang="en-US" altLang="zh-CN" b="1"/>
          </a:p>
          <a:p>
            <a:pPr lvl="1"/>
            <a:endParaRPr lang="en-US" altLang="zh-CN" b="1"/>
          </a:p>
          <a:p>
            <a:pPr lvl="1"/>
            <a:r>
              <a:rPr lang="zh-CN" altLang="en-US" b="1">
                <a:solidFill>
                  <a:srgbClr val="FF0000"/>
                </a:solidFill>
              </a:rPr>
              <a:t>此外，还有</a:t>
            </a:r>
            <a:r>
              <a:rPr lang="en-US" altLang="zh-CN" b="1">
                <a:solidFill>
                  <a:srgbClr val="FF0000"/>
                </a:solidFill>
              </a:rPr>
              <a:t>RCL</a:t>
            </a:r>
            <a:r>
              <a:rPr lang="zh-CN" altLang="en-US" b="1">
                <a:solidFill>
                  <a:srgbClr val="FF0000"/>
                </a:solidFill>
              </a:rPr>
              <a:t>和</a:t>
            </a:r>
            <a:r>
              <a:rPr lang="en-US" altLang="zh-CN" b="1">
                <a:solidFill>
                  <a:srgbClr val="FF0000"/>
                </a:solidFill>
              </a:rPr>
              <a:t>RCR</a:t>
            </a:r>
            <a:r>
              <a:rPr lang="zh-CN" altLang="en-US" b="1">
                <a:solidFill>
                  <a:srgbClr val="FF0000"/>
                </a:solidFill>
              </a:rPr>
              <a:t>的变种（自学）</a:t>
            </a:r>
            <a:endParaRPr lang="en-US" altLang="zh-CN" b="1">
              <a:solidFill>
                <a:srgbClr val="FF0000"/>
              </a:solidFill>
            </a:endParaRPr>
          </a:p>
          <a:p>
            <a:pPr lvl="1"/>
            <a:endParaRPr lang="en-US" altLang="zh-CN" b="1"/>
          </a:p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0993" y="4961699"/>
            <a:ext cx="7078826" cy="101286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0993" y="3140864"/>
            <a:ext cx="6612165" cy="1036611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3533" y="827619"/>
            <a:ext cx="10515600" cy="784224"/>
          </a:xfrm>
        </p:spPr>
        <p:txBody>
          <a:bodyPr/>
          <a:lstStyle/>
          <a:p>
            <a:r>
              <a:rPr lang="zh-CN" altLang="en-US"/>
              <a:t>快速二进制乘法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838200" y="1690688"/>
            <a:ext cx="10718800" cy="5065712"/>
          </a:xfrm>
        </p:spPr>
        <p:txBody>
          <a:bodyPr>
            <a:normAutofit/>
          </a:bodyPr>
          <a:lstStyle/>
          <a:p>
            <a:r>
              <a:rPr lang="zh-CN" altLang="en-US" b="1"/>
              <a:t>可以利用逻辑移位实现快速乘法，相比较</a:t>
            </a:r>
            <a:r>
              <a:rPr lang="en-US" altLang="zh-CN" b="1"/>
              <a:t>MUL\IMUL</a:t>
            </a:r>
            <a:r>
              <a:rPr lang="zh-CN" altLang="en-US" b="1"/>
              <a:t>指令，执行速度更快</a:t>
            </a:r>
            <a:endParaRPr lang="en-US" altLang="zh-CN" b="1"/>
          </a:p>
          <a:p>
            <a:pPr marL="0" indent="0">
              <a:buNone/>
            </a:pPr>
            <a:r>
              <a:rPr lang="zh-CN" altLang="en-US" b="1"/>
              <a:t>例如：实现</a:t>
            </a:r>
            <a:r>
              <a:rPr lang="en-US" altLang="zh-CN" b="1"/>
              <a:t>EAX*36 = EAX*32+ EAX*4</a:t>
            </a:r>
          </a:p>
          <a:p>
            <a:pPr lvl="1"/>
            <a:endParaRPr lang="en-US" altLang="zh-CN" b="1"/>
          </a:p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722" y="3962374"/>
            <a:ext cx="6942749" cy="2082825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请写出实现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EAX*50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的汇编代码</a:t>
            </a:r>
          </a:p>
        </p:txBody>
      </p:sp>
      <p:sp>
        <p:nvSpPr>
          <p:cNvPr id="4" name="圆角矩形 3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</a:p>
        </p:txBody>
      </p:sp>
      <p:grpSp>
        <p:nvGrpSpPr>
          <p:cNvPr id="9" name="组合 8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主观题</a:t>
              </a:r>
            </a:p>
          </p:txBody>
        </p:sp>
        <p:sp>
          <p:nvSpPr>
            <p:cNvPr id="8" name="TipText"/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2" name="图片 1"/>
          <p:cNvPicPr/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285752"/>
            <a:ext cx="10515600" cy="784224"/>
          </a:xfrm>
        </p:spPr>
        <p:txBody>
          <a:bodyPr/>
          <a:lstStyle/>
          <a:p>
            <a:r>
              <a:rPr lang="zh-CN" altLang="en-US"/>
              <a:t>无符号乘法指令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838200" y="1050397"/>
            <a:ext cx="10718800" cy="5065712"/>
          </a:xfrm>
        </p:spPr>
        <p:txBody>
          <a:bodyPr>
            <a:normAutofit/>
          </a:bodyPr>
          <a:lstStyle/>
          <a:p>
            <a:r>
              <a:rPr lang="zh-CN" altLang="en-US" b="1"/>
              <a:t>乘法：</a:t>
            </a:r>
            <a:r>
              <a:rPr lang="en-US" altLang="zh-CN" b="1"/>
              <a:t>MUL</a:t>
            </a:r>
            <a:r>
              <a:rPr lang="zh-CN" altLang="en-US" b="1"/>
              <a:t>无符号乘法指令，乘数与被乘数具有相同尺寸，乘积是乘数</a:t>
            </a:r>
            <a:r>
              <a:rPr lang="en-US" altLang="zh-CN" b="1"/>
              <a:t>/</a:t>
            </a:r>
            <a:r>
              <a:rPr lang="zh-CN" altLang="en-US" b="1"/>
              <a:t>被乘数的</a:t>
            </a:r>
            <a:r>
              <a:rPr lang="en-US" altLang="zh-CN" b="1"/>
              <a:t>2</a:t>
            </a:r>
            <a:r>
              <a:rPr lang="zh-CN" altLang="en-US" b="1"/>
              <a:t>倍</a:t>
            </a:r>
            <a:endParaRPr lang="en-US" altLang="zh-CN" b="1"/>
          </a:p>
          <a:p>
            <a:pPr lvl="1"/>
            <a:r>
              <a:rPr lang="zh-CN" altLang="en-US" b="1"/>
              <a:t> 接受一个操作数（即乘数）：寄存器操作数、内存操作数均可，但</a:t>
            </a:r>
            <a:r>
              <a:rPr lang="zh-CN" altLang="en-US" b="1">
                <a:solidFill>
                  <a:srgbClr val="FF0000"/>
                </a:solidFill>
              </a:rPr>
              <a:t>不能是立即数。</a:t>
            </a:r>
            <a:r>
              <a:rPr lang="zh-CN" altLang="en-US" b="1"/>
              <a:t>另一个隐含操作数，即</a:t>
            </a:r>
            <a:r>
              <a:rPr lang="zh-CN" altLang="en-US" b="1">
                <a:solidFill>
                  <a:srgbClr val="FF0000"/>
                </a:solidFill>
              </a:rPr>
              <a:t>被乘数是</a:t>
            </a:r>
            <a:r>
              <a:rPr lang="en-US" altLang="zh-CN" b="1">
                <a:solidFill>
                  <a:srgbClr val="FF0000"/>
                </a:solidFill>
              </a:rPr>
              <a:t>EAX</a:t>
            </a:r>
            <a:r>
              <a:rPr lang="zh-CN" altLang="en-US" b="1"/>
              <a:t>。</a:t>
            </a:r>
            <a:endParaRPr lang="en-US" altLang="zh-CN" b="1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sz="2000" b="1"/>
              <a:t>         MUL r/m8</a:t>
            </a:r>
          </a:p>
          <a:p>
            <a:pPr marL="0" indent="0">
              <a:buNone/>
            </a:pPr>
            <a:r>
              <a:rPr lang="en-US" altLang="zh-CN" sz="2000" b="1"/>
              <a:t>         MUL r/m16</a:t>
            </a:r>
          </a:p>
          <a:p>
            <a:pPr marL="0" indent="0">
              <a:buNone/>
            </a:pPr>
            <a:r>
              <a:rPr lang="en-US" altLang="zh-CN" sz="2000" b="1"/>
              <a:t>         MUL r/m32</a:t>
            </a:r>
          </a:p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8375" y="4002329"/>
            <a:ext cx="7400975" cy="1186416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894667" y="5571067"/>
            <a:ext cx="56291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>
                <a:solidFill>
                  <a:srgbClr val="FF0000"/>
                </a:solidFill>
              </a:rPr>
              <a:t>16\32</a:t>
            </a:r>
            <a:r>
              <a:rPr lang="zh-CN" altLang="en-US" sz="2400" b="1">
                <a:solidFill>
                  <a:srgbClr val="FF0000"/>
                </a:solidFill>
              </a:rPr>
              <a:t>位乘数，其乘积高位存于</a:t>
            </a:r>
            <a:r>
              <a:rPr lang="en-US" altLang="zh-CN" sz="2400" b="1">
                <a:solidFill>
                  <a:srgbClr val="FF0000"/>
                </a:solidFill>
              </a:rPr>
              <a:t>DX\EDX</a:t>
            </a:r>
            <a:r>
              <a:rPr lang="zh-CN" altLang="en-US" sz="2400" b="1">
                <a:solidFill>
                  <a:srgbClr val="FF0000"/>
                </a:solidFill>
              </a:rPr>
              <a:t>中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3533" y="827619"/>
            <a:ext cx="10515600" cy="784224"/>
          </a:xfrm>
        </p:spPr>
        <p:txBody>
          <a:bodyPr/>
          <a:lstStyle/>
          <a:p>
            <a:r>
              <a:rPr lang="zh-CN" altLang="en-US"/>
              <a:t>有符号乘法指令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838200" y="1690688"/>
            <a:ext cx="10718800" cy="5065712"/>
          </a:xfrm>
        </p:spPr>
        <p:txBody>
          <a:bodyPr>
            <a:normAutofit/>
          </a:bodyPr>
          <a:lstStyle/>
          <a:p>
            <a:pPr lvl="1"/>
            <a:r>
              <a:rPr lang="zh-CN" altLang="en-US" b="1"/>
              <a:t>乘法：</a:t>
            </a:r>
            <a:r>
              <a:rPr lang="en-US" altLang="zh-CN" b="1"/>
              <a:t>IMUL</a:t>
            </a:r>
            <a:r>
              <a:rPr lang="zh-CN" altLang="en-US" b="1"/>
              <a:t>有符号乘法指令，用法与</a:t>
            </a:r>
            <a:r>
              <a:rPr lang="en-US" altLang="zh-CN" b="1"/>
              <a:t>MUL</a:t>
            </a:r>
            <a:r>
              <a:rPr lang="zh-CN" altLang="en-US" b="1"/>
              <a:t>相似。 除了单操作数，还支持双、三操作数</a:t>
            </a:r>
            <a:endParaRPr lang="en-US" altLang="zh-CN" b="1"/>
          </a:p>
          <a:p>
            <a:pPr lvl="1"/>
            <a:r>
              <a:rPr lang="zh-CN" altLang="en-US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单操作数：结果存于</a:t>
            </a:r>
            <a:r>
              <a:rPr lang="en-US" altLang="zh-CN" b="1">
                <a:solidFill>
                  <a:srgbClr val="FF0000"/>
                </a:solidFill>
                <a:ea typeface="隶书" panose="02010509060101010101" pitchFamily="49" charset="-122"/>
              </a:rPr>
              <a:t>EAX</a:t>
            </a:r>
            <a:r>
              <a:rPr lang="zh-CN" altLang="en-US" b="1">
                <a:solidFill>
                  <a:srgbClr val="FF0000"/>
                </a:solidFill>
                <a:ea typeface="隶书" panose="02010509060101010101" pitchFamily="49" charset="-122"/>
              </a:rPr>
              <a:t>或</a:t>
            </a:r>
            <a:r>
              <a:rPr lang="en-US" altLang="zh-CN" b="1">
                <a:solidFill>
                  <a:srgbClr val="FF0000"/>
                </a:solidFill>
                <a:ea typeface="隶书" panose="02010509060101010101" pitchFamily="49" charset="-122"/>
              </a:rPr>
              <a:t>EDX:EAX</a:t>
            </a:r>
            <a:r>
              <a:rPr lang="zh-CN" altLang="en-US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中</a:t>
            </a:r>
            <a:endParaRPr lang="zh-CN" altLang="en-US">
              <a:solidFill>
                <a:srgbClr val="FF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5674" y="3394859"/>
            <a:ext cx="8732006" cy="85513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6864" y="5088618"/>
            <a:ext cx="2005660" cy="829156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351" y="5121132"/>
            <a:ext cx="1779328" cy="764129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1677" y="5132470"/>
            <a:ext cx="2778922" cy="648823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35282" y="5188589"/>
            <a:ext cx="2508685" cy="539147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613517" y="4671231"/>
            <a:ext cx="46281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双操作数：结果存于第</a:t>
            </a:r>
            <a:r>
              <a:rPr lang="en-US" altLang="zh-CN" sz="240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1</a:t>
            </a:r>
            <a:r>
              <a:rPr lang="zh-CN" altLang="en-US" sz="240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操作数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sz="2400">
              <a:solidFill>
                <a:srgbClr val="FF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890944" y="4671231"/>
            <a:ext cx="46281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三操作数：结果存于第</a:t>
            </a:r>
            <a:r>
              <a:rPr lang="en-US" altLang="zh-CN" sz="240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1</a:t>
            </a:r>
            <a:r>
              <a:rPr lang="zh-CN" altLang="en-US" sz="240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操作数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3533" y="827619"/>
            <a:ext cx="10515600" cy="784224"/>
          </a:xfrm>
        </p:spPr>
        <p:txBody>
          <a:bodyPr/>
          <a:lstStyle/>
          <a:p>
            <a:r>
              <a:rPr lang="zh-CN" altLang="en-US"/>
              <a:t>无符号除法指令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838200" y="1690688"/>
            <a:ext cx="10718800" cy="5065712"/>
          </a:xfrm>
        </p:spPr>
        <p:txBody>
          <a:bodyPr>
            <a:normAutofit/>
          </a:bodyPr>
          <a:lstStyle/>
          <a:p>
            <a:r>
              <a:rPr lang="zh-CN" altLang="en-US" b="1"/>
              <a:t>除法：</a:t>
            </a:r>
            <a:r>
              <a:rPr lang="en-US" altLang="zh-CN" b="1"/>
              <a:t>DIV</a:t>
            </a:r>
            <a:r>
              <a:rPr lang="zh-CN" altLang="en-US" b="1"/>
              <a:t>无符号除法指令，与</a:t>
            </a:r>
            <a:r>
              <a:rPr lang="en-US" altLang="zh-CN" b="1"/>
              <a:t>MUL</a:t>
            </a:r>
            <a:r>
              <a:rPr lang="zh-CN" altLang="en-US" b="1"/>
              <a:t>类似，唯一操作数为除数，只能为寄存器或内存。</a:t>
            </a:r>
            <a:endParaRPr lang="en-US" altLang="zh-CN" b="1"/>
          </a:p>
          <a:p>
            <a:r>
              <a:rPr lang="zh-CN" altLang="en-US" b="1"/>
              <a:t>结果分为商和余数，商一般存入</a:t>
            </a:r>
            <a:r>
              <a:rPr lang="en-US" altLang="zh-CN" b="1"/>
              <a:t>EAX</a:t>
            </a:r>
            <a:r>
              <a:rPr lang="zh-CN" altLang="en-US" b="1"/>
              <a:t>，余数存入</a:t>
            </a:r>
            <a:r>
              <a:rPr lang="en-US" altLang="zh-CN" b="1"/>
              <a:t>AH</a:t>
            </a:r>
            <a:r>
              <a:rPr lang="zh-CN" altLang="en-US" b="1"/>
              <a:t>或</a:t>
            </a:r>
            <a:r>
              <a:rPr lang="en-US" altLang="zh-CN" b="1"/>
              <a:t>EDX</a:t>
            </a:r>
          </a:p>
          <a:p>
            <a:r>
              <a:rPr lang="zh-CN" altLang="en-US" b="1"/>
              <a:t> </a:t>
            </a:r>
            <a:endParaRPr lang="en-US" altLang="zh-CN" b="1"/>
          </a:p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556" y="4455747"/>
            <a:ext cx="2416586" cy="1350446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7497" y="4541844"/>
            <a:ext cx="7154777" cy="1178252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3533" y="827619"/>
            <a:ext cx="10515600" cy="784224"/>
          </a:xfrm>
        </p:spPr>
        <p:txBody>
          <a:bodyPr/>
          <a:lstStyle/>
          <a:p>
            <a:r>
              <a:rPr lang="zh-CN" altLang="en-US"/>
              <a:t>有符号除法指令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753533" y="1953155"/>
            <a:ext cx="10718800" cy="3313112"/>
          </a:xfrm>
        </p:spPr>
        <p:txBody>
          <a:bodyPr>
            <a:normAutofit/>
          </a:bodyPr>
          <a:lstStyle/>
          <a:p>
            <a:r>
              <a:rPr lang="zh-CN" altLang="en-US" b="1"/>
              <a:t>除法：</a:t>
            </a:r>
            <a:r>
              <a:rPr lang="en-US" altLang="zh-CN" b="1"/>
              <a:t>IDIV</a:t>
            </a:r>
            <a:r>
              <a:rPr lang="zh-CN" altLang="en-US" b="1"/>
              <a:t>有符号除法指令，余数的符号与被除数保持一致</a:t>
            </a:r>
            <a:endParaRPr lang="en-US" altLang="zh-CN" b="1"/>
          </a:p>
          <a:p>
            <a:r>
              <a:rPr lang="zh-CN" altLang="en-US" b="1"/>
              <a:t>符号扩展：需要对被除数进行符号扩展，</a:t>
            </a:r>
            <a:r>
              <a:rPr lang="en-US" altLang="zh-CN" b="1"/>
              <a:t>8</a:t>
            </a:r>
            <a:r>
              <a:rPr lang="zh-CN" altLang="en-US" b="1"/>
              <a:t>位除法扩展至</a:t>
            </a:r>
            <a:r>
              <a:rPr lang="en-US" altLang="zh-CN" b="1"/>
              <a:t>AH</a:t>
            </a:r>
            <a:r>
              <a:rPr lang="zh-CN" altLang="en-US" b="1"/>
              <a:t>，</a:t>
            </a:r>
            <a:r>
              <a:rPr lang="en-US" altLang="zh-CN" b="1"/>
              <a:t>16</a:t>
            </a:r>
            <a:r>
              <a:rPr lang="zh-CN" altLang="en-US" b="1"/>
              <a:t>位除法扩展至</a:t>
            </a:r>
            <a:r>
              <a:rPr lang="en-US" altLang="zh-CN" b="1"/>
              <a:t>DX</a:t>
            </a:r>
            <a:r>
              <a:rPr lang="zh-CN" altLang="en-US" b="1"/>
              <a:t>，</a:t>
            </a:r>
            <a:r>
              <a:rPr lang="en-US" altLang="zh-CN" b="1"/>
              <a:t>32</a:t>
            </a:r>
            <a:r>
              <a:rPr lang="zh-CN" altLang="en-US" b="1"/>
              <a:t>位除法扩展至</a:t>
            </a:r>
            <a:r>
              <a:rPr lang="en-US" altLang="zh-CN" b="1"/>
              <a:t>EDX</a:t>
            </a:r>
          </a:p>
          <a:p>
            <a:r>
              <a:rPr lang="zh-CN" altLang="en-US" b="1"/>
              <a:t>除法溢出：可能由于商太大导致除法溢出，会触发</a:t>
            </a:r>
            <a:r>
              <a:rPr lang="en-US" altLang="zh-CN" b="1"/>
              <a:t>CPU</a:t>
            </a:r>
            <a:r>
              <a:rPr lang="zh-CN" altLang="en-US" b="1"/>
              <a:t>中断</a:t>
            </a:r>
            <a:endParaRPr lang="en-US" altLang="zh-CN" b="1"/>
          </a:p>
          <a:p>
            <a:endParaRPr lang="zh-CN" alt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4727" y="2337582"/>
            <a:ext cx="6400800" cy="1143000"/>
          </a:xfrm>
        </p:spPr>
        <p:txBody>
          <a:bodyPr/>
          <a:lstStyle/>
          <a:p>
            <a:pPr algn="ctr"/>
            <a:r>
              <a:rPr lang="zh-CN" altLang="en-US" dirty="0"/>
              <a:t>过程的定义和使用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过程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C++</a:t>
            </a:r>
            <a:r>
              <a:rPr lang="zh-CN" altLang="en-US" dirty="0"/>
              <a:t>中的</a:t>
            </a:r>
            <a:r>
              <a:rPr lang="zh-CN" altLang="en-US" dirty="0">
                <a:solidFill>
                  <a:srgbClr val="FF0000"/>
                </a:solidFill>
              </a:rPr>
              <a:t>函数定义</a:t>
            </a:r>
            <a:endParaRPr lang="en-US" altLang="zh-CN" dirty="0">
              <a:solidFill>
                <a:srgbClr val="FF0000"/>
              </a:solidFill>
            </a:endParaRPr>
          </a:p>
          <a:p>
            <a:pPr marL="400050" lvl="1" indent="0">
              <a:buNone/>
            </a:pPr>
            <a:r>
              <a:rPr lang="en-US" altLang="zh-CN" dirty="0" err="1">
                <a:solidFill>
                  <a:srgbClr val="00B050"/>
                </a:solidFill>
              </a:rPr>
              <a:t>return_type</a:t>
            </a:r>
            <a:r>
              <a:rPr lang="en-US" altLang="zh-CN" dirty="0">
                <a:solidFill>
                  <a:srgbClr val="00B050"/>
                </a:solidFill>
              </a:rPr>
              <a:t> </a:t>
            </a:r>
            <a:r>
              <a:rPr lang="en-US" altLang="zh-CN" dirty="0" err="1">
                <a:solidFill>
                  <a:srgbClr val="FF0000"/>
                </a:solidFill>
              </a:rPr>
              <a:t>function_name</a:t>
            </a:r>
            <a:r>
              <a:rPr lang="en-US" altLang="zh-CN" dirty="0"/>
              <a:t>( </a:t>
            </a:r>
            <a:r>
              <a:rPr lang="en-US" altLang="zh-CN" dirty="0">
                <a:solidFill>
                  <a:srgbClr val="0070C0"/>
                </a:solidFill>
              </a:rPr>
              <a:t>parameter list </a:t>
            </a:r>
            <a:r>
              <a:rPr lang="en-US" altLang="zh-CN" dirty="0"/>
              <a:t>) {</a:t>
            </a:r>
          </a:p>
          <a:p>
            <a:pPr marL="800100" lvl="2" indent="0">
              <a:buNone/>
            </a:pPr>
            <a:r>
              <a:rPr lang="en-US" altLang="zh-CN" dirty="0"/>
              <a:t> </a:t>
            </a:r>
            <a:r>
              <a:rPr lang="en-US" altLang="zh-CN" sz="2800" dirty="0">
                <a:solidFill>
                  <a:srgbClr val="7030A0"/>
                </a:solidFill>
              </a:rPr>
              <a:t>body of the function </a:t>
            </a:r>
            <a:endParaRPr lang="en-US" altLang="zh-CN" dirty="0">
              <a:solidFill>
                <a:srgbClr val="7030A0"/>
              </a:solidFill>
            </a:endParaRPr>
          </a:p>
          <a:p>
            <a:pPr marL="400050" lvl="1" indent="0">
              <a:buNone/>
            </a:pPr>
            <a:r>
              <a:rPr lang="en-US" altLang="zh-CN" dirty="0"/>
              <a:t>}</a:t>
            </a:r>
            <a:endParaRPr lang="zh-CN" altLang="en-US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过程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atinLnBrk="1"/>
            <a:r>
              <a:rPr lang="zh-CN" altLang="en-US" sz="2800" b="1" dirty="0">
                <a:solidFill>
                  <a:srgbClr val="00B050"/>
                </a:solidFill>
              </a:rPr>
              <a:t>返回类型</a:t>
            </a:r>
            <a:r>
              <a:rPr lang="zh-CN" altLang="en-US" sz="2800" b="1" dirty="0"/>
              <a:t>：</a:t>
            </a:r>
            <a:r>
              <a:rPr lang="zh-CN" altLang="en-US" sz="2800" dirty="0"/>
              <a:t>一个函数可以返回一个值。</a:t>
            </a:r>
            <a:r>
              <a:rPr lang="en-US" altLang="zh-CN" sz="2800" b="1" dirty="0" err="1"/>
              <a:t>return_type</a:t>
            </a:r>
            <a:r>
              <a:rPr lang="zh-CN" altLang="en-US" sz="2800" dirty="0"/>
              <a:t> 是函数返回值的数据类型。</a:t>
            </a:r>
            <a:endParaRPr lang="en-US" altLang="zh-CN" sz="2800" dirty="0"/>
          </a:p>
          <a:p>
            <a:pPr latinLnBrk="1"/>
            <a:r>
              <a:rPr lang="zh-CN" altLang="en-US" sz="2800" b="1" dirty="0">
                <a:solidFill>
                  <a:srgbClr val="FF0000"/>
                </a:solidFill>
              </a:rPr>
              <a:t>函数名称</a:t>
            </a:r>
            <a:r>
              <a:rPr lang="zh-CN" altLang="en-US" sz="2800" b="1" dirty="0"/>
              <a:t>：</a:t>
            </a:r>
            <a:r>
              <a:rPr lang="zh-CN" altLang="en-US" sz="2800" dirty="0"/>
              <a:t>这是函数的实际名称。函数名和参数列表一起构成了</a:t>
            </a:r>
            <a:r>
              <a:rPr lang="zh-CN" altLang="en-US" sz="2800" dirty="0">
                <a:solidFill>
                  <a:srgbClr val="7030A0"/>
                </a:solidFill>
              </a:rPr>
              <a:t>函数签名</a:t>
            </a:r>
            <a:r>
              <a:rPr lang="zh-CN" altLang="en-US" sz="2800" dirty="0"/>
              <a:t>。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过程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atinLnBrk="1"/>
            <a:r>
              <a:rPr lang="zh-CN" altLang="en-US" b="1" dirty="0">
                <a:solidFill>
                  <a:srgbClr val="0070C0"/>
                </a:solidFill>
              </a:rPr>
              <a:t>参数</a:t>
            </a:r>
            <a:r>
              <a:rPr lang="zh-CN" altLang="en-US" b="1" dirty="0"/>
              <a:t>：</a:t>
            </a:r>
            <a:r>
              <a:rPr lang="zh-CN" altLang="en-US" dirty="0"/>
              <a:t>参数就像是占位符。当函数被调用时，向参数传递一个值，这个值被称为</a:t>
            </a:r>
            <a:r>
              <a:rPr lang="zh-CN" altLang="en-US" dirty="0">
                <a:solidFill>
                  <a:srgbClr val="FF0000"/>
                </a:solidFill>
              </a:rPr>
              <a:t>实际参数</a:t>
            </a:r>
            <a:r>
              <a:rPr lang="zh-CN" altLang="en-US" dirty="0"/>
              <a:t>。参数列表包括函数参数的类型、顺序、数量。</a:t>
            </a:r>
            <a:endParaRPr lang="en-US" altLang="zh-CN" dirty="0"/>
          </a:p>
          <a:p>
            <a:pPr latinLnBrk="1"/>
            <a:r>
              <a:rPr lang="zh-CN" altLang="en-US" b="1" dirty="0">
                <a:solidFill>
                  <a:srgbClr val="7030A0"/>
                </a:solidFill>
              </a:rPr>
              <a:t>函数主体</a:t>
            </a:r>
            <a:r>
              <a:rPr lang="zh-CN" altLang="en-US" b="1" dirty="0"/>
              <a:t>：</a:t>
            </a:r>
            <a:r>
              <a:rPr lang="zh-CN" altLang="en-US" dirty="0"/>
              <a:t>函数主体包含一组定义函数执行任务的语句。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过程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35189" y="1776550"/>
            <a:ext cx="7940675" cy="4305164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dirty="0">
                <a:solidFill>
                  <a:srgbClr val="00B050"/>
                </a:solidFill>
              </a:rPr>
              <a:t>int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max</a:t>
            </a:r>
            <a:r>
              <a:rPr lang="en-US" altLang="zh-CN" dirty="0">
                <a:solidFill>
                  <a:srgbClr val="0070C0"/>
                </a:solidFill>
              </a:rPr>
              <a:t>(int num1, int num2) </a:t>
            </a:r>
            <a:r>
              <a:rPr lang="en-US" altLang="zh-CN" dirty="0"/>
              <a:t>{ </a:t>
            </a:r>
          </a:p>
          <a:p>
            <a:pPr marL="400050" lvl="1" indent="0">
              <a:lnSpc>
                <a:spcPct val="100000"/>
              </a:lnSpc>
              <a:buNone/>
            </a:pPr>
            <a:r>
              <a:rPr lang="en-US" altLang="zh-CN" dirty="0">
                <a:solidFill>
                  <a:srgbClr val="7030A0"/>
                </a:solidFill>
              </a:rPr>
              <a:t>// </a:t>
            </a:r>
            <a:r>
              <a:rPr lang="zh-CN" altLang="en-US" dirty="0">
                <a:solidFill>
                  <a:srgbClr val="7030A0"/>
                </a:solidFill>
              </a:rPr>
              <a:t>局部变量声明 </a:t>
            </a:r>
            <a:endParaRPr lang="en-US" altLang="zh-CN" dirty="0">
              <a:solidFill>
                <a:srgbClr val="7030A0"/>
              </a:solidFill>
            </a:endParaRPr>
          </a:p>
          <a:p>
            <a:pPr marL="400050" lvl="1" indent="0">
              <a:lnSpc>
                <a:spcPct val="100000"/>
              </a:lnSpc>
              <a:buNone/>
            </a:pPr>
            <a:r>
              <a:rPr lang="en-US" altLang="zh-CN" dirty="0">
                <a:solidFill>
                  <a:srgbClr val="7030A0"/>
                </a:solidFill>
              </a:rPr>
              <a:t>int result; </a:t>
            </a:r>
          </a:p>
          <a:p>
            <a:pPr marL="400050" lvl="1" indent="0">
              <a:lnSpc>
                <a:spcPct val="100000"/>
              </a:lnSpc>
              <a:buNone/>
            </a:pPr>
            <a:r>
              <a:rPr lang="en-US" altLang="zh-CN" dirty="0">
                <a:solidFill>
                  <a:srgbClr val="7030A0"/>
                </a:solidFill>
              </a:rPr>
              <a:t>if (num1 &gt; num2) </a:t>
            </a:r>
          </a:p>
          <a:p>
            <a:pPr marL="400050" lvl="1" indent="0">
              <a:lnSpc>
                <a:spcPct val="100000"/>
              </a:lnSpc>
              <a:buNone/>
            </a:pPr>
            <a:r>
              <a:rPr lang="en-US" altLang="zh-CN" dirty="0">
                <a:solidFill>
                  <a:srgbClr val="7030A0"/>
                </a:solidFill>
              </a:rPr>
              <a:t>    result = num1; </a:t>
            </a:r>
          </a:p>
          <a:p>
            <a:pPr marL="400050" lvl="1" indent="0">
              <a:lnSpc>
                <a:spcPct val="100000"/>
              </a:lnSpc>
              <a:buNone/>
            </a:pPr>
            <a:r>
              <a:rPr lang="en-US" altLang="zh-CN" dirty="0">
                <a:solidFill>
                  <a:srgbClr val="7030A0"/>
                </a:solidFill>
              </a:rPr>
              <a:t>else </a:t>
            </a:r>
          </a:p>
          <a:p>
            <a:pPr marL="400050" lvl="1" indent="0">
              <a:lnSpc>
                <a:spcPct val="100000"/>
              </a:lnSpc>
              <a:buNone/>
            </a:pPr>
            <a:r>
              <a:rPr lang="en-US" altLang="zh-CN" dirty="0">
                <a:solidFill>
                  <a:srgbClr val="7030A0"/>
                </a:solidFill>
              </a:rPr>
              <a:t>    result = num2; </a:t>
            </a:r>
          </a:p>
          <a:p>
            <a:pPr marL="400050" lvl="1" indent="0">
              <a:lnSpc>
                <a:spcPct val="100000"/>
              </a:lnSpc>
              <a:buNone/>
            </a:pPr>
            <a:r>
              <a:rPr lang="en-US" altLang="zh-CN" dirty="0">
                <a:solidFill>
                  <a:srgbClr val="7030A0"/>
                </a:solidFill>
              </a:rPr>
              <a:t>return result;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}</a:t>
            </a:r>
            <a:endParaRPr lang="zh-CN" altLang="en-US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24113" y="735979"/>
            <a:ext cx="7345362" cy="868363"/>
          </a:xfrm>
        </p:spPr>
        <p:txBody>
          <a:bodyPr/>
          <a:lstStyle/>
          <a:p>
            <a:r>
              <a:rPr lang="zh-CN" altLang="en-US" dirty="0"/>
              <a:t>过程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35189" y="1493625"/>
            <a:ext cx="7940675" cy="4666186"/>
          </a:xfrm>
        </p:spPr>
        <p:txBody>
          <a:bodyPr/>
          <a:lstStyle/>
          <a:p>
            <a:r>
              <a:rPr lang="zh-CN" altLang="en-US" dirty="0"/>
              <a:t>汇编语言中，一般使用术语“</a:t>
            </a:r>
            <a:r>
              <a:rPr lang="zh-CN" altLang="en-US" b="1" dirty="0">
                <a:solidFill>
                  <a:srgbClr val="FF0000"/>
                </a:solidFill>
              </a:rPr>
              <a:t>过程</a:t>
            </a:r>
            <a:r>
              <a:rPr lang="zh-CN" altLang="en-US" dirty="0"/>
              <a:t>”（</a:t>
            </a:r>
            <a:r>
              <a:rPr lang="en-US" altLang="zh-CN" dirty="0"/>
              <a:t>procedure</a:t>
            </a:r>
            <a:r>
              <a:rPr lang="zh-CN" altLang="en-US" dirty="0"/>
              <a:t>）表示高级语言中的函数、方法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0070C0"/>
                </a:solidFill>
              </a:rPr>
              <a:t>函数</a:t>
            </a:r>
            <a:r>
              <a:rPr lang="zh-CN" altLang="en-US" dirty="0"/>
              <a:t>（</a:t>
            </a:r>
            <a:r>
              <a:rPr lang="en-US" altLang="zh-CN" dirty="0"/>
              <a:t>function</a:t>
            </a:r>
            <a:r>
              <a:rPr lang="zh-CN" altLang="en-US" dirty="0"/>
              <a:t>），</a:t>
            </a:r>
            <a:r>
              <a:rPr lang="en-US" altLang="zh-CN" dirty="0"/>
              <a:t>C/C++</a:t>
            </a:r>
            <a:r>
              <a:rPr lang="zh-CN" altLang="en-US" dirty="0"/>
              <a:t>中称为函数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0070C0"/>
                </a:solidFill>
              </a:rPr>
              <a:t>方法</a:t>
            </a:r>
            <a:r>
              <a:rPr lang="zh-CN" altLang="en-US" dirty="0"/>
              <a:t>（</a:t>
            </a:r>
            <a:r>
              <a:rPr lang="en-US" altLang="zh-CN" dirty="0"/>
              <a:t>method</a:t>
            </a:r>
            <a:r>
              <a:rPr lang="zh-CN" altLang="en-US" dirty="0"/>
              <a:t>），</a:t>
            </a:r>
            <a:r>
              <a:rPr lang="en-US" altLang="zh-CN" dirty="0"/>
              <a:t>JAVA</a:t>
            </a:r>
            <a:r>
              <a:rPr lang="zh-CN" altLang="en-US" dirty="0"/>
              <a:t>中称为方法</a:t>
            </a:r>
            <a:endParaRPr lang="en-US" altLang="zh-CN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过程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汇编语言</a:t>
            </a:r>
            <a:r>
              <a:rPr lang="zh-CN" altLang="en-US" dirty="0">
                <a:solidFill>
                  <a:srgbClr val="7030A0"/>
                </a:solidFill>
              </a:rPr>
              <a:t>早于</a:t>
            </a:r>
            <a:r>
              <a:rPr lang="zh-CN" altLang="en-US" dirty="0"/>
              <a:t> “面向对象”、“面向函数”的编程语言 </a:t>
            </a:r>
            <a:endParaRPr lang="en-US" altLang="zh-CN" dirty="0"/>
          </a:p>
          <a:p>
            <a:pPr lvl="1"/>
            <a:r>
              <a:rPr lang="zh-CN" altLang="en-US" dirty="0"/>
              <a:t>编译器是如何将这些高级语言中的函数、过程翻译成汇编语言的？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过程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汇编语言把过程定义为以</a:t>
            </a:r>
            <a:r>
              <a:rPr lang="zh-CN" altLang="en-US" dirty="0">
                <a:solidFill>
                  <a:srgbClr val="0070C0"/>
                </a:solidFill>
              </a:rPr>
              <a:t>返回语句结束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FF0000"/>
                </a:solidFill>
              </a:rPr>
              <a:t>命名</a:t>
            </a:r>
            <a:r>
              <a:rPr lang="zh-CN" altLang="en-US" dirty="0">
                <a:solidFill>
                  <a:srgbClr val="00B050"/>
                </a:solidFill>
              </a:rPr>
              <a:t>语句块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zh-CN" altLang="en-US" dirty="0"/>
              <a:t>使用</a:t>
            </a:r>
            <a:r>
              <a:rPr lang="en-US" altLang="zh-CN" dirty="0">
                <a:solidFill>
                  <a:srgbClr val="FF0000"/>
                </a:solidFill>
              </a:rPr>
              <a:t>PROC</a:t>
            </a:r>
            <a:r>
              <a:rPr lang="zh-CN" altLang="en-US" dirty="0"/>
              <a:t>和</a:t>
            </a:r>
            <a:r>
              <a:rPr lang="en-US" altLang="zh-CN" dirty="0">
                <a:solidFill>
                  <a:srgbClr val="FF0000"/>
                </a:solidFill>
              </a:rPr>
              <a:t>ENDP</a:t>
            </a:r>
            <a:r>
              <a:rPr lang="zh-CN" altLang="en-US" dirty="0"/>
              <a:t>伪指令来声明过程</a:t>
            </a:r>
            <a:endParaRPr lang="en-US" altLang="zh-CN" dirty="0"/>
          </a:p>
          <a:p>
            <a:pPr lvl="1"/>
            <a:r>
              <a:rPr lang="zh-CN" altLang="en-US" dirty="0"/>
              <a:t>必须定义一个</a:t>
            </a:r>
            <a:r>
              <a:rPr lang="zh-CN" altLang="en-US" dirty="0">
                <a:solidFill>
                  <a:srgbClr val="FF0000"/>
                </a:solidFill>
              </a:rPr>
              <a:t>过程名字</a:t>
            </a:r>
            <a:r>
              <a:rPr lang="zh-CN" altLang="en-US" dirty="0"/>
              <a:t>（标识符）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过程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dirty="0" err="1"/>
              <a:t>my_proc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PROC</a:t>
            </a:r>
          </a:p>
          <a:p>
            <a:pPr marL="400050" lvl="1" indent="0">
              <a:lnSpc>
                <a:spcPct val="100000"/>
              </a:lnSpc>
              <a:buNone/>
            </a:pPr>
            <a:r>
              <a:rPr lang="en-US" altLang="zh-CN" dirty="0"/>
              <a:t>... ...</a:t>
            </a:r>
          </a:p>
          <a:p>
            <a:pPr marL="400050" lvl="1" indent="0">
              <a:lnSpc>
                <a:spcPct val="100000"/>
              </a:lnSpc>
              <a:buNone/>
            </a:pPr>
            <a:r>
              <a:rPr lang="en-US" altLang="zh-CN" dirty="0">
                <a:solidFill>
                  <a:srgbClr val="0070C0"/>
                </a:solidFill>
              </a:rPr>
              <a:t>ret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 err="1"/>
              <a:t>my_proc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ENDP</a:t>
            </a:r>
          </a:p>
          <a:p>
            <a:r>
              <a:rPr lang="zh-CN" altLang="en-US" dirty="0"/>
              <a:t>除启动过程之外，其它过程以</a:t>
            </a:r>
            <a:r>
              <a:rPr lang="en-US" altLang="zh-CN" dirty="0"/>
              <a:t>ret</a:t>
            </a:r>
            <a:r>
              <a:rPr lang="zh-CN" altLang="en-US" dirty="0"/>
              <a:t>指令结束</a:t>
            </a:r>
            <a:endParaRPr lang="en-US" altLang="zh-CN" dirty="0"/>
          </a:p>
          <a:p>
            <a:pPr lvl="1"/>
            <a:r>
              <a:rPr lang="zh-CN" altLang="en-US" dirty="0"/>
              <a:t>将</a:t>
            </a:r>
            <a:r>
              <a:rPr lang="en-US" altLang="zh-CN" dirty="0"/>
              <a:t>CPU</a:t>
            </a:r>
            <a:r>
              <a:rPr lang="zh-CN" altLang="en-US" dirty="0"/>
              <a:t>控制权转移到过程被调用的地方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启动过程（</a:t>
            </a:r>
            <a:r>
              <a:rPr lang="en-US" altLang="zh-CN" dirty="0"/>
              <a:t>main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dirty="0">
                <a:solidFill>
                  <a:srgbClr val="0070C0"/>
                </a:solidFill>
              </a:rPr>
              <a:t>main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PROC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    ...  ...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>
                <a:solidFill>
                  <a:srgbClr val="0070C0"/>
                </a:solidFill>
              </a:rPr>
              <a:t>main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ENDP</a:t>
            </a:r>
          </a:p>
          <a:p>
            <a:r>
              <a:rPr lang="zh-CN" altLang="en-US" dirty="0"/>
              <a:t>启动过程（</a:t>
            </a:r>
            <a:r>
              <a:rPr lang="en-US" altLang="zh-CN" dirty="0"/>
              <a:t>main</a:t>
            </a:r>
            <a:r>
              <a:rPr lang="zh-CN" altLang="en-US" dirty="0"/>
              <a:t>）的</a:t>
            </a:r>
            <a:r>
              <a:rPr lang="zh-CN" altLang="en-US" dirty="0">
                <a:solidFill>
                  <a:srgbClr val="FF0000"/>
                </a:solidFill>
              </a:rPr>
              <a:t>返回语句</a:t>
            </a:r>
            <a:r>
              <a:rPr lang="zh-CN" altLang="en-US" dirty="0"/>
              <a:t>是</a:t>
            </a:r>
            <a:endParaRPr lang="en-US" altLang="zh-CN" dirty="0"/>
          </a:p>
          <a:p>
            <a:pPr lvl="1"/>
            <a:r>
              <a:rPr lang="en-US" altLang="zh-CN" dirty="0"/>
              <a:t>INVOKE </a:t>
            </a:r>
            <a:r>
              <a:rPr lang="en-US" altLang="zh-CN" dirty="0" err="1"/>
              <a:t>ExitProcess</a:t>
            </a:r>
            <a:r>
              <a:rPr lang="en-US" altLang="zh-CN" dirty="0"/>
              <a:t>, 0</a:t>
            </a:r>
          </a:p>
          <a:p>
            <a:pPr lvl="1"/>
            <a:r>
              <a:rPr lang="zh-CN" altLang="en-US" dirty="0"/>
              <a:t>将</a:t>
            </a:r>
            <a:r>
              <a:rPr lang="en-US" altLang="zh-CN" dirty="0"/>
              <a:t>CPU</a:t>
            </a:r>
            <a:r>
              <a:rPr lang="zh-CN" altLang="en-US" dirty="0"/>
              <a:t>的控制权转移给</a:t>
            </a:r>
            <a:r>
              <a:rPr lang="en-US" altLang="zh-CN" dirty="0"/>
              <a:t>Windows</a:t>
            </a:r>
            <a:r>
              <a:rPr lang="zh-CN" altLang="en-US" dirty="0"/>
              <a:t>操作系统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过程的定义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MyProc</a:t>
            </a:r>
            <a:r>
              <a:rPr lang="zh-CN" altLang="en-US" dirty="0"/>
              <a:t>过程，计算寄存器</a:t>
            </a:r>
            <a:r>
              <a:rPr lang="en-US" altLang="zh-CN" dirty="0"/>
              <a:t>EAX</a:t>
            </a:r>
            <a:r>
              <a:rPr lang="zh-CN" altLang="en-US" dirty="0"/>
              <a:t>、</a:t>
            </a:r>
            <a:r>
              <a:rPr lang="en-US" altLang="zh-CN" dirty="0"/>
              <a:t>EBX</a:t>
            </a:r>
            <a:r>
              <a:rPr lang="zh-CN" altLang="en-US" dirty="0"/>
              <a:t>、</a:t>
            </a:r>
            <a:r>
              <a:rPr lang="en-US" altLang="zh-CN" dirty="0"/>
              <a:t>ECX</a:t>
            </a:r>
            <a:r>
              <a:rPr lang="zh-CN" altLang="en-US" dirty="0"/>
              <a:t>之和</a:t>
            </a:r>
            <a:endParaRPr lang="en-US" altLang="zh-CN" dirty="0"/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dirty="0" err="1"/>
              <a:t>MyProc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PROC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dirty="0"/>
              <a:t>    ADD EAX</a:t>
            </a:r>
            <a:r>
              <a:rPr lang="zh-CN" altLang="en-US" dirty="0"/>
              <a:t>，</a:t>
            </a:r>
            <a:r>
              <a:rPr lang="en-US" altLang="zh-CN" dirty="0"/>
              <a:t>EBX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dirty="0"/>
              <a:t>    ADD EAX</a:t>
            </a:r>
            <a:r>
              <a:rPr lang="zh-CN" altLang="en-US" dirty="0"/>
              <a:t>，</a:t>
            </a:r>
            <a:r>
              <a:rPr lang="en-US" altLang="zh-CN" dirty="0"/>
              <a:t>ECX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dirty="0">
                <a:solidFill>
                  <a:srgbClr val="FF0000"/>
                </a:solidFill>
              </a:rPr>
              <a:t>    RET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dirty="0" err="1"/>
              <a:t>MyProc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ENDP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过程的调用与返回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</a:rPr>
              <a:t>CALL</a:t>
            </a:r>
            <a:r>
              <a:rPr lang="zh-CN" altLang="en-US" dirty="0"/>
              <a:t>指令将</a:t>
            </a:r>
            <a:r>
              <a:rPr lang="en-US" altLang="zh-CN" dirty="0"/>
              <a:t>CPU</a:t>
            </a:r>
            <a:r>
              <a:rPr lang="zh-CN" altLang="en-US" dirty="0"/>
              <a:t>的控制权转移到新的内存地址执行指令，</a:t>
            </a:r>
            <a:r>
              <a:rPr lang="zh-CN" altLang="en-US" dirty="0">
                <a:solidFill>
                  <a:srgbClr val="0070C0"/>
                </a:solidFill>
              </a:rPr>
              <a:t>实现过程的调用</a:t>
            </a:r>
            <a:endParaRPr lang="en-US" altLang="zh-CN" dirty="0">
              <a:solidFill>
                <a:srgbClr val="0070C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RET</a:t>
            </a:r>
            <a:r>
              <a:rPr lang="zh-CN" altLang="en-US" dirty="0"/>
              <a:t>指令将</a:t>
            </a:r>
            <a:r>
              <a:rPr lang="en-US" altLang="zh-CN" dirty="0"/>
              <a:t>CPU</a:t>
            </a:r>
            <a:r>
              <a:rPr lang="zh-CN" altLang="en-US" dirty="0"/>
              <a:t>的控制权返回到程序中过程被调用的地方继续执行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过程的调用与返回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35189" y="1706335"/>
            <a:ext cx="7940675" cy="4092575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sz="2000" dirty="0"/>
              <a:t>main </a:t>
            </a:r>
            <a:r>
              <a:rPr lang="en-US" altLang="zh-CN" sz="2000" dirty="0">
                <a:solidFill>
                  <a:srgbClr val="0070C0"/>
                </a:solidFill>
              </a:rPr>
              <a:t>PROC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000" dirty="0"/>
              <a:t>    MOV EAX, 1000h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000" dirty="0"/>
              <a:t>    MOV EBX, 1000h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000" dirty="0"/>
              <a:t>    MOV ECX, 1000h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000" dirty="0"/>
              <a:t>    </a:t>
            </a:r>
            <a:r>
              <a:rPr lang="en-US" altLang="zh-CN" sz="2000" b="1" i="1" dirty="0">
                <a:solidFill>
                  <a:srgbClr val="FF0000"/>
                </a:solidFill>
              </a:rPr>
              <a:t>CALL</a:t>
            </a:r>
            <a:r>
              <a:rPr lang="en-US" altLang="zh-CN" sz="2000" dirty="0"/>
              <a:t> </a:t>
            </a:r>
            <a:r>
              <a:rPr lang="en-US" altLang="zh-CN" sz="2000" b="1" i="1" dirty="0" err="1">
                <a:solidFill>
                  <a:srgbClr val="FF0000"/>
                </a:solidFill>
              </a:rPr>
              <a:t>MyProc</a:t>
            </a:r>
            <a:endParaRPr lang="en-US" altLang="zh-CN" sz="2000" b="1" i="1" dirty="0">
              <a:solidFill>
                <a:srgbClr val="FF0000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000" dirty="0"/>
              <a:t>    INVOKE </a:t>
            </a:r>
            <a:r>
              <a:rPr lang="en-US" altLang="zh-CN" sz="2000" dirty="0" err="1"/>
              <a:t>ExitProcess</a:t>
            </a:r>
            <a:r>
              <a:rPr lang="en-US" altLang="zh-CN" sz="2000" dirty="0"/>
              <a:t>, 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000" dirty="0"/>
              <a:t>main </a:t>
            </a:r>
            <a:r>
              <a:rPr lang="en-US" altLang="zh-CN" sz="2000" dirty="0">
                <a:solidFill>
                  <a:srgbClr val="0070C0"/>
                </a:solidFill>
              </a:rPr>
              <a:t>ENDP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000" dirty="0" err="1">
                <a:solidFill>
                  <a:srgbClr val="FF0000"/>
                </a:solidFill>
              </a:rPr>
              <a:t>MyProc</a:t>
            </a:r>
            <a:r>
              <a:rPr lang="en-US" altLang="zh-CN" sz="2000" dirty="0"/>
              <a:t> </a:t>
            </a:r>
            <a:r>
              <a:rPr lang="en-US" altLang="zh-CN" sz="2000" dirty="0">
                <a:solidFill>
                  <a:srgbClr val="0070C0"/>
                </a:solidFill>
              </a:rPr>
              <a:t>PROC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000" dirty="0"/>
              <a:t>    ADD EAX, EBX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000" dirty="0"/>
              <a:t>    ADD EAX, ECX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000" dirty="0"/>
              <a:t>    </a:t>
            </a:r>
            <a:r>
              <a:rPr lang="en-US" altLang="zh-CN" sz="2000" b="1" i="1" dirty="0">
                <a:solidFill>
                  <a:srgbClr val="FF0000"/>
                </a:solidFill>
              </a:rPr>
              <a:t>RET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000" dirty="0" err="1">
                <a:solidFill>
                  <a:srgbClr val="FF0000"/>
                </a:solidFill>
              </a:rPr>
              <a:t>MyProc</a:t>
            </a:r>
            <a:r>
              <a:rPr lang="en-US" altLang="zh-CN" sz="2000" dirty="0"/>
              <a:t> </a:t>
            </a:r>
            <a:r>
              <a:rPr lang="en-US" altLang="zh-CN" sz="2000" dirty="0">
                <a:solidFill>
                  <a:srgbClr val="0070C0"/>
                </a:solidFill>
              </a:rPr>
              <a:t>ENDP</a:t>
            </a:r>
            <a:endParaRPr lang="zh-CN" altLang="en-US" sz="24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过程的调用与返回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过程返回地址的保存</a:t>
            </a:r>
            <a:endParaRPr lang="en-US" altLang="zh-CN" dirty="0"/>
          </a:p>
          <a:p>
            <a:pPr lvl="1"/>
            <a:r>
              <a:rPr lang="en-US" altLang="zh-CN" dirty="0"/>
              <a:t>CALL</a:t>
            </a:r>
            <a:r>
              <a:rPr lang="zh-CN" altLang="en-US" dirty="0"/>
              <a:t>指令调用之后，将过程的</a:t>
            </a:r>
            <a:r>
              <a:rPr lang="zh-CN" altLang="en-US" dirty="0">
                <a:solidFill>
                  <a:srgbClr val="FF0000"/>
                </a:solidFill>
              </a:rPr>
              <a:t>返回地址</a:t>
            </a:r>
            <a:r>
              <a:rPr lang="zh-CN" altLang="en-US" dirty="0"/>
              <a:t>压入堆栈，将过程入口地址赋值给</a:t>
            </a:r>
            <a:r>
              <a:rPr lang="en-US" altLang="zh-CN" dirty="0">
                <a:solidFill>
                  <a:srgbClr val="FF0000"/>
                </a:solidFill>
              </a:rPr>
              <a:t>EIP</a:t>
            </a:r>
            <a:r>
              <a:rPr lang="zh-CN" altLang="en-US" dirty="0"/>
              <a:t>，实现</a:t>
            </a:r>
            <a:r>
              <a:rPr lang="en-US" altLang="zh-CN" dirty="0"/>
              <a:t>CPU</a:t>
            </a:r>
            <a:r>
              <a:rPr lang="zh-CN" altLang="en-US" dirty="0"/>
              <a:t>控制权的转移</a:t>
            </a:r>
            <a:endParaRPr lang="en-US" altLang="zh-CN" dirty="0"/>
          </a:p>
          <a:p>
            <a:pPr lvl="1"/>
            <a:r>
              <a:rPr lang="en-US" altLang="zh-CN" dirty="0"/>
              <a:t>RET</a:t>
            </a:r>
            <a:r>
              <a:rPr lang="zh-CN" altLang="en-US" dirty="0"/>
              <a:t>指令调用之后，将过程的</a:t>
            </a:r>
            <a:r>
              <a:rPr lang="zh-CN" altLang="en-US" dirty="0">
                <a:solidFill>
                  <a:srgbClr val="FF0000"/>
                </a:solidFill>
              </a:rPr>
              <a:t>返回地址</a:t>
            </a:r>
            <a:r>
              <a:rPr lang="zh-CN" altLang="en-US" dirty="0"/>
              <a:t>赋值给</a:t>
            </a:r>
            <a:r>
              <a:rPr lang="en-US" altLang="zh-CN" dirty="0">
                <a:solidFill>
                  <a:srgbClr val="FF0000"/>
                </a:solidFill>
              </a:rPr>
              <a:t>EIP</a:t>
            </a:r>
            <a:r>
              <a:rPr lang="zh-CN" altLang="en-US" dirty="0"/>
              <a:t>寄存器，实现</a:t>
            </a:r>
            <a:r>
              <a:rPr lang="en-US" altLang="zh-CN" dirty="0"/>
              <a:t>CPU</a:t>
            </a:r>
            <a:r>
              <a:rPr lang="zh-CN" altLang="en-US" dirty="0"/>
              <a:t>控制权的转移</a:t>
            </a:r>
            <a:endParaRPr lang="en-US" altLang="zh-CN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过程的调用与返回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8104" y="2001620"/>
            <a:ext cx="10295792" cy="314188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4727" y="2337582"/>
            <a:ext cx="6400800" cy="1143000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调用链接库中的函数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链接库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链接库（</a:t>
            </a:r>
            <a:r>
              <a:rPr lang="en-US" altLang="zh-CN" dirty="0"/>
              <a:t>Link Library</a:t>
            </a:r>
            <a:r>
              <a:rPr lang="zh-CN" altLang="en-US" dirty="0"/>
              <a:t>）是一个文件，包含已经编译成机器码</a:t>
            </a:r>
            <a:r>
              <a:rPr lang="zh-CN" altLang="en-US"/>
              <a:t>的过程，其引入过程如下。</a:t>
            </a:r>
            <a:endParaRPr lang="en-US" altLang="zh-CN" dirty="0"/>
          </a:p>
          <a:p>
            <a:pPr lvl="1"/>
            <a:r>
              <a:rPr lang="en-US" altLang="zh-CN" dirty="0"/>
              <a:t> </a:t>
            </a:r>
            <a:r>
              <a:rPr lang="en-US" altLang="zh-CN" dirty="0" err="1"/>
              <a:t>includelib</a:t>
            </a:r>
            <a:r>
              <a:rPr lang="en-US" altLang="zh-CN" dirty="0"/>
              <a:t> \masm32\lib\</a:t>
            </a:r>
            <a:r>
              <a:rPr lang="en-US" altLang="zh-CN" dirty="0">
                <a:solidFill>
                  <a:srgbClr val="FF0000"/>
                </a:solidFill>
              </a:rPr>
              <a:t>masm32.lib</a:t>
            </a:r>
          </a:p>
          <a:p>
            <a:pPr lvl="1"/>
            <a:r>
              <a:rPr lang="en-US" altLang="zh-CN" dirty="0"/>
              <a:t> </a:t>
            </a:r>
            <a:r>
              <a:rPr lang="en-US" altLang="zh-CN" dirty="0" err="1"/>
              <a:t>includelib</a:t>
            </a:r>
            <a:r>
              <a:rPr lang="en-US" altLang="zh-CN" dirty="0"/>
              <a:t> \masm32\lib\</a:t>
            </a:r>
            <a:r>
              <a:rPr lang="en-US" altLang="zh-CN" dirty="0">
                <a:solidFill>
                  <a:srgbClr val="FF0000"/>
                </a:solidFill>
              </a:rPr>
              <a:t>kernel32.lib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PROTO</a:t>
            </a:r>
            <a:r>
              <a:rPr lang="zh-CN" altLang="en-US" dirty="0"/>
              <a:t>伪指令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PROTO</a:t>
            </a:r>
            <a:r>
              <a:rPr lang="zh-CN" altLang="en-US" dirty="0"/>
              <a:t>伪指令用于</a:t>
            </a:r>
            <a:r>
              <a:rPr lang="zh-CN" altLang="en-US" dirty="0">
                <a:solidFill>
                  <a:srgbClr val="FF0000"/>
                </a:solidFill>
              </a:rPr>
              <a:t>声明</a:t>
            </a:r>
            <a:r>
              <a:rPr lang="zh-CN" altLang="en-US" dirty="0"/>
              <a:t>链接库中的过程</a:t>
            </a:r>
            <a:endParaRPr lang="en-US" altLang="zh-CN" dirty="0"/>
          </a:p>
          <a:p>
            <a:r>
              <a:rPr lang="en-US" altLang="zh-CN" dirty="0"/>
              <a:t>include \masm32\include\masm32.inc</a:t>
            </a:r>
          </a:p>
          <a:p>
            <a:r>
              <a:rPr lang="en-US" altLang="zh-CN" dirty="0"/>
              <a:t>include \masm32\include\kernel32.inc</a:t>
            </a:r>
            <a:endParaRPr lang="zh-CN" altLang="en-US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PROTO</a:t>
            </a:r>
            <a:r>
              <a:rPr lang="zh-CN" altLang="en-US"/>
              <a:t>伪指令声明举例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669523" y="2514600"/>
            <a:ext cx="7940675" cy="3524055"/>
          </a:xfrm>
        </p:spPr>
        <p:txBody>
          <a:bodyPr>
            <a:normAutofit fontScale="92500" lnSpcReduction="20000"/>
          </a:bodyPr>
          <a:lstStyle/>
          <a:p>
            <a:r>
              <a:rPr lang="en-US" altLang="zh-CN" dirty="0" err="1"/>
              <a:t>StdOut</a:t>
            </a:r>
            <a:endParaRPr lang="en-US" altLang="zh-CN" dirty="0"/>
          </a:p>
          <a:p>
            <a:pPr lvl="1"/>
            <a:r>
              <a:rPr lang="en-US" altLang="zh-CN" dirty="0" err="1">
                <a:solidFill>
                  <a:srgbClr val="FF0000"/>
                </a:solidFill>
              </a:rPr>
              <a:t>StdOut</a:t>
            </a:r>
            <a:r>
              <a:rPr lang="en-US" altLang="zh-CN" dirty="0">
                <a:solidFill>
                  <a:srgbClr val="FF0000"/>
                </a:solidFill>
              </a:rPr>
              <a:t>       PROTO :DWORD</a:t>
            </a:r>
          </a:p>
          <a:p>
            <a:r>
              <a:rPr lang="en-US" altLang="zh-CN" dirty="0" err="1"/>
              <a:t>StdIn</a:t>
            </a:r>
            <a:endParaRPr lang="en-US" altLang="zh-CN" dirty="0"/>
          </a:p>
          <a:p>
            <a:pPr lvl="1"/>
            <a:r>
              <a:rPr lang="en-US" altLang="zh-CN" dirty="0" err="1">
                <a:solidFill>
                  <a:srgbClr val="FF0000"/>
                </a:solidFill>
              </a:rPr>
              <a:t>StdIn</a:t>
            </a:r>
            <a:r>
              <a:rPr lang="en-US" altLang="zh-CN" dirty="0">
                <a:solidFill>
                  <a:srgbClr val="FF0000"/>
                </a:solidFill>
              </a:rPr>
              <a:t>        PROTO :DWORD,:DWORD</a:t>
            </a:r>
          </a:p>
          <a:p>
            <a:r>
              <a:rPr lang="en-US" altLang="zh-CN" dirty="0" err="1"/>
              <a:t>ExitProcess</a:t>
            </a:r>
            <a:endParaRPr lang="en-US" altLang="zh-CN" dirty="0"/>
          </a:p>
          <a:p>
            <a:pPr lvl="1"/>
            <a:r>
              <a:rPr lang="en-US" altLang="zh-CN" dirty="0" err="1">
                <a:solidFill>
                  <a:srgbClr val="FF0000"/>
                </a:solidFill>
              </a:rPr>
              <a:t>ExitProcess</a:t>
            </a:r>
            <a:r>
              <a:rPr lang="en-US" altLang="zh-CN" dirty="0">
                <a:solidFill>
                  <a:srgbClr val="FF0000"/>
                </a:solidFill>
              </a:rPr>
              <a:t> PROTO STDCALL :DWORD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库包含文件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库包含文件，包含</a:t>
            </a:r>
            <a:r>
              <a:rPr lang="en-US" altLang="zh-CN"/>
              <a:t>.inc</a:t>
            </a:r>
            <a:r>
              <a:rPr lang="zh-CN" altLang="en-US"/>
              <a:t>文件，类似头文件</a:t>
            </a:r>
            <a:endParaRPr lang="en-US" altLang="zh-CN"/>
          </a:p>
          <a:p>
            <a:pPr lvl="1"/>
            <a:r>
              <a:rPr lang="en-US" altLang="zh-CN"/>
              <a:t> include \masm32\include\</a:t>
            </a:r>
            <a:r>
              <a:rPr lang="en-US" altLang="zh-CN">
                <a:solidFill>
                  <a:srgbClr val="FF0000"/>
                </a:solidFill>
              </a:rPr>
              <a:t>masm32.inc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en-US" altLang="zh-CN"/>
              <a:t> include \Irvine32\</a:t>
            </a:r>
            <a:r>
              <a:rPr lang="en-US" altLang="zh-CN">
                <a:solidFill>
                  <a:srgbClr val="FF0000"/>
                </a:solidFill>
              </a:rPr>
              <a:t>Irvine32.inc</a:t>
            </a:r>
          </a:p>
          <a:p>
            <a:pPr marL="457200" lvl="1" indent="0">
              <a:buNone/>
            </a:pP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典型的附带链接库文件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Irvine32</a:t>
            </a:r>
            <a:r>
              <a:rPr lang="zh-CN" altLang="en-US"/>
              <a:t>和</a:t>
            </a:r>
            <a:r>
              <a:rPr lang="en-US" altLang="zh-CN"/>
              <a:t>Irvine16</a:t>
            </a:r>
            <a:r>
              <a:rPr lang="zh-CN" altLang="en-US"/>
              <a:t>链接库，包含了常用的输入输出功能</a:t>
            </a:r>
            <a:endParaRPr lang="en-US" altLang="zh-CN"/>
          </a:p>
          <a:p>
            <a:pPr lvl="1"/>
            <a:r>
              <a:rPr lang="en-US" altLang="zh-CN"/>
              <a:t> includelib \Irvine32\</a:t>
            </a:r>
            <a:r>
              <a:rPr lang="en-US" altLang="zh-CN">
                <a:solidFill>
                  <a:srgbClr val="FF0000"/>
                </a:solidFill>
              </a:rPr>
              <a:t>Irvine32.lib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en-US" altLang="zh-CN"/>
              <a:t> include \Irvine32\</a:t>
            </a:r>
            <a:r>
              <a:rPr lang="en-US" altLang="zh-CN">
                <a:solidFill>
                  <a:srgbClr val="FF0000"/>
                </a:solidFill>
              </a:rPr>
              <a:t>Irvine32.inc</a:t>
            </a:r>
          </a:p>
          <a:p>
            <a:r>
              <a:rPr lang="zh-CN" altLang="en-US">
                <a:solidFill>
                  <a:srgbClr val="FF0000"/>
                </a:solidFill>
              </a:rPr>
              <a:t>利用</a:t>
            </a:r>
            <a:r>
              <a:rPr lang="en-US" altLang="zh-CN">
                <a:solidFill>
                  <a:srgbClr val="FF0000"/>
                </a:solidFill>
              </a:rPr>
              <a:t>call</a:t>
            </a:r>
            <a:r>
              <a:rPr lang="zh-CN" altLang="en-US">
                <a:solidFill>
                  <a:srgbClr val="FF0000"/>
                </a:solidFill>
              </a:rPr>
              <a:t>调用相关过程</a:t>
            </a:r>
            <a:endParaRPr lang="en-US" altLang="zh-CN">
              <a:solidFill>
                <a:srgbClr val="FF0000"/>
              </a:solidFill>
            </a:endParaRPr>
          </a:p>
          <a:p>
            <a:endParaRPr lang="en-US" altLang="zh-CN">
              <a:solidFill>
                <a:srgbClr val="FF0000"/>
              </a:solidFill>
            </a:endParaRPr>
          </a:p>
          <a:p>
            <a:pPr marL="457200" lvl="1" indent="0">
              <a:buNone/>
            </a:pP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721" y="4696876"/>
            <a:ext cx="3471654" cy="586323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Irvine32</a:t>
            </a:r>
            <a:r>
              <a:rPr lang="zh-CN" altLang="en-US"/>
              <a:t>和</a:t>
            </a:r>
            <a:r>
              <a:rPr lang="en-US" altLang="zh-CN"/>
              <a:t>Irvine16</a:t>
            </a:r>
            <a:r>
              <a:rPr lang="zh-CN" altLang="en-US"/>
              <a:t>提供的过程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4" y="2017626"/>
            <a:ext cx="6018286" cy="389025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854156"/>
            <a:ext cx="5812110" cy="421719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堆栈功能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压栈操作（</a:t>
            </a:r>
            <a:r>
              <a:rPr lang="en-US" altLang="zh-CN"/>
              <a:t>PUSH</a:t>
            </a:r>
            <a:r>
              <a:rPr lang="zh-CN" altLang="en-US"/>
              <a:t>）</a:t>
            </a:r>
            <a:endParaRPr lang="en-US" altLang="zh-CN"/>
          </a:p>
          <a:p>
            <a:endParaRPr lang="en-US" altLang="zh-CN">
              <a:solidFill>
                <a:srgbClr val="FF0000"/>
              </a:solidFill>
            </a:endParaRPr>
          </a:p>
          <a:p>
            <a:pPr marL="457200" lvl="1" indent="0">
              <a:buNone/>
            </a:pP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3333" y="3739462"/>
            <a:ext cx="2241422" cy="116273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0781" y="2681785"/>
            <a:ext cx="8193443" cy="671015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堆栈功能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出栈操作（</a:t>
            </a:r>
            <a:r>
              <a:rPr lang="en-US" altLang="zh-CN"/>
              <a:t>POP</a:t>
            </a:r>
            <a:r>
              <a:rPr lang="zh-CN" altLang="en-US"/>
              <a:t>、</a:t>
            </a:r>
            <a:r>
              <a:rPr lang="en-US" altLang="zh-CN"/>
              <a:t>POPFD</a:t>
            </a:r>
            <a:r>
              <a:rPr lang="zh-CN" altLang="en-US"/>
              <a:t>）</a:t>
            </a:r>
            <a:endParaRPr lang="en-US" altLang="zh-CN"/>
          </a:p>
          <a:p>
            <a:endParaRPr lang="en-US" altLang="zh-CN">
              <a:solidFill>
                <a:srgbClr val="FF0000"/>
              </a:solidFill>
            </a:endParaRPr>
          </a:p>
          <a:p>
            <a:pPr marL="457200" lvl="1" indent="0">
              <a:buNone/>
            </a:pP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8370" y="4001293"/>
            <a:ext cx="2396414" cy="900907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1012" y="2853243"/>
            <a:ext cx="9141494" cy="69429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执行 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PUSH EAX</a:t>
            </a:r>
          </a:p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       PUSH BX</a:t>
            </a:r>
          </a:p>
          <a:p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                           后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ESP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的值变为？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ESP+6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3352800" y="3650687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ESP+8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3352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ESP-8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3352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ESP-6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638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638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6384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638425" y="54221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矩形: 圆角 12"/>
          <p:cNvSpPr/>
          <p:nvPr>
            <p:custDataLst>
              <p:tags r:id="rId11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</a:p>
        </p:txBody>
      </p:sp>
      <p:grpSp>
        <p:nvGrpSpPr>
          <p:cNvPr id="18" name="组合 17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4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/>
          <p:cNvPicPr/>
          <p:nvPr>
            <p:custDataLst>
              <p:tags r:id="rId13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执行 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PUSH EAX</a:t>
            </a:r>
          </a:p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       POP BX</a:t>
            </a:r>
          </a:p>
          <a:p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                           后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ESP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的值变为？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ESP+2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3352800" y="3650687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ESP+6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3352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ESP-2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3352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ESP-6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638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638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638425" y="45648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6384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矩形: 圆角 12"/>
          <p:cNvSpPr/>
          <p:nvPr>
            <p:custDataLst>
              <p:tags r:id="rId11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</a:p>
        </p:txBody>
      </p:sp>
      <p:grpSp>
        <p:nvGrpSpPr>
          <p:cNvPr id="18" name="组合 17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4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/>
          <p:cNvPicPr/>
          <p:nvPr>
            <p:custDataLst>
              <p:tags r:id="rId13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堆栈功能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标志位的压栈出栈（</a:t>
            </a:r>
            <a:r>
              <a:rPr lang="en-US" altLang="zh-CN"/>
              <a:t>PUSHFD</a:t>
            </a:r>
            <a:r>
              <a:rPr lang="zh-CN" altLang="en-US"/>
              <a:t>、</a:t>
            </a:r>
            <a:r>
              <a:rPr lang="en-US" altLang="zh-CN"/>
              <a:t>POPFD</a:t>
            </a:r>
            <a:r>
              <a:rPr lang="zh-CN" altLang="en-US"/>
              <a:t>）</a:t>
            </a:r>
            <a:endParaRPr lang="en-US" altLang="zh-CN"/>
          </a:p>
          <a:p>
            <a:endParaRPr lang="en-US" altLang="zh-CN">
              <a:solidFill>
                <a:srgbClr val="FF0000"/>
              </a:solidFill>
            </a:endParaRPr>
          </a:p>
          <a:p>
            <a:pPr marL="457200" lvl="1" indent="0">
              <a:buNone/>
            </a:pP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789" y="2726530"/>
            <a:ext cx="10607011" cy="70486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5617" y="4001392"/>
            <a:ext cx="1663717" cy="93168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882802"/>
            <a:ext cx="12192000" cy="1405305"/>
          </a:xfrm>
        </p:spPr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400" b="1" i="0" dirty="0">
                <a:solidFill>
                  <a:schemeClr val="tx1"/>
                </a:solidFill>
                <a:ea typeface="宋体" panose="02010600030101010101" pitchFamily="2" charset="-122"/>
              </a:rPr>
              <a:t>汇编语言与逆向技术</a:t>
            </a:r>
            <a:br>
              <a:rPr lang="en-US" i="0" dirty="0">
                <a:solidFill>
                  <a:schemeClr val="tx1"/>
                </a:solidFill>
                <a:ea typeface="宋体" panose="02010600030101010101" pitchFamily="2" charset="-122"/>
              </a:rPr>
            </a:br>
            <a:r>
              <a:rPr lang="zh-CN" altLang="en-US" sz="3600" b="1" dirty="0">
                <a:solidFill>
                  <a:srgbClr val="7030A0"/>
                </a:solidFill>
              </a:rPr>
              <a:t>第</a:t>
            </a:r>
            <a:r>
              <a:rPr lang="en-US" altLang="zh-CN" sz="3600" b="1" dirty="0">
                <a:solidFill>
                  <a:srgbClr val="7030A0"/>
                </a:solidFill>
              </a:rPr>
              <a:t>6</a:t>
            </a:r>
            <a:r>
              <a:rPr lang="zh-CN" altLang="en-US" sz="3600" b="1" dirty="0">
                <a:solidFill>
                  <a:srgbClr val="7030A0"/>
                </a:solidFill>
              </a:rPr>
              <a:t>章 条件处理指令及程序结构</a:t>
            </a:r>
            <a:endParaRPr lang="en-US" sz="2800" b="1" dirty="0">
              <a:solidFill>
                <a:srgbClr val="7030A0"/>
              </a:solidFill>
              <a:ea typeface="宋体" panose="02010600030101010101" pitchFamily="2" charset="-122"/>
            </a:endParaRPr>
          </a:p>
        </p:txBody>
      </p:sp>
      <p:sp>
        <p:nvSpPr>
          <p:cNvPr id="5" name="Title 1"/>
          <p:cNvSpPr txBox="1"/>
          <p:nvPr/>
        </p:nvSpPr>
        <p:spPr bwMode="auto">
          <a:xfrm>
            <a:off x="0" y="3626471"/>
            <a:ext cx="12192000" cy="13012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300" b="1" i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/>
            <a:r>
              <a:rPr lang="zh-CN" altLang="en-US" sz="3600" b="0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王志、李旭昇、过辰锴、邓琮弋</a:t>
            </a:r>
            <a:r>
              <a:rPr lang="en-US" altLang="zh-CN" sz="3600" b="0" i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 algn="ctr" defTabSz="914400"/>
            <a:r>
              <a:rPr lang="en-US" altLang="zh-CN" sz="2400" b="0" i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zwang</a:t>
            </a:r>
            <a:r>
              <a:rPr lang="en-US" altLang="zh-CN" sz="2400" b="0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@nankai.edu.cn</a:t>
            </a:r>
          </a:p>
        </p:txBody>
      </p:sp>
      <p:sp>
        <p:nvSpPr>
          <p:cNvPr id="4" name="Title 1"/>
          <p:cNvSpPr txBox="1"/>
          <p:nvPr/>
        </p:nvSpPr>
        <p:spPr bwMode="auto">
          <a:xfrm>
            <a:off x="0" y="5179843"/>
            <a:ext cx="12192000" cy="16781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300" b="1" i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>
              <a:lnSpc>
                <a:spcPct val="150000"/>
              </a:lnSpc>
            </a:pPr>
            <a:r>
              <a:rPr lang="zh-CN" altLang="en-US" sz="2400" i="0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南开大学 网络空间安全学院</a:t>
            </a:r>
            <a:endParaRPr lang="en-US" altLang="zh-CN" sz="2400" i="0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 defTabSz="914400">
              <a:lnSpc>
                <a:spcPct val="150000"/>
              </a:lnSpc>
            </a:pPr>
            <a:r>
              <a:rPr lang="en-US" altLang="zh-CN" sz="2400" i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2025-2026</a:t>
            </a:r>
            <a:r>
              <a:rPr lang="zh-CN" altLang="en-US" sz="2400" i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学年</a:t>
            </a:r>
            <a:endParaRPr lang="en-US" altLang="zh-CN" sz="2400" i="0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0688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DhjY2Y2MDc1OWI1NDc0YTI3ZTI0N2YwY2JmZjMzZGY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SCORE" val="0.0"/>
  <p:tag name="PROBLEMBLANK" val="[]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Warning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SCORE" val="0.0"/>
  <p:tag name="PROBLEMBLANK" val="[]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Warning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2.0"/>
  <p:tag name="PROBLEMBLANK" val="[{&quot;num&quot;:1,&quot;caseSensitive&quot;:false,&quot;fuzzyMatch&quot;:false,&quot;Score&quot;:2.0,&quot;answers&quot;:[&quot;20h&quot;]}]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10.0"/>
  <p:tag name="PROBLEMBLANK" val="[{&quot;num&quot;:1,&quot;caseSensitive&quot;:false,&quot;fuzzyMatch&quot;:false,&quot;Score&quot;:10.0,&quot;answers&quot;:[&quot;100000000h&quot;]}]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SCORE" val="0.0"/>
  <p:tag name="PROBLEMREMARK" val="A8H"/>
  <p:tag name="PROBLEMBLANKORDER" val="false"/>
  <p:tag name="PROBLEMHASREMARK" val="False"/>
  <p:tag name="PROBLEMBLANK" val="[]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Warning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SCORE" val="0.0"/>
  <p:tag name="PROBLEMREMARK" val="A8H"/>
  <p:tag name="PROBLEMBLANKORDER" val="false"/>
  <p:tag name="PROBLEMHASREMARK" val="False"/>
  <p:tag name="PROBLEMBLANK" val="[]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Warning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SCORE_HALF" val="0.0"/>
  <p:tag name="PROBLEMSCORE" val="2.0"/>
  <p:tag name="RAINPROBLEMTYPE" val="MultipleChoice"/>
  <p:tag name="RAINPROBLEM" val="MultipleChoic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MultipleChoice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MultipleChoic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MultipleChoic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Correct"/>
  <p:tag name="RAINPROBLEMTYPE" val="MultipleChoice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SCORE_HALF" val="0.0"/>
  <p:tag name="PROBLEMSCORE" val="2.0"/>
  <p:tag name="RAINPROBLEMTYPE" val="MultipleChoice"/>
  <p:tag name="RAINPROBLEM" val="MultipleChoice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2_400TGp_globalcity_light_ani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3107</Words>
  <Application>Microsoft Office PowerPoint</Application>
  <PresentationFormat>宽屏</PresentationFormat>
  <Paragraphs>559</Paragraphs>
  <Slides>86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86</vt:i4>
      </vt:variant>
    </vt:vector>
  </HeadingPairs>
  <TitlesOfParts>
    <vt:vector size="94" baseType="lpstr">
      <vt:lpstr>DengXian</vt:lpstr>
      <vt:lpstr>隶书</vt:lpstr>
      <vt:lpstr>宋体</vt:lpstr>
      <vt:lpstr>微软雅黑</vt:lpstr>
      <vt:lpstr>Arial</vt:lpstr>
      <vt:lpstr>Calibri</vt:lpstr>
      <vt:lpstr>Times New Roman</vt:lpstr>
      <vt:lpstr>2_400TGp_globalcity_light_ani</vt:lpstr>
      <vt:lpstr>汇编语言与逆向技术 第6章 条件处理指令及程序结构</vt:lpstr>
      <vt:lpstr>本章知识点</vt:lpstr>
      <vt:lpstr>控制流转移指令</vt:lpstr>
      <vt:lpstr>PowerPoint 演示文稿</vt:lpstr>
      <vt:lpstr>控制转移</vt:lpstr>
      <vt:lpstr>PowerPoint 演示文稿</vt:lpstr>
      <vt:lpstr>无条件转移 Unconditional Jump</vt:lpstr>
      <vt:lpstr>JMP指令</vt:lpstr>
      <vt:lpstr>循环</vt:lpstr>
      <vt:lpstr>PowerPoint 演示文稿</vt:lpstr>
      <vt:lpstr>条件跳转指令 Conditional Jump</vt:lpstr>
      <vt:lpstr>AND指令</vt:lpstr>
      <vt:lpstr>AND指令</vt:lpstr>
      <vt:lpstr>OR指令</vt:lpstr>
      <vt:lpstr>OR指令</vt:lpstr>
      <vt:lpstr>PowerPoint 演示文稿</vt:lpstr>
      <vt:lpstr>XOR指令</vt:lpstr>
      <vt:lpstr>NOT指令</vt:lpstr>
      <vt:lpstr>PowerPoint 演示文稿</vt:lpstr>
      <vt:lpstr>TEST指令</vt:lpstr>
      <vt:lpstr>CMP指令</vt:lpstr>
      <vt:lpstr>CMP指令</vt:lpstr>
      <vt:lpstr>PowerPoint 演示文稿</vt:lpstr>
      <vt:lpstr>设置标志位技巧</vt:lpstr>
      <vt:lpstr>设置符号标志技巧</vt:lpstr>
      <vt:lpstr>设置进位标志技巧</vt:lpstr>
      <vt:lpstr>设置溢出标志技巧</vt:lpstr>
      <vt:lpstr>条件跳转指令Conditional Jump</vt:lpstr>
      <vt:lpstr>条件跳转指令 Conditional Jump</vt:lpstr>
      <vt:lpstr>条件跳转指令 Conditional Jump</vt:lpstr>
      <vt:lpstr>PowerPoint 演示文稿</vt:lpstr>
      <vt:lpstr>LOOP指令</vt:lpstr>
      <vt:lpstr>LOOP指令</vt:lpstr>
      <vt:lpstr>PowerPoint 演示文稿</vt:lpstr>
      <vt:lpstr>LOOP指令</vt:lpstr>
      <vt:lpstr>PowerPoint 演示文稿</vt:lpstr>
      <vt:lpstr>循环的嵌套</vt:lpstr>
      <vt:lpstr>PowerPoint 演示文稿</vt:lpstr>
      <vt:lpstr>LOOP指令的变种（自学）</vt:lpstr>
      <vt:lpstr>数组求和</vt:lpstr>
      <vt:lpstr>PowerPoint 演示文稿</vt:lpstr>
      <vt:lpstr>字符串赋值</vt:lpstr>
      <vt:lpstr>PowerPoint 演示文稿</vt:lpstr>
      <vt:lpstr>PowerPoint 演示文稿</vt:lpstr>
      <vt:lpstr>整数算术指令</vt:lpstr>
      <vt:lpstr>移位和循环移位指令</vt:lpstr>
      <vt:lpstr>逻辑移位</vt:lpstr>
      <vt:lpstr>逻辑移位</vt:lpstr>
      <vt:lpstr>算术移位</vt:lpstr>
      <vt:lpstr>PowerPoint 演示文稿</vt:lpstr>
      <vt:lpstr>PowerPoint 演示文稿</vt:lpstr>
      <vt:lpstr>循环移位</vt:lpstr>
      <vt:lpstr>快速二进制乘法</vt:lpstr>
      <vt:lpstr>PowerPoint 演示文稿</vt:lpstr>
      <vt:lpstr>无符号乘法指令</vt:lpstr>
      <vt:lpstr>有符号乘法指令</vt:lpstr>
      <vt:lpstr>无符号除法指令</vt:lpstr>
      <vt:lpstr>有符号除法指令</vt:lpstr>
      <vt:lpstr>过程的定义和使用</vt:lpstr>
      <vt:lpstr>过程</vt:lpstr>
      <vt:lpstr>过程</vt:lpstr>
      <vt:lpstr>过程</vt:lpstr>
      <vt:lpstr>过程</vt:lpstr>
      <vt:lpstr>过程</vt:lpstr>
      <vt:lpstr>过程</vt:lpstr>
      <vt:lpstr>过程</vt:lpstr>
      <vt:lpstr>过程</vt:lpstr>
      <vt:lpstr>启动过程（main）</vt:lpstr>
      <vt:lpstr>过程的定义</vt:lpstr>
      <vt:lpstr>过程的调用与返回</vt:lpstr>
      <vt:lpstr>过程的调用与返回</vt:lpstr>
      <vt:lpstr>过程的调用与返回</vt:lpstr>
      <vt:lpstr>过程的调用与返回</vt:lpstr>
      <vt:lpstr>调用链接库中的函数</vt:lpstr>
      <vt:lpstr>链接库</vt:lpstr>
      <vt:lpstr>PROTO伪指令</vt:lpstr>
      <vt:lpstr>PROTO伪指令声明举例</vt:lpstr>
      <vt:lpstr>库包含文件</vt:lpstr>
      <vt:lpstr>典型的附带链接库文件</vt:lpstr>
      <vt:lpstr>Irvine32和Irvine16提供的过程</vt:lpstr>
      <vt:lpstr>堆栈功能</vt:lpstr>
      <vt:lpstr>堆栈功能</vt:lpstr>
      <vt:lpstr>PowerPoint 演示文稿</vt:lpstr>
      <vt:lpstr>PowerPoint 演示文稿</vt:lpstr>
      <vt:lpstr>堆栈功能</vt:lpstr>
      <vt:lpstr>汇编语言与逆向技术 第6章 条件处理指令及程序结构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汇编与逆向技术基础  第2章 IA-32处理器体系结构</dc:title>
  <dc:creator>zwang</dc:creator>
  <cp:lastModifiedBy>志 王</cp:lastModifiedBy>
  <cp:revision>820</cp:revision>
  <dcterms:created xsi:type="dcterms:W3CDTF">2020-03-01T14:18:00Z</dcterms:created>
  <dcterms:modified xsi:type="dcterms:W3CDTF">2026-01-04T09:12:07Z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82E51763D5D9496496F881F7BFA56EEB_13</vt:lpwstr>
  </property>
  <property fmtid="{D5CDD505-2E9C-101B-9397-08002B2CF9AE}" pid="3" name="KSOProductBuildVer">
    <vt:lpwstr>2052-12.1.0.17827</vt:lpwstr>
  </property>
</Properties>
</file>