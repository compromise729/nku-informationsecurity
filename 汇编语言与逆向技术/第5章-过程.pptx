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2" r:id="rId1"/>
  </p:sldMasterIdLst>
  <p:notesMasterIdLst>
    <p:notesMasterId r:id="rId33"/>
  </p:notesMasterIdLst>
  <p:sldIdLst>
    <p:sldId id="829" r:id="rId2"/>
    <p:sldId id="356" r:id="rId3"/>
    <p:sldId id="639" r:id="rId4"/>
    <p:sldId id="640" r:id="rId5"/>
    <p:sldId id="655" r:id="rId6"/>
    <p:sldId id="656" r:id="rId7"/>
    <p:sldId id="657" r:id="rId8"/>
    <p:sldId id="675" r:id="rId9"/>
    <p:sldId id="676" r:id="rId10"/>
    <p:sldId id="671" r:id="rId11"/>
    <p:sldId id="672" r:id="rId12"/>
    <p:sldId id="634" r:id="rId13"/>
    <p:sldId id="614" r:id="rId14"/>
    <p:sldId id="615" r:id="rId15"/>
    <p:sldId id="616" r:id="rId16"/>
    <p:sldId id="617" r:id="rId17"/>
    <p:sldId id="618" r:id="rId18"/>
    <p:sldId id="628" r:id="rId19"/>
    <p:sldId id="619" r:id="rId20"/>
    <p:sldId id="621" r:id="rId21"/>
    <p:sldId id="620" r:id="rId22"/>
    <p:sldId id="622" r:id="rId23"/>
    <p:sldId id="623" r:id="rId24"/>
    <p:sldId id="624" r:id="rId25"/>
    <p:sldId id="625" r:id="rId26"/>
    <p:sldId id="626" r:id="rId27"/>
    <p:sldId id="658" r:id="rId28"/>
    <p:sldId id="613" r:id="rId29"/>
    <p:sldId id="677" r:id="rId30"/>
    <p:sldId id="678" r:id="rId31"/>
    <p:sldId id="830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80607" autoAdjust="0"/>
  </p:normalViewPr>
  <p:slideViewPr>
    <p:cSldViewPr snapToGrid="0" snapToObjects="1">
      <p:cViewPr varScale="1">
        <p:scale>
          <a:sx n="77" d="100"/>
          <a:sy n="77" d="100"/>
        </p:scale>
        <p:origin x="570" y="2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12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48" d="100"/>
          <a:sy n="48" d="100"/>
        </p:scale>
        <p:origin x="2184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B8E9B-9938-FE4B-AE28-1C6AC5DA2731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215D2-4FF9-AF41-91A8-41FD4B9A927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177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5692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B215D2-4FF9-AF41-91A8-41FD4B9A9275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303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C764DE79-268F-4C1A-8933-263129D2AF90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29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49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657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1_标题幻灯片">
    <p:bg>
      <p:bgPr>
        <a:gradFill rotWithShape="0">
          <a:gsLst>
            <a:gs pos="0">
              <a:schemeClr val="bg1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1" name="Picture 135" descr="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68717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23" name="Rectangle 127"/>
          <p:cNvSpPr>
            <a:spLocks noChangeArrowheads="1"/>
          </p:cNvSpPr>
          <p:nvPr userDrawn="1"/>
        </p:nvSpPr>
        <p:spPr bwMode="gray">
          <a:xfrm>
            <a:off x="0" y="1"/>
            <a:ext cx="12192000" cy="1628775"/>
          </a:xfrm>
          <a:prstGeom prst="rect">
            <a:avLst/>
          </a:prstGeom>
          <a:gradFill rotWithShape="1">
            <a:gsLst>
              <a:gs pos="0">
                <a:srgbClr val="3366FF">
                  <a:alpha val="30000"/>
                </a:srgbClr>
              </a:gs>
              <a:gs pos="100000">
                <a:schemeClr val="bg1">
                  <a:alpha val="78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4111" name="Group 15"/>
          <p:cNvGrpSpPr>
            <a:grpSpLocks/>
          </p:cNvGrpSpPr>
          <p:nvPr/>
        </p:nvGrpSpPr>
        <p:grpSpPr bwMode="auto">
          <a:xfrm>
            <a:off x="0" y="1773238"/>
            <a:ext cx="12192000" cy="4895850"/>
            <a:chOff x="664" y="1951"/>
            <a:chExt cx="4308" cy="2120"/>
          </a:xfrm>
        </p:grpSpPr>
        <p:sp>
          <p:nvSpPr>
            <p:cNvPr id="4112" name="Freeform 16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Freeform 18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5" name="Freeform 19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6" name="Freeform 20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7" name="Freeform 21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8" name="Freeform 22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9" name="Freeform 23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0" name="Freeform 24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1" name="Freeform 25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2" name="Freeform 26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3" name="Freeform 27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4" name="Freeform 28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5" name="Freeform 29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1" name="Freeform 35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2" name="Freeform 36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8" name="Freeform 42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39" name="Freeform 43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5" name="Freeform 49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6" name="Freeform 50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algn="ctr" rotWithShape="0">
                      <a:srgbClr val="FEFEFE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7" name="Freeform 51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0 w 416"/>
                <a:gd name="T3" fmla="*/ 37 h 282"/>
                <a:gd name="T4" fmla="*/ 28 w 416"/>
                <a:gd name="T5" fmla="*/ 49 h 282"/>
                <a:gd name="T6" fmla="*/ 84 w 416"/>
                <a:gd name="T7" fmla="*/ 89 h 282"/>
                <a:gd name="T8" fmla="*/ 120 w 416"/>
                <a:gd name="T9" fmla="*/ 113 h 282"/>
                <a:gd name="T10" fmla="*/ 132 w 416"/>
                <a:gd name="T11" fmla="*/ 121 h 282"/>
                <a:gd name="T12" fmla="*/ 136 w 416"/>
                <a:gd name="T13" fmla="*/ 169 h 282"/>
                <a:gd name="T14" fmla="*/ 116 w 416"/>
                <a:gd name="T15" fmla="*/ 201 h 282"/>
                <a:gd name="T16" fmla="*/ 136 w 416"/>
                <a:gd name="T17" fmla="*/ 197 h 282"/>
                <a:gd name="T18" fmla="*/ 148 w 416"/>
                <a:gd name="T19" fmla="*/ 189 h 282"/>
                <a:gd name="T20" fmla="*/ 160 w 416"/>
                <a:gd name="T21" fmla="*/ 201 h 282"/>
                <a:gd name="T22" fmla="*/ 184 w 416"/>
                <a:gd name="T23" fmla="*/ 217 h 282"/>
                <a:gd name="T24" fmla="*/ 208 w 416"/>
                <a:gd name="T25" fmla="*/ 233 h 282"/>
                <a:gd name="T26" fmla="*/ 240 w 416"/>
                <a:gd name="T27" fmla="*/ 221 h 282"/>
                <a:gd name="T28" fmla="*/ 248 w 416"/>
                <a:gd name="T29" fmla="*/ 197 h 282"/>
                <a:gd name="T30" fmla="*/ 268 w 416"/>
                <a:gd name="T31" fmla="*/ 201 h 282"/>
                <a:gd name="T32" fmla="*/ 292 w 416"/>
                <a:gd name="T33" fmla="*/ 209 h 282"/>
                <a:gd name="T34" fmla="*/ 340 w 416"/>
                <a:gd name="T35" fmla="*/ 281 h 282"/>
                <a:gd name="T36" fmla="*/ 356 w 416"/>
                <a:gd name="T37" fmla="*/ 277 h 282"/>
                <a:gd name="T38" fmla="*/ 352 w 416"/>
                <a:gd name="T39" fmla="*/ 253 h 282"/>
                <a:gd name="T40" fmla="*/ 316 w 416"/>
                <a:gd name="T41" fmla="*/ 197 h 282"/>
                <a:gd name="T42" fmla="*/ 360 w 416"/>
                <a:gd name="T43" fmla="*/ 173 h 282"/>
                <a:gd name="T44" fmla="*/ 408 w 416"/>
                <a:gd name="T45" fmla="*/ 145 h 282"/>
                <a:gd name="T46" fmla="*/ 409 w 416"/>
                <a:gd name="T47" fmla="*/ 120 h 282"/>
                <a:gd name="T48" fmla="*/ 367 w 416"/>
                <a:gd name="T49" fmla="*/ 138 h 282"/>
                <a:gd name="T50" fmla="*/ 308 w 416"/>
                <a:gd name="T51" fmla="*/ 137 h 282"/>
                <a:gd name="T52" fmla="*/ 264 w 416"/>
                <a:gd name="T53" fmla="*/ 97 h 282"/>
                <a:gd name="T54" fmla="*/ 180 w 416"/>
                <a:gd name="T55" fmla="*/ 61 h 282"/>
                <a:gd name="T56" fmla="*/ 132 w 416"/>
                <a:gd name="T57" fmla="*/ 33 h 282"/>
                <a:gd name="T58" fmla="*/ 92 w 416"/>
                <a:gd name="T59" fmla="*/ 41 h 282"/>
                <a:gd name="T60" fmla="*/ 76 w 416"/>
                <a:gd name="T61" fmla="*/ 57 h 282"/>
                <a:gd name="T62" fmla="*/ 56 w 416"/>
                <a:gd name="T63" fmla="*/ 17 h 282"/>
                <a:gd name="T64" fmla="*/ 0 w 416"/>
                <a:gd name="T65" fmla="*/ 1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8" name="Freeform 52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49" name="Freeform 53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0" name="Freeform 54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1" name="Freeform 55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2" name="Freeform 56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3" name="Freeform 57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4" name="Freeform 58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5" name="Freeform 59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6" name="Freeform 60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7" name="Freeform 61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8" name="Freeform 62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59" name="Freeform 63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0" name="Freeform 64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1" name="Freeform 65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2" name="Freeform 66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3" name="Freeform 67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4" name="Freeform 68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5" name="Freeform 69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6" name="Freeform 70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7" name="Freeform 71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8" name="Freeform 72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69" name="Freeform 73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0" name="Freeform 74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1" name="Freeform 75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2" name="Freeform 76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3" name="Freeform 77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4" name="Freeform 78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5" name="Freeform 79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6" name="Freeform 80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7" name="Freeform 81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8" name="Freeform 82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79" name="Freeform 83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0" name="Freeform 84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1" name="Freeform 85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2" name="Freeform 86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3" name="Freeform 87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4" name="Freeform 88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5" name="Freeform 89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6" name="Freeform 90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7" name="Freeform 91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8" name="Freeform 92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89" name="Freeform 93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0" name="Freeform 94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1" name="Freeform 95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2" name="Freeform 96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3" name="Freeform 97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4" name="Freeform 98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5" name="Freeform 99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6" name="Freeform 100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7" name="Freeform 101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8" name="Freeform 102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99" name="Freeform 103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0" name="Freeform 104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1" name="Freeform 105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2" name="Freeform 106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3" name="Freeform 107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4" name="Freeform 108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5" name="Freeform 109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6" name="Freeform 110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7" name="Freeform 111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8" name="Freeform 112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09" name="Freeform 113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0" name="Freeform 114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1" name="Freeform 115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2" name="Freeform 116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3" name="Freeform 117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4" name="Freeform 118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5" name="Freeform 119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6" name="Freeform 120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7" name="Freeform 121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8" name="Freeform 122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219" name="Freeform 123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16433" y="2795199"/>
            <a:ext cx="8534400" cy="1143000"/>
          </a:xfrm>
        </p:spPr>
        <p:txBody>
          <a:bodyPr/>
          <a:lstStyle>
            <a:lvl1pPr algn="ctr">
              <a:defRPr sz="43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802305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C764DE79-268F-4C1A-8933-263129D2AF90}" type="datetimeFigureOut">
              <a:rPr lang="en-US" smtClean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32" descr="7">
            <a:extLst>
              <a:ext uri="{FF2B5EF4-FFF2-40B4-BE49-F238E27FC236}">
                <a16:creationId xmlns:a16="http://schemas.microsoft.com/office/drawing/2014/main" id="{A7E41A03-B49E-475D-9249-DA66275C0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534" y="6165851"/>
            <a:ext cx="2785533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1" descr="6">
            <a:extLst>
              <a:ext uri="{FF2B5EF4-FFF2-40B4-BE49-F238E27FC236}">
                <a16:creationId xmlns:a16="http://schemas.microsoft.com/office/drawing/2014/main" id="{3F507056-742E-49A2-B937-099E28DCDD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695700" cy="906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6" descr="2">
            <a:extLst>
              <a:ext uri="{FF2B5EF4-FFF2-40B4-BE49-F238E27FC236}">
                <a16:creationId xmlns:a16="http://schemas.microsoft.com/office/drawing/2014/main" id="{81FBA8B0-3A49-48EE-9C47-5080F84E06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441326"/>
            <a:ext cx="4656667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4">
            <a:extLst>
              <a:ext uri="{FF2B5EF4-FFF2-40B4-BE49-F238E27FC236}">
                <a16:creationId xmlns:a16="http://schemas.microsoft.com/office/drawing/2014/main" id="{6C26C2B0-5B19-4599-9DD4-50F88B02D2AE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1"/>
            <a:ext cx="12192000" cy="1484313"/>
          </a:xfrm>
          <a:prstGeom prst="rect">
            <a:avLst/>
          </a:prstGeom>
          <a:gradFill rotWithShape="1">
            <a:gsLst>
              <a:gs pos="0">
                <a:srgbClr val="3366FF">
                  <a:alpha val="60001"/>
                </a:srgbClr>
              </a:gs>
              <a:gs pos="100000">
                <a:srgbClr val="FFFFFF">
                  <a:alpha val="70000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Picture 29" descr="artplus_nature_naturalcity42_f">
            <a:extLst>
              <a:ext uri="{FF2B5EF4-FFF2-40B4-BE49-F238E27FC236}">
                <a16:creationId xmlns:a16="http://schemas.microsoft.com/office/drawing/2014/main" id="{0456863D-D865-436E-8912-D3A9672F39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9417" y="6334126"/>
            <a:ext cx="1826683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06464"/>
            <a:ext cx="10515600" cy="7842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318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8" r:id="rId2"/>
    <p:sldLayoutId id="2147483729" r:id="rId3"/>
    <p:sldLayoutId id="2147483734" r:id="rId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6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3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6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5</a:t>
            </a:r>
            <a:r>
              <a:rPr lang="zh-CN" altLang="en-US" sz="3600" b="1" dirty="0">
                <a:solidFill>
                  <a:srgbClr val="7030A0"/>
                </a:solidFill>
              </a:rPr>
              <a:t>章 过程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/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/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68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69D0-D159-47F9-957C-49963E18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B89F-D60A-42C3-84D9-4CFC30452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程序链接和链接库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堆栈机制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过程的定义和使用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程序流程图</a:t>
            </a:r>
            <a:endParaRPr lang="en-US" altLang="zh-CN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257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</a:rPr>
              <a:t>程序链接和链接库</a:t>
            </a:r>
            <a:endParaRPr lang="en-US" altLang="zh-CN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217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765F8-64AD-4FF2-B99A-24C67273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链接库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90FC84-5530-4452-AA2C-A8653B4B7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02455" cy="4351338"/>
          </a:xfrm>
        </p:spPr>
        <p:txBody>
          <a:bodyPr>
            <a:normAutofit fontScale="92500" lnSpcReduction="10000"/>
          </a:bodyPr>
          <a:lstStyle/>
          <a:p>
            <a:pPr indent="0" algn="just">
              <a:lnSpc>
                <a:spcPct val="100000"/>
              </a:lnSpc>
              <a:buNone/>
            </a:pPr>
            <a:r>
              <a:rPr lang="zh-CN" altLang="en-US" sz="36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链接库是一组预先编译的代码集合，通常包含了一系列可复用的函数或程序，目的是为开发者提供完成特定任务的现成工具。这些库可以是动态的（在程序运行时加载）或静态的（在程序编译时直接整合到程序中），它们提供了一种高效的方式来扩展应用程序的功能，无需从头开始编写所有代码。</a:t>
            </a:r>
            <a:endParaRPr lang="en-US" altLang="zh-CN" sz="36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en-US" altLang="zh-CN" sz="3200" dirty="0"/>
              <a:t> </a:t>
            </a:r>
            <a:r>
              <a:rPr lang="en-US" altLang="zh-CN" sz="3200" dirty="0" err="1"/>
              <a:t>includelib</a:t>
            </a:r>
            <a:r>
              <a:rPr lang="en-US" altLang="zh-CN" sz="3200" dirty="0"/>
              <a:t> \masm32\lib\</a:t>
            </a:r>
            <a:r>
              <a:rPr lang="en-US" altLang="zh-CN" sz="3200" dirty="0">
                <a:solidFill>
                  <a:srgbClr val="FF0000"/>
                </a:solidFill>
              </a:rPr>
              <a:t>masm32.lib</a:t>
            </a:r>
          </a:p>
          <a:p>
            <a:pPr lvl="1"/>
            <a:r>
              <a:rPr lang="en-US" altLang="zh-CN" sz="3200" dirty="0"/>
              <a:t> </a:t>
            </a:r>
            <a:r>
              <a:rPr lang="en-US" altLang="zh-CN" sz="3200" dirty="0" err="1"/>
              <a:t>includelib</a:t>
            </a:r>
            <a:r>
              <a:rPr lang="en-US" altLang="zh-CN" sz="3200" dirty="0"/>
              <a:t> \masm32\lib\</a:t>
            </a:r>
            <a:r>
              <a:rPr lang="en-US" altLang="zh-CN" sz="3200" dirty="0">
                <a:solidFill>
                  <a:srgbClr val="FF0000"/>
                </a:solidFill>
              </a:rPr>
              <a:t>kernel32.lib</a:t>
            </a:r>
            <a:endParaRPr lang="zh-CN" altLang="en-US" sz="3200" dirty="0">
              <a:solidFill>
                <a:srgbClr val="FF0000"/>
              </a:solidFill>
            </a:endParaRPr>
          </a:p>
          <a:p>
            <a:pPr indent="0" algn="just">
              <a:lnSpc>
                <a:spcPct val="100000"/>
              </a:lnSpc>
              <a:buNone/>
            </a:pPr>
            <a:endParaRPr lang="zh-CN" altLang="en-US" sz="36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ts val="1575"/>
              </a:lnSpc>
              <a:buNone/>
            </a:pPr>
            <a:endParaRPr lang="zh-CN" altLang="zh-CN" sz="36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109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053F98-7EF2-4864-9C19-30522F196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PROTO</a:t>
            </a:r>
            <a:r>
              <a:rPr lang="zh-CN" altLang="en-US" dirty="0"/>
              <a:t>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F50689-A357-4EA8-ABEF-3115167A4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PROTO</a:t>
            </a:r>
            <a:r>
              <a:rPr lang="zh-CN" altLang="en-US" dirty="0"/>
              <a:t>伪指令用于声明链接库中的过程</a:t>
            </a:r>
            <a:endParaRPr lang="en-US" altLang="zh-CN" dirty="0"/>
          </a:p>
          <a:p>
            <a:pPr lvl="1"/>
            <a:r>
              <a:rPr lang="en-US" altLang="zh-CN" dirty="0"/>
              <a:t>include \masm32\include\masm32.inc</a:t>
            </a:r>
          </a:p>
          <a:p>
            <a:pPr lvl="1"/>
            <a:r>
              <a:rPr lang="en-US" altLang="zh-CN" dirty="0"/>
              <a:t>include \masm32\include\kernel32.inc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01B8D8-A010-47A5-A668-8F94D3DCA7CC}"/>
              </a:ext>
            </a:extLst>
          </p:cNvPr>
          <p:cNvSpPr txBox="1"/>
          <p:nvPr/>
        </p:nvSpPr>
        <p:spPr>
          <a:xfrm>
            <a:off x="1482436" y="4595152"/>
            <a:ext cx="6142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.</a:t>
            </a:r>
            <a:r>
              <a:rPr lang="en-US" altLang="zh-CN" sz="2000" dirty="0" err="1">
                <a:solidFill>
                  <a:srgbClr val="FF0000"/>
                </a:solidFill>
              </a:rPr>
              <a:t>inc</a:t>
            </a:r>
            <a:r>
              <a:rPr lang="zh-CN" altLang="en-US" sz="2000" dirty="0">
                <a:solidFill>
                  <a:srgbClr val="FF0000"/>
                </a:solidFill>
              </a:rPr>
              <a:t>是头文件，对</a:t>
            </a:r>
            <a:r>
              <a:rPr lang="en-US" altLang="zh-CN" sz="2000" dirty="0">
                <a:solidFill>
                  <a:srgbClr val="FF0000"/>
                </a:solidFill>
              </a:rPr>
              <a:t>lib</a:t>
            </a:r>
            <a:r>
              <a:rPr lang="zh-CN" altLang="en-US" sz="2000" dirty="0">
                <a:solidFill>
                  <a:srgbClr val="FF0000"/>
                </a:solidFill>
              </a:rPr>
              <a:t>的声明，内部由</a:t>
            </a:r>
            <a:r>
              <a:rPr lang="en-US" altLang="zh-CN" sz="2000" dirty="0">
                <a:solidFill>
                  <a:srgbClr val="FF0000"/>
                </a:solidFill>
              </a:rPr>
              <a:t>PROTO</a:t>
            </a:r>
            <a:r>
              <a:rPr lang="zh-CN" altLang="en-US" sz="2000" dirty="0">
                <a:solidFill>
                  <a:srgbClr val="FF0000"/>
                </a:solidFill>
              </a:rPr>
              <a:t>伪指令构成</a:t>
            </a:r>
          </a:p>
        </p:txBody>
      </p:sp>
    </p:spTree>
    <p:extLst>
      <p:ext uri="{BB962C8B-B14F-4D97-AF65-F5344CB8AC3E}">
        <p14:creationId xmlns:p14="http://schemas.microsoft.com/office/powerpoint/2010/main" val="5509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A6C07-F16E-4131-BEF8-34CB90702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PROTO</a:t>
            </a:r>
            <a:r>
              <a:rPr lang="zh-CN" altLang="en-US" dirty="0"/>
              <a:t>伪指令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8CBCF3-1D3D-41E3-9346-19E94FE7B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658214"/>
            <a:ext cx="7940675" cy="2719822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 err="1"/>
              <a:t>StdOut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StdOut</a:t>
            </a:r>
            <a:r>
              <a:rPr lang="en-US" altLang="zh-CN" dirty="0">
                <a:solidFill>
                  <a:srgbClr val="FF0000"/>
                </a:solidFill>
              </a:rPr>
              <a:t>       PROTO :DWORD</a:t>
            </a:r>
          </a:p>
          <a:p>
            <a:r>
              <a:rPr lang="en-US" altLang="zh-CN" dirty="0" err="1"/>
              <a:t>StdIn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StdIn</a:t>
            </a:r>
            <a:r>
              <a:rPr lang="en-US" altLang="zh-CN" dirty="0">
                <a:solidFill>
                  <a:srgbClr val="FF0000"/>
                </a:solidFill>
              </a:rPr>
              <a:t>        PROTO :DWORD,:DWORD</a:t>
            </a:r>
          </a:p>
          <a:p>
            <a:r>
              <a:rPr lang="en-US" altLang="zh-CN" dirty="0" err="1"/>
              <a:t>ExitProcess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ExitProcess</a:t>
            </a:r>
            <a:r>
              <a:rPr lang="en-US" altLang="zh-CN" dirty="0">
                <a:solidFill>
                  <a:srgbClr val="FF0000"/>
                </a:solidFill>
              </a:rPr>
              <a:t> PROTO STDCALL :DWORD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0E7764-6971-4722-9FD0-18BE5232D324}"/>
              </a:ext>
            </a:extLst>
          </p:cNvPr>
          <p:cNvSpPr txBox="1"/>
          <p:nvPr/>
        </p:nvSpPr>
        <p:spPr>
          <a:xfrm>
            <a:off x="1835727" y="4897582"/>
            <a:ext cx="8689623" cy="968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</a:rPr>
              <a:t>PROTO</a:t>
            </a:r>
            <a:r>
              <a:rPr lang="zh-CN" altLang="en-US" sz="2000" dirty="0">
                <a:solidFill>
                  <a:srgbClr val="FF0000"/>
                </a:solidFill>
              </a:rPr>
              <a:t>伪指令用于过程的声明，当过程使用先于定义时，则必须要声明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</a:rPr>
              <a:t>声明写法：将首行的</a:t>
            </a:r>
            <a:r>
              <a:rPr lang="en-US" altLang="zh-CN" sz="2000" dirty="0">
                <a:solidFill>
                  <a:srgbClr val="FF0000"/>
                </a:solidFill>
              </a:rPr>
              <a:t>PROC</a:t>
            </a:r>
            <a:r>
              <a:rPr lang="zh-CN" altLang="en-US" sz="2000" dirty="0">
                <a:solidFill>
                  <a:srgbClr val="FF0000"/>
                </a:solidFill>
              </a:rPr>
              <a:t>替换为</a:t>
            </a:r>
            <a:r>
              <a:rPr lang="en-US" altLang="zh-CN" sz="2000" dirty="0">
                <a:solidFill>
                  <a:srgbClr val="FF0000"/>
                </a:solidFill>
              </a:rPr>
              <a:t>PROTO</a:t>
            </a:r>
            <a:r>
              <a:rPr lang="zh-CN" altLang="en-US" sz="2000" dirty="0">
                <a:solidFill>
                  <a:srgbClr val="FF0000"/>
                </a:solidFill>
              </a:rPr>
              <a:t>即可</a:t>
            </a:r>
          </a:p>
        </p:txBody>
      </p:sp>
    </p:spTree>
    <p:extLst>
      <p:ext uri="{BB962C8B-B14F-4D97-AF65-F5344CB8AC3E}">
        <p14:creationId xmlns:p14="http://schemas.microsoft.com/office/powerpoint/2010/main" val="3666885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CCAE4E5-DB4A-4081-ABFE-05971A09490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下面哪个伪指令用于声明链接库中的过程？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744AB3-2E7E-4473-85F6-747884FEB76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PROC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707D04-E1D4-4102-9C53-BCD5C10D9DE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PROTO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C85956-26C1-42D4-ABF9-7B557DC1DAC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SIZEOF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30DC69-1E1C-471A-896D-8364810D2FA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LENGTHOF</a:t>
            </a:r>
            <a:endParaRPr lang="zh-CN" altLang="en-US" sz="26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F3252EB-227B-427C-9300-63335FFC7D8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C958595-72C9-4AB3-AE45-6FBAEFDA676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6EA0186-A54B-442F-A857-41A9B31D3D0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8ABBDE1-EA88-44F2-B218-4745BF53044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5608B6A-5D4A-46A1-BF11-4C22749687AA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85C43E3-A0A0-45FF-8D97-F1E08A2BCCB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FE120923-E791-47FC-901B-9B1B5530311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0D4D6C0-EA52-4287-853D-6DA79765D63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CA6D883F-DD08-4480-8279-A28CC7F3E36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7905B0B2-CFAD-4F2F-85B0-27D43321DAE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397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1B326C4-6452-41CC-8038-ECEA949DA91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46652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</a:rPr>
              <a:t>堆栈机制</a:t>
            </a:r>
            <a:endParaRPr lang="en-US" altLang="zh-CN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9472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765F8-64AD-4FF2-B99A-24C67273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960"/>
              </a:spcBef>
              <a:spcAft>
                <a:spcPts val="960"/>
              </a:spcAft>
            </a:pPr>
            <a:r>
              <a:rPr lang="zh-CN" altLang="zh-CN" sz="4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运行时栈</a:t>
            </a:r>
            <a:endParaRPr lang="zh-CN" altLang="zh-CN" sz="4400" dirty="0"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90FC84-5530-4452-AA2C-A8653B4B7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indent="266700" algn="just">
              <a:lnSpc>
                <a:spcPct val="100000"/>
              </a:lnSpc>
            </a:pPr>
            <a:r>
              <a:rPr lang="zh-CN" altLang="zh-CN" sz="2400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运行时栈主要有两个基本操作，压栈操作和出栈操作。</a:t>
            </a:r>
            <a:endParaRPr lang="zh-CN" altLang="zh-CN" sz="24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7970" algn="just">
              <a:lnSpc>
                <a:spcPct val="100000"/>
              </a:lnSpc>
            </a:pPr>
            <a:r>
              <a:rPr lang="zh-CN" altLang="zh-CN" sz="2400" b="1" kern="10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压栈操作</a:t>
            </a:r>
            <a:endParaRPr lang="zh-CN" altLang="zh-CN" sz="2400" kern="105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sz="2400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压栈操作是将数据元素放入栈顶的过程。在汇编语言中，这通常是通过减少栈指针</a:t>
            </a:r>
            <a:r>
              <a:rPr lang="en-US" altLang="zh-CN" sz="2400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ESP</a:t>
            </a:r>
            <a:r>
              <a:rPr lang="zh-CN" altLang="zh-CN" sz="2400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值来完成的，因为栈在内存中是向下增长的。每次执行压栈操作时，栈指针首先向下移动一定数量的字节，然后将数据复制到栈指针指向的新位置上。这样可以确保后进入栈的元素始终位于栈顶，可以被最先访问和修改。</a:t>
            </a:r>
            <a:endParaRPr lang="zh-CN" altLang="zh-CN" sz="24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7970" algn="just">
              <a:lnSpc>
                <a:spcPct val="100000"/>
              </a:lnSpc>
            </a:pPr>
            <a:r>
              <a:rPr lang="zh-CN" altLang="zh-CN" sz="2400" b="1" kern="105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出栈操作</a:t>
            </a:r>
            <a:endParaRPr lang="zh-CN" altLang="zh-CN" sz="2400" kern="105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r>
              <a:rPr lang="zh-CN" altLang="zh-CN" sz="2400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出栈操作是从栈中移除元素的过程，通常是指从栈顶开始。在汇编语言中，进行出栈操作时，首先从当前栈指针指向的位置读取数据，然后栈指针会增加相同的字节数，向上移动回到之前的状态。出栈操作后，原先位于栈顶的数据被移除，允许访问在此之前压入栈的下一个元素。</a:t>
            </a:r>
            <a:endParaRPr lang="zh-CN" altLang="zh-CN" sz="2400" kern="105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5737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765F8-64AD-4FF2-B99A-24C67273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960"/>
              </a:spcBef>
              <a:spcAft>
                <a:spcPts val="960"/>
              </a:spcAft>
            </a:pPr>
            <a:r>
              <a:rPr lang="zh-CN" altLang="en-US" sz="4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使用场景</a:t>
            </a:r>
            <a:endParaRPr lang="zh-CN" altLang="zh-CN" sz="4400" dirty="0"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90FC84-5530-4452-AA2C-A8653B4B7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just">
              <a:lnSpc>
                <a:spcPct val="100000"/>
              </a:lnSpc>
              <a:buSzPts val="900"/>
              <a:buFont typeface="Wingdings" panose="05000000000000000000" pitchFamily="2" charset="2"/>
              <a:buChar char=""/>
              <a:tabLst>
                <a:tab pos="498475" algn="l"/>
              </a:tabLst>
            </a:pPr>
            <a:r>
              <a:rPr lang="zh-CN" altLang="zh-CN" sz="2400" b="1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函数调用与返回</a:t>
            </a:r>
            <a:r>
              <a:rPr lang="zh-CN" altLang="zh-CN" sz="24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：在函数调用时，返回地址和函数的参数通常被压入栈中。当函数执行完成后，通过出栈操作来恢复这些返回地址和参数，保证程序能够返回到正确的位置继续执行。</a:t>
            </a:r>
          </a:p>
          <a:p>
            <a:pPr marL="342900" lvl="0" indent="-342900" algn="just">
              <a:lnSpc>
                <a:spcPct val="100000"/>
              </a:lnSpc>
              <a:buSzPts val="900"/>
              <a:buFont typeface="Wingdings" panose="05000000000000000000" pitchFamily="2" charset="2"/>
              <a:buChar char=""/>
              <a:tabLst>
                <a:tab pos="498475" algn="l"/>
              </a:tabLst>
            </a:pPr>
            <a:r>
              <a:rPr lang="zh-CN" altLang="zh-CN" sz="2400" b="1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局部变量的存储</a:t>
            </a:r>
            <a:r>
              <a:rPr lang="zh-CN" altLang="zh-CN" sz="24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：函数的局部变量也经常存储在栈上。这使得每次函数调用时都有一个清晰的局部作用域，函数执行完毕后，这些局部变量可以简单地通过调整栈指针来丢弃。</a:t>
            </a:r>
          </a:p>
          <a:p>
            <a:pPr marL="342900" lvl="0" indent="-342900" algn="just">
              <a:lnSpc>
                <a:spcPct val="100000"/>
              </a:lnSpc>
              <a:buSzPts val="900"/>
              <a:buFont typeface="Wingdings" panose="05000000000000000000" pitchFamily="2" charset="2"/>
              <a:buChar char=""/>
              <a:tabLst>
                <a:tab pos="498475" algn="l"/>
              </a:tabLst>
            </a:pPr>
            <a:r>
              <a:rPr lang="zh-CN" altLang="zh-CN" sz="2400" b="1" kern="105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程序执行状态的保存和恢复</a:t>
            </a:r>
            <a:r>
              <a:rPr lang="zh-CN" altLang="zh-CN" sz="2400" kern="105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：在进行诸如上下文切换这类操作时，程序的当前状态可以被保存到栈中，以便之后可以恢复到相同的状态继续执行。</a:t>
            </a:r>
          </a:p>
        </p:txBody>
      </p:sp>
    </p:spTree>
    <p:extLst>
      <p:ext uri="{BB962C8B-B14F-4D97-AF65-F5344CB8AC3E}">
        <p14:creationId xmlns:p14="http://schemas.microsoft.com/office/powerpoint/2010/main" val="680906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765F8-64AD-4FF2-B99A-24C67273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PUSH</a:t>
            </a:r>
            <a:r>
              <a:rPr lang="zh-CN" altLang="en-US" dirty="0"/>
              <a:t>、</a:t>
            </a:r>
            <a:r>
              <a:rPr lang="en-US" altLang="zh-CN" dirty="0"/>
              <a:t>POP</a:t>
            </a:r>
            <a:r>
              <a:rPr lang="zh-CN" altLang="en-US" dirty="0"/>
              <a:t>指令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90FC84-5530-4452-AA2C-A8653B4B7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PUSH r/m16</a:t>
            </a:r>
          </a:p>
          <a:p>
            <a:r>
              <a:rPr lang="en-US" altLang="zh-CN" dirty="0"/>
              <a:t>PUSH r/m32</a:t>
            </a:r>
          </a:p>
          <a:p>
            <a:r>
              <a:rPr lang="en-US" altLang="zh-CN" dirty="0"/>
              <a:t>PUSH imm32</a:t>
            </a:r>
          </a:p>
          <a:p>
            <a:endParaRPr lang="en-US" altLang="zh-CN" dirty="0"/>
          </a:p>
          <a:p>
            <a:r>
              <a:rPr lang="pt-BR" altLang="zh-CN" dirty="0"/>
              <a:t>POP r/m16</a:t>
            </a:r>
          </a:p>
          <a:p>
            <a:r>
              <a:rPr lang="pt-BR" altLang="zh-CN" dirty="0"/>
              <a:t>POP r/m32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1369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/>
              <a:t>过程的定义和使用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64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67F4ED-5510-4448-A8E7-89CBF9ED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C2FD45-3DEF-4886-84A9-BC1DDDFC3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中的</a:t>
            </a:r>
            <a:r>
              <a:rPr lang="zh-CN" altLang="en-US" dirty="0">
                <a:solidFill>
                  <a:srgbClr val="FF0000"/>
                </a:solidFill>
              </a:rPr>
              <a:t>函数定义</a:t>
            </a:r>
            <a:endParaRPr lang="en-US" altLang="zh-CN" dirty="0">
              <a:solidFill>
                <a:srgbClr val="FF0000"/>
              </a:solidFill>
            </a:endParaRPr>
          </a:p>
          <a:p>
            <a:pPr marL="400050" lvl="1" indent="0">
              <a:buNone/>
            </a:pPr>
            <a:r>
              <a:rPr lang="en-US" altLang="zh-CN" dirty="0" err="1">
                <a:solidFill>
                  <a:srgbClr val="00B050"/>
                </a:solidFill>
              </a:rPr>
              <a:t>return_type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function_name</a:t>
            </a:r>
            <a:r>
              <a:rPr lang="en-US" altLang="zh-CN" dirty="0"/>
              <a:t>( </a:t>
            </a:r>
            <a:r>
              <a:rPr lang="en-US" altLang="zh-CN" dirty="0">
                <a:solidFill>
                  <a:srgbClr val="0070C0"/>
                </a:solidFill>
              </a:rPr>
              <a:t>parameter list </a:t>
            </a:r>
            <a:r>
              <a:rPr lang="en-US" altLang="zh-CN" dirty="0"/>
              <a:t>) {</a:t>
            </a:r>
          </a:p>
          <a:p>
            <a:pPr marL="800100" lvl="2" indent="0">
              <a:buNone/>
            </a:pPr>
            <a:r>
              <a:rPr lang="en-US" altLang="zh-CN" dirty="0"/>
              <a:t> </a:t>
            </a:r>
            <a:r>
              <a:rPr lang="en-US" altLang="zh-CN" sz="2800" dirty="0">
                <a:solidFill>
                  <a:srgbClr val="7030A0"/>
                </a:solidFill>
              </a:rPr>
              <a:t>body of the function </a:t>
            </a:r>
            <a:endParaRPr lang="en-US" altLang="zh-CN" dirty="0">
              <a:solidFill>
                <a:srgbClr val="7030A0"/>
              </a:solidFill>
            </a:endParaRPr>
          </a:p>
          <a:p>
            <a:pPr marL="40005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9334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F1A39-B9B1-414E-AD7E-D8DE1B47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DE4567-F691-40D5-AC44-67FD4586A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zh-CN" altLang="en-US" sz="2800" b="1" dirty="0">
                <a:solidFill>
                  <a:srgbClr val="00B050"/>
                </a:solidFill>
              </a:rPr>
              <a:t>返回类型</a:t>
            </a:r>
            <a:r>
              <a:rPr lang="zh-CN" altLang="en-US" sz="2800" b="1" dirty="0"/>
              <a:t>：</a:t>
            </a:r>
            <a:r>
              <a:rPr lang="zh-CN" altLang="en-US" sz="2800" dirty="0"/>
              <a:t>一个函数可以返回一个值。</a:t>
            </a:r>
            <a:r>
              <a:rPr lang="en-US" altLang="zh-CN" sz="2800" b="1" dirty="0" err="1"/>
              <a:t>return_type</a:t>
            </a:r>
            <a:r>
              <a:rPr lang="zh-CN" altLang="en-US" sz="2800" dirty="0"/>
              <a:t> 是函数返回值的数据类型。</a:t>
            </a:r>
            <a:endParaRPr lang="en-US" altLang="zh-CN" sz="2800" dirty="0"/>
          </a:p>
          <a:p>
            <a:pPr latinLnBrk="1"/>
            <a:r>
              <a:rPr lang="zh-CN" altLang="en-US" sz="2800" b="1" dirty="0">
                <a:solidFill>
                  <a:srgbClr val="FF0000"/>
                </a:solidFill>
              </a:rPr>
              <a:t>函数名称</a:t>
            </a:r>
            <a:r>
              <a:rPr lang="zh-CN" altLang="en-US" sz="2800" b="1" dirty="0"/>
              <a:t>：</a:t>
            </a:r>
            <a:r>
              <a:rPr lang="zh-CN" altLang="en-US" sz="2800" dirty="0"/>
              <a:t>这是函数的实际名称。函数名和参数列表一起构成了</a:t>
            </a:r>
            <a:r>
              <a:rPr lang="zh-CN" altLang="en-US" sz="2800" dirty="0">
                <a:solidFill>
                  <a:srgbClr val="7030A0"/>
                </a:solidFill>
              </a:rPr>
              <a:t>函数签名</a:t>
            </a:r>
            <a:r>
              <a:rPr lang="zh-CN" altLang="en-US" sz="2800" dirty="0"/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5522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3AD5C-D4EC-4A27-96D2-441E4DAF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18B254-B8A7-46A2-8ACD-6749D5D5C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zh-CN" altLang="en-US" b="1" dirty="0">
                <a:solidFill>
                  <a:srgbClr val="0070C0"/>
                </a:solidFill>
              </a:rPr>
              <a:t>参数</a:t>
            </a:r>
            <a:r>
              <a:rPr lang="zh-CN" altLang="en-US" b="1" dirty="0"/>
              <a:t>：</a:t>
            </a:r>
            <a:r>
              <a:rPr lang="zh-CN" altLang="en-US" dirty="0"/>
              <a:t>参数就像是占位符。当函数被调用时，向参数传递一个值，这个值被称为</a:t>
            </a:r>
            <a:r>
              <a:rPr lang="zh-CN" altLang="en-US" dirty="0">
                <a:solidFill>
                  <a:srgbClr val="FF0000"/>
                </a:solidFill>
              </a:rPr>
              <a:t>实际参数</a:t>
            </a:r>
            <a:r>
              <a:rPr lang="zh-CN" altLang="en-US" dirty="0"/>
              <a:t>。参数列表包括函数参数的类型、顺序、数量。</a:t>
            </a:r>
            <a:endParaRPr lang="en-US" altLang="zh-CN" dirty="0"/>
          </a:p>
          <a:p>
            <a:pPr latinLnBrk="1"/>
            <a:r>
              <a:rPr lang="zh-CN" altLang="en-US" b="1" dirty="0">
                <a:solidFill>
                  <a:srgbClr val="7030A0"/>
                </a:solidFill>
              </a:rPr>
              <a:t>函数主体</a:t>
            </a:r>
            <a:r>
              <a:rPr lang="zh-CN" altLang="en-US" b="1" dirty="0"/>
              <a:t>：</a:t>
            </a:r>
            <a:r>
              <a:rPr lang="zh-CN" altLang="en-US" dirty="0"/>
              <a:t>函数主体包含一组定义函数执行任务的语句。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7658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1631FD-D756-482F-BF47-397105F8E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6EFD00-6925-43E5-85C9-A628D4A96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776550"/>
            <a:ext cx="7940675" cy="4305164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max</a:t>
            </a:r>
            <a:r>
              <a:rPr lang="en-US" altLang="zh-CN" dirty="0">
                <a:solidFill>
                  <a:srgbClr val="0070C0"/>
                </a:solidFill>
              </a:rPr>
              <a:t>(int num1, int num2) </a:t>
            </a:r>
            <a:r>
              <a:rPr lang="en-US" altLang="zh-CN" dirty="0"/>
              <a:t>{ 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// </a:t>
            </a:r>
            <a:r>
              <a:rPr lang="zh-CN" altLang="en-US" dirty="0">
                <a:solidFill>
                  <a:srgbClr val="7030A0"/>
                </a:solidFill>
              </a:rPr>
              <a:t>局部变量声明 </a:t>
            </a:r>
            <a:endParaRPr lang="en-US" altLang="zh-CN" dirty="0">
              <a:solidFill>
                <a:srgbClr val="7030A0"/>
              </a:solidFill>
            </a:endParaRP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int result; 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if (num1 &gt; num2) 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    result = num1; 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else 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    result = num2; 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return result;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8250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90F09-AB46-4FB3-9039-11B5D99FA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113" y="735979"/>
            <a:ext cx="7345362" cy="868363"/>
          </a:xfrm>
        </p:spPr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839621-FC2F-4B5E-ADB0-7D4C3B3CE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493625"/>
            <a:ext cx="7940675" cy="4666186"/>
          </a:xfrm>
        </p:spPr>
        <p:txBody>
          <a:bodyPr/>
          <a:lstStyle/>
          <a:p>
            <a:r>
              <a:rPr lang="zh-CN" altLang="en-US" dirty="0"/>
              <a:t>汇编语言中，一般使用术语“</a:t>
            </a:r>
            <a:r>
              <a:rPr lang="zh-CN" altLang="en-US" b="1" dirty="0">
                <a:solidFill>
                  <a:srgbClr val="FF0000"/>
                </a:solidFill>
              </a:rPr>
              <a:t>过程</a:t>
            </a:r>
            <a:r>
              <a:rPr lang="zh-CN" altLang="en-US" dirty="0"/>
              <a:t>”（</a:t>
            </a:r>
            <a:r>
              <a:rPr lang="en-US" altLang="zh-CN" dirty="0"/>
              <a:t>procedure</a:t>
            </a:r>
            <a:r>
              <a:rPr lang="zh-CN" altLang="en-US" dirty="0"/>
              <a:t>）表示高级语言中的函数、方法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函数</a:t>
            </a:r>
            <a:r>
              <a:rPr lang="zh-CN" altLang="en-US" dirty="0"/>
              <a:t>（</a:t>
            </a:r>
            <a:r>
              <a:rPr lang="en-US" altLang="zh-CN" dirty="0"/>
              <a:t>function</a:t>
            </a:r>
            <a:r>
              <a:rPr lang="zh-CN" altLang="en-US" dirty="0"/>
              <a:t>），</a:t>
            </a:r>
            <a:r>
              <a:rPr lang="en-US" altLang="zh-CN" dirty="0"/>
              <a:t>C/C++</a:t>
            </a:r>
            <a:r>
              <a:rPr lang="zh-CN" altLang="en-US" dirty="0"/>
              <a:t>中称为函数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方法</a:t>
            </a:r>
            <a:r>
              <a:rPr lang="zh-CN" altLang="en-US" dirty="0"/>
              <a:t>（</a:t>
            </a:r>
            <a:r>
              <a:rPr lang="en-US" altLang="zh-CN" dirty="0"/>
              <a:t>method</a:t>
            </a:r>
            <a:r>
              <a:rPr lang="zh-CN" altLang="en-US" dirty="0"/>
              <a:t>），</a:t>
            </a:r>
            <a:r>
              <a:rPr lang="en-US" altLang="zh-CN" dirty="0"/>
              <a:t>JAVA</a:t>
            </a:r>
            <a:r>
              <a:rPr lang="zh-CN" altLang="en-US" dirty="0"/>
              <a:t>中称为方法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0307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3CA5B-2534-448C-9CCF-A3D5FE18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E22910-453C-42C0-ADC0-45E0C1D27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汇编语言</a:t>
            </a:r>
            <a:r>
              <a:rPr lang="zh-CN" altLang="en-US" dirty="0">
                <a:solidFill>
                  <a:srgbClr val="7030A0"/>
                </a:solidFill>
              </a:rPr>
              <a:t>早于</a:t>
            </a:r>
            <a:r>
              <a:rPr lang="zh-CN" altLang="en-US" dirty="0"/>
              <a:t> “面向对象”、“面向函数”的编程语言 </a:t>
            </a:r>
            <a:endParaRPr lang="en-US" altLang="zh-CN" dirty="0"/>
          </a:p>
          <a:p>
            <a:pPr lvl="1"/>
            <a:r>
              <a:rPr lang="zh-CN" altLang="en-US" dirty="0"/>
              <a:t>编译器是如何将这些高级语言中的函数、过程翻译成汇编语言的？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4971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5695A-7953-4A9C-B1FB-02A82733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B0FAB0-31EA-4E7F-8275-B252B66DD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汇编语言把过程定义为以</a:t>
            </a:r>
            <a:r>
              <a:rPr lang="zh-CN" altLang="en-US" dirty="0">
                <a:solidFill>
                  <a:srgbClr val="0070C0"/>
                </a:solidFill>
              </a:rPr>
              <a:t>返回语句结束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命名</a:t>
            </a:r>
            <a:r>
              <a:rPr lang="zh-CN" altLang="en-US" dirty="0">
                <a:solidFill>
                  <a:srgbClr val="00B050"/>
                </a:solidFill>
              </a:rPr>
              <a:t>语句块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>
                <a:solidFill>
                  <a:srgbClr val="FF0000"/>
                </a:solidFill>
              </a:rPr>
              <a:t>PROC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FF0000"/>
                </a:solidFill>
              </a:rPr>
              <a:t>ENDP</a:t>
            </a:r>
            <a:r>
              <a:rPr lang="zh-CN" altLang="en-US" dirty="0"/>
              <a:t>伪指令来声明过程</a:t>
            </a:r>
            <a:endParaRPr lang="en-US" altLang="zh-CN" dirty="0"/>
          </a:p>
          <a:p>
            <a:pPr lvl="1"/>
            <a:r>
              <a:rPr lang="zh-CN" altLang="en-US" dirty="0"/>
              <a:t>必须定义一个</a:t>
            </a:r>
            <a:r>
              <a:rPr lang="zh-CN" altLang="en-US" dirty="0">
                <a:solidFill>
                  <a:srgbClr val="FF0000"/>
                </a:solidFill>
              </a:rPr>
              <a:t>过程名字</a:t>
            </a:r>
            <a:r>
              <a:rPr lang="zh-CN" altLang="en-US" dirty="0"/>
              <a:t>（标识符）</a:t>
            </a:r>
          </a:p>
        </p:txBody>
      </p:sp>
    </p:spTree>
    <p:extLst>
      <p:ext uri="{BB962C8B-B14F-4D97-AF65-F5344CB8AC3E}">
        <p14:creationId xmlns:p14="http://schemas.microsoft.com/office/powerpoint/2010/main" val="333031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13659-BE31-4965-A8FA-FDDEF025A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11A461-D2B6-49BC-9B6D-A92B9873A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 err="1"/>
              <a:t>my_proc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PROC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/>
              <a:t>... ...</a:t>
            </a:r>
          </a:p>
          <a:p>
            <a:pPr marL="40005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70C0"/>
                </a:solidFill>
              </a:rPr>
              <a:t>ret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 err="1"/>
              <a:t>my_proc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ENDP</a:t>
            </a:r>
          </a:p>
          <a:p>
            <a:r>
              <a:rPr lang="zh-CN" altLang="en-US" dirty="0"/>
              <a:t>除启动过程之外，其它过程以</a:t>
            </a:r>
            <a:r>
              <a:rPr lang="en-US" altLang="zh-CN" dirty="0"/>
              <a:t>ret</a:t>
            </a:r>
            <a:r>
              <a:rPr lang="zh-CN" altLang="en-US" dirty="0"/>
              <a:t>指令结束</a:t>
            </a:r>
            <a:endParaRPr lang="en-US" altLang="zh-CN" dirty="0"/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CPU</a:t>
            </a:r>
            <a:r>
              <a:rPr lang="zh-CN" altLang="en-US" dirty="0"/>
              <a:t>控制权转移到过程被调用的地方</a:t>
            </a:r>
          </a:p>
        </p:txBody>
      </p:sp>
    </p:spTree>
    <p:extLst>
      <p:ext uri="{BB962C8B-B14F-4D97-AF65-F5344CB8AC3E}">
        <p14:creationId xmlns:p14="http://schemas.microsoft.com/office/powerpoint/2010/main" val="3369043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160770-7B1C-44F4-9D44-8B7D19323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启动过程（</a:t>
            </a:r>
            <a:r>
              <a:rPr lang="en-US" altLang="zh-CN" dirty="0"/>
              <a:t>main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B9CCB8-CEE3-4900-A9F6-EA7370DB6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70C0"/>
                </a:solidFill>
              </a:rPr>
              <a:t>main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PROC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...  ...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0070C0"/>
                </a:solidFill>
              </a:rPr>
              <a:t>main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ENDP</a:t>
            </a:r>
          </a:p>
          <a:p>
            <a:r>
              <a:rPr lang="zh-CN" altLang="en-US" dirty="0"/>
              <a:t>启动过程（</a:t>
            </a:r>
            <a:r>
              <a:rPr lang="en-US" altLang="zh-CN" dirty="0"/>
              <a:t>main</a:t>
            </a:r>
            <a:r>
              <a:rPr lang="zh-CN" altLang="en-US" dirty="0"/>
              <a:t>）的</a:t>
            </a:r>
            <a:r>
              <a:rPr lang="zh-CN" altLang="en-US" dirty="0">
                <a:solidFill>
                  <a:srgbClr val="FF0000"/>
                </a:solidFill>
              </a:rPr>
              <a:t>返回语句</a:t>
            </a:r>
            <a:r>
              <a:rPr lang="zh-CN" altLang="en-US" dirty="0"/>
              <a:t>是</a:t>
            </a:r>
            <a:endParaRPr lang="en-US" altLang="zh-CN" dirty="0"/>
          </a:p>
          <a:p>
            <a:pPr lvl="1"/>
            <a:r>
              <a:rPr lang="en-US" altLang="zh-CN" dirty="0"/>
              <a:t>INVOKE </a:t>
            </a:r>
            <a:r>
              <a:rPr lang="en-US" altLang="zh-CN" dirty="0" err="1"/>
              <a:t>ExitProcess</a:t>
            </a:r>
            <a:r>
              <a:rPr lang="en-US" altLang="zh-CN" dirty="0"/>
              <a:t>, 0</a:t>
            </a:r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CPU</a:t>
            </a:r>
            <a:r>
              <a:rPr lang="zh-CN" altLang="en-US" dirty="0"/>
              <a:t>的控制权转移给</a:t>
            </a:r>
            <a:r>
              <a:rPr lang="en-US" altLang="zh-CN" dirty="0"/>
              <a:t>Windows</a:t>
            </a:r>
            <a:r>
              <a:rPr lang="zh-CN" altLang="en-US" dirty="0"/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1159675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04537F-77BF-4F2A-9195-E48112AD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过程的定义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3A982D-7A30-4309-A812-E17A351FC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MyProc</a:t>
            </a:r>
            <a:r>
              <a:rPr lang="zh-CN" altLang="en-US" dirty="0"/>
              <a:t>过程，计算寄存器</a:t>
            </a:r>
            <a:r>
              <a:rPr lang="en-US" altLang="zh-CN" dirty="0"/>
              <a:t>EAX</a:t>
            </a:r>
            <a:r>
              <a:rPr lang="zh-CN" altLang="en-US" dirty="0"/>
              <a:t>、</a:t>
            </a:r>
            <a:r>
              <a:rPr lang="en-US" altLang="zh-CN" dirty="0"/>
              <a:t>EBX</a:t>
            </a:r>
            <a:r>
              <a:rPr lang="zh-CN" altLang="en-US" dirty="0"/>
              <a:t>、</a:t>
            </a:r>
            <a:r>
              <a:rPr lang="en-US" altLang="zh-CN" dirty="0"/>
              <a:t>ECX</a:t>
            </a:r>
            <a:r>
              <a:rPr lang="zh-CN" altLang="en-US" dirty="0"/>
              <a:t>之和</a:t>
            </a:r>
            <a:endParaRPr lang="en-US" altLang="zh-CN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 err="1"/>
              <a:t>MyProc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PROC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ADD EAX</a:t>
            </a:r>
            <a:r>
              <a:rPr lang="zh-CN" altLang="en-US" dirty="0"/>
              <a:t>，</a:t>
            </a:r>
            <a:r>
              <a:rPr lang="en-US" altLang="zh-CN" dirty="0"/>
              <a:t>EBX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/>
              <a:t>    ADD EAX</a:t>
            </a:r>
            <a:r>
              <a:rPr lang="zh-CN" altLang="en-US" dirty="0"/>
              <a:t>，</a:t>
            </a:r>
            <a:r>
              <a:rPr lang="en-US" altLang="zh-CN" dirty="0"/>
              <a:t>ECX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    RET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dirty="0" err="1"/>
              <a:t>MyProc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ENDP</a:t>
            </a:r>
          </a:p>
        </p:txBody>
      </p:sp>
    </p:spTree>
    <p:extLst>
      <p:ext uri="{BB962C8B-B14F-4D97-AF65-F5344CB8AC3E}">
        <p14:creationId xmlns:p14="http://schemas.microsoft.com/office/powerpoint/2010/main" val="2172443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DBD26-8725-409C-9424-55DE78FEE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过程的调用与返回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405010-3140-4A4F-B68C-F4B29D974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CALL</a:t>
            </a:r>
            <a:r>
              <a:rPr lang="zh-CN" altLang="en-US" dirty="0"/>
              <a:t>指令将</a:t>
            </a:r>
            <a:r>
              <a:rPr lang="en-US" altLang="zh-CN" dirty="0"/>
              <a:t>CPU</a:t>
            </a:r>
            <a:r>
              <a:rPr lang="zh-CN" altLang="en-US" dirty="0"/>
              <a:t>的控制权转移到新的内存地址执行指令，</a:t>
            </a:r>
            <a:r>
              <a:rPr lang="zh-CN" altLang="en-US" dirty="0">
                <a:solidFill>
                  <a:srgbClr val="0070C0"/>
                </a:solidFill>
              </a:rPr>
              <a:t>实现过程的调用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RET</a:t>
            </a:r>
            <a:r>
              <a:rPr lang="zh-CN" altLang="en-US" dirty="0"/>
              <a:t>指令将</a:t>
            </a:r>
            <a:r>
              <a:rPr lang="en-US" altLang="zh-CN" dirty="0"/>
              <a:t>CPU</a:t>
            </a:r>
            <a:r>
              <a:rPr lang="zh-CN" altLang="en-US" dirty="0"/>
              <a:t>的控制权返回到程序中过程被调用的地方继续执行</a:t>
            </a:r>
          </a:p>
        </p:txBody>
      </p:sp>
    </p:spTree>
    <p:extLst>
      <p:ext uri="{BB962C8B-B14F-4D97-AF65-F5344CB8AC3E}">
        <p14:creationId xmlns:p14="http://schemas.microsoft.com/office/powerpoint/2010/main" val="3228111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DC720F-8375-4D14-92AA-D64EB89C5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过程的调用与返回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30B10B-DF21-4F03-95CC-B5B2A1528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189" y="1706335"/>
            <a:ext cx="7940675" cy="409257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main </a:t>
            </a:r>
            <a:r>
              <a:rPr lang="en-US" altLang="zh-CN" sz="2000" dirty="0">
                <a:solidFill>
                  <a:srgbClr val="0070C0"/>
                </a:solidFill>
              </a:rPr>
              <a:t>PROC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MOV EAX, 1000h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MOV EBX, 1000h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MOV ECX, 1000h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</a:t>
            </a:r>
            <a:r>
              <a:rPr lang="en-US" altLang="zh-CN" sz="2000" b="1" i="1" dirty="0">
                <a:solidFill>
                  <a:srgbClr val="FF0000"/>
                </a:solidFill>
              </a:rPr>
              <a:t>CALL</a:t>
            </a:r>
            <a:r>
              <a:rPr lang="en-US" altLang="zh-CN" sz="2000" dirty="0"/>
              <a:t> 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MyProc</a:t>
            </a:r>
            <a:endParaRPr lang="en-US" altLang="zh-CN" sz="2000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INVOKE </a:t>
            </a:r>
            <a:r>
              <a:rPr lang="en-US" altLang="zh-CN" sz="2000" dirty="0" err="1"/>
              <a:t>ExitProcess</a:t>
            </a:r>
            <a:r>
              <a:rPr lang="en-US" altLang="zh-CN" sz="2000" dirty="0"/>
              <a:t>, 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main </a:t>
            </a:r>
            <a:r>
              <a:rPr lang="en-US" altLang="zh-CN" sz="2000" dirty="0">
                <a:solidFill>
                  <a:srgbClr val="0070C0"/>
                </a:solidFill>
              </a:rPr>
              <a:t>ENDP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 err="1">
                <a:solidFill>
                  <a:srgbClr val="FF0000"/>
                </a:solidFill>
              </a:rPr>
              <a:t>MyProc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0070C0"/>
                </a:solidFill>
              </a:rPr>
              <a:t>PROC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ADD EAX, EBX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ADD EAX, ECX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/>
              <a:t>    </a:t>
            </a:r>
            <a:r>
              <a:rPr lang="en-US" altLang="zh-CN" sz="2000" b="1" i="1" dirty="0">
                <a:solidFill>
                  <a:srgbClr val="FF0000"/>
                </a:solidFill>
              </a:rPr>
              <a:t>RET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dirty="0" err="1">
                <a:solidFill>
                  <a:srgbClr val="FF0000"/>
                </a:solidFill>
              </a:rPr>
              <a:t>MyProc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0070C0"/>
                </a:solidFill>
              </a:rPr>
              <a:t>ENDP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41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FA08EB-6EC2-433D-B540-10A9F9D51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过程的调用与返回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F3F053-6360-4714-BBCA-4DEED87BF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过程返回地址的保存</a:t>
            </a:r>
            <a:endParaRPr lang="en-US" altLang="zh-CN" dirty="0"/>
          </a:p>
          <a:p>
            <a:pPr lvl="1"/>
            <a:r>
              <a:rPr lang="en-US" altLang="zh-CN" dirty="0"/>
              <a:t>CALL</a:t>
            </a:r>
            <a:r>
              <a:rPr lang="zh-CN" altLang="en-US" dirty="0"/>
              <a:t>指令调用之后，将过程的</a:t>
            </a:r>
            <a:r>
              <a:rPr lang="zh-CN" altLang="en-US" dirty="0">
                <a:solidFill>
                  <a:srgbClr val="FF0000"/>
                </a:solidFill>
              </a:rPr>
              <a:t>返回地址</a:t>
            </a:r>
            <a:r>
              <a:rPr lang="zh-CN" altLang="en-US" dirty="0"/>
              <a:t>压入堆栈，将过程入口地址赋值给</a:t>
            </a:r>
            <a:r>
              <a:rPr lang="en-US" altLang="zh-CN" dirty="0">
                <a:solidFill>
                  <a:srgbClr val="FF0000"/>
                </a:solidFill>
              </a:rPr>
              <a:t>EIP</a:t>
            </a:r>
            <a:r>
              <a:rPr lang="zh-CN" altLang="en-US" dirty="0"/>
              <a:t>，实现</a:t>
            </a:r>
            <a:r>
              <a:rPr lang="en-US" altLang="zh-CN" dirty="0"/>
              <a:t>CPU</a:t>
            </a:r>
            <a:r>
              <a:rPr lang="zh-CN" altLang="en-US" dirty="0"/>
              <a:t>控制权的转移</a:t>
            </a:r>
            <a:endParaRPr lang="en-US" altLang="zh-CN" dirty="0"/>
          </a:p>
          <a:p>
            <a:pPr lvl="1"/>
            <a:r>
              <a:rPr lang="en-US" altLang="zh-CN" dirty="0"/>
              <a:t>RET</a:t>
            </a:r>
            <a:r>
              <a:rPr lang="zh-CN" altLang="en-US" dirty="0"/>
              <a:t>指令调用之后，将过程的</a:t>
            </a:r>
            <a:r>
              <a:rPr lang="zh-CN" altLang="en-US" dirty="0">
                <a:solidFill>
                  <a:srgbClr val="FF0000"/>
                </a:solidFill>
              </a:rPr>
              <a:t>返回地址</a:t>
            </a:r>
            <a:r>
              <a:rPr lang="zh-CN" altLang="en-US" dirty="0"/>
              <a:t>赋值给</a:t>
            </a:r>
            <a:r>
              <a:rPr lang="en-US" altLang="zh-CN" dirty="0">
                <a:solidFill>
                  <a:srgbClr val="FF0000"/>
                </a:solidFill>
              </a:rPr>
              <a:t>EIP</a:t>
            </a:r>
            <a:r>
              <a:rPr lang="zh-CN" altLang="en-US" dirty="0"/>
              <a:t>寄存器，实现</a:t>
            </a:r>
            <a:r>
              <a:rPr lang="en-US" altLang="zh-CN" dirty="0"/>
              <a:t>CPU</a:t>
            </a:r>
            <a:r>
              <a:rPr lang="zh-CN" altLang="en-US" dirty="0"/>
              <a:t>控制权的转移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48378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4E2EE5-C7AD-4615-9D02-E775C39C4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过程的调用与返回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378ECB49-CFEC-4786-A9F4-40DE7C1A2E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9774" y="2487395"/>
            <a:ext cx="8261748" cy="252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460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7517A7F-7511-486A-A218-E10C40B694C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下面哪个伪指令用于定义过程？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151B05-F699-4D9B-A9A7-BB2E5209E3F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PROC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3717FE-7369-4960-A18B-DFE8BD06BE7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50687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ENDP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4B5E6A-A16D-4216-A2B3-9FF9F7DE82C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SIZEOF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C320CD-2019-421D-9B5E-F4ACB152FA0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TYPE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D00269-8796-4559-B8F7-A70189290C3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0780E6-BF80-443D-907E-BF7809AE44B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274A89-0DFA-4AD0-8C6D-BA3FFD508778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11340C1-06EC-4041-ADD0-71B1FE15A69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E6587C5-CA01-4FD8-85E8-C863C79EBE6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53E945A-21B2-4033-A4F3-B8508AB51E1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63F225CF-2C0B-48FB-826C-30A49311E5B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05B62761-96A9-464C-90E8-59E65664E0F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2F646673-8875-4575-8590-5AF12AC5391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1" name="TipText">
              <a:extLst>
                <a:ext uri="{FF2B5EF4-FFF2-40B4-BE49-F238E27FC236}">
                  <a16:creationId xmlns:a16="http://schemas.microsoft.com/office/drawing/2014/main" id="{116965E6-5A27-467E-B13F-1F1ADA56787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7347BAD-C759-4D17-9E9C-E3E67621FE2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0957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4727" y="2337582"/>
            <a:ext cx="6400800" cy="1143000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程序流程图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69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4E2EE5-C7AD-4615-9D02-E775C39C4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程序流程图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F1D32AC-C5E0-C935-BD91-7597802C0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0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流程图是一种直观、图形化的表达方法，用于清晰地描述程序、操作或系统的工作流程。它采用一系列符号和带箭头的连线，将复杂的逻辑过程分解成简单、易于理解的步骤。每个图形或符号在流程图中代表一个特定的操作或判断，而箭头则指示了这些步骤之间的执行顺序和流向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107506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969D0-D159-47F9-957C-49963E18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本章知识点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B8B89F-D60A-42C3-84D9-4CFC30452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程序链接和链接库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堆栈机制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过程的定义和使用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宋体" panose="02010600030101010101" pitchFamily="2" charset="-122"/>
              </a:rPr>
              <a:t>程序流程图</a:t>
            </a:r>
            <a:endParaRPr lang="en-US" altLang="zh-CN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696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82802"/>
            <a:ext cx="12192000" cy="140530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i="0" dirty="0">
                <a:solidFill>
                  <a:schemeClr val="tx1"/>
                </a:solidFill>
                <a:ea typeface="宋体" panose="02010600030101010101" pitchFamily="2" charset="-122"/>
              </a:rPr>
              <a:t>汇编语言与逆向技术</a:t>
            </a:r>
            <a:br>
              <a:rPr lang="en-US" i="0" dirty="0">
                <a:solidFill>
                  <a:schemeClr val="tx1"/>
                </a:solidFill>
                <a:ea typeface="宋体" panose="02010600030101010101" pitchFamily="2" charset="-122"/>
              </a:rPr>
            </a:br>
            <a:r>
              <a:rPr lang="zh-CN" altLang="en-US" sz="3600" b="1" dirty="0">
                <a:solidFill>
                  <a:srgbClr val="7030A0"/>
                </a:solidFill>
              </a:rPr>
              <a:t>第</a:t>
            </a:r>
            <a:r>
              <a:rPr lang="en-US" altLang="zh-CN" sz="3600" b="1" dirty="0">
                <a:solidFill>
                  <a:srgbClr val="7030A0"/>
                </a:solidFill>
              </a:rPr>
              <a:t>5</a:t>
            </a:r>
            <a:r>
              <a:rPr lang="zh-CN" altLang="en-US" sz="3600" b="1">
                <a:solidFill>
                  <a:srgbClr val="7030A0"/>
                </a:solidFill>
              </a:rPr>
              <a:t>章 过程</a:t>
            </a:r>
            <a:endParaRPr lang="en-US" sz="2800" b="1" dirty="0">
              <a:solidFill>
                <a:srgbClr val="7030A0"/>
              </a:solidFill>
              <a:ea typeface="宋体" panose="02010600030101010101" pitchFamily="2" charset="-122"/>
            </a:endParaRPr>
          </a:p>
        </p:txBody>
      </p:sp>
      <p:sp>
        <p:nvSpPr>
          <p:cNvPr id="5" name="Title 1"/>
          <p:cNvSpPr txBox="1"/>
          <p:nvPr/>
        </p:nvSpPr>
        <p:spPr bwMode="auto">
          <a:xfrm>
            <a:off x="0" y="3626471"/>
            <a:ext cx="12192000" cy="1301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zh-CN" altLang="en-US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王志、李旭昇、过辰锴、邓琮弋</a:t>
            </a:r>
            <a:r>
              <a:rPr lang="en-US" altLang="zh-CN" sz="36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algn="ctr" defTabSz="914400"/>
            <a:r>
              <a:rPr lang="en-US" altLang="zh-CN" sz="24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zwang@nankai.edu.cn</a:t>
            </a:r>
          </a:p>
        </p:txBody>
      </p:sp>
      <p:sp>
        <p:nvSpPr>
          <p:cNvPr id="4" name="Title 1"/>
          <p:cNvSpPr txBox="1"/>
          <p:nvPr/>
        </p:nvSpPr>
        <p:spPr bwMode="auto">
          <a:xfrm>
            <a:off x="0" y="5179843"/>
            <a:ext cx="12192000" cy="167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300" b="1" i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 b="1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zh-CN" altLang="en-US" sz="2400" i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南开大学 网络空间安全学院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defTabSz="914400">
              <a:lnSpc>
                <a:spcPct val="150000"/>
              </a:lnSpc>
            </a:pPr>
            <a:r>
              <a:rPr lang="en-US" altLang="zh-CN" sz="2400" i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2025-2026</a:t>
            </a:r>
            <a:r>
              <a:rPr lang="zh-CN" altLang="en-US" sz="2400" i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学年</a:t>
            </a:r>
            <a:endParaRPr lang="en-US" altLang="zh-CN" sz="2400" i="0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928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MultipleChoiceMA"/>
  <p:tag name="RAINPROBLEM" val="MultipleChoiceMA"/>
  <p:tag name="PROBLEMSCORE_HALF" val="0.0"/>
  <p:tag name="PROBLEMSCORE" val="1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2_400TGp_globalcity_light_ani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4175</TotalTime>
  <Words>1307</Words>
  <Application>Microsoft Office PowerPoint</Application>
  <PresentationFormat>宽屏</PresentationFormat>
  <Paragraphs>161</Paragraphs>
  <Slides>31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DengXian</vt:lpstr>
      <vt:lpstr>宋体</vt:lpstr>
      <vt:lpstr>Microsoft Yahei</vt:lpstr>
      <vt:lpstr>Arial</vt:lpstr>
      <vt:lpstr>Calibri</vt:lpstr>
      <vt:lpstr>Times New Roman</vt:lpstr>
      <vt:lpstr>Wingdings</vt:lpstr>
      <vt:lpstr>2_400TGp_globalcity_light_ani</vt:lpstr>
      <vt:lpstr>汇编语言与逆向技术 第5章 过程</vt:lpstr>
      <vt:lpstr>本章知识点</vt:lpstr>
      <vt:lpstr>程序链接和链接库</vt:lpstr>
      <vt:lpstr>链接库</vt:lpstr>
      <vt:lpstr>PROTO伪指令</vt:lpstr>
      <vt:lpstr>PROTO伪指令</vt:lpstr>
      <vt:lpstr>PowerPoint 演示文稿</vt:lpstr>
      <vt:lpstr>堆栈机制</vt:lpstr>
      <vt:lpstr>运行时栈</vt:lpstr>
      <vt:lpstr>使用场景</vt:lpstr>
      <vt:lpstr>PUSH、POP指令</vt:lpstr>
      <vt:lpstr>3. 过程的定义和使用</vt:lpstr>
      <vt:lpstr>过程</vt:lpstr>
      <vt:lpstr>过程</vt:lpstr>
      <vt:lpstr>过程</vt:lpstr>
      <vt:lpstr>过程</vt:lpstr>
      <vt:lpstr>过程</vt:lpstr>
      <vt:lpstr>过程</vt:lpstr>
      <vt:lpstr>过程</vt:lpstr>
      <vt:lpstr>过程</vt:lpstr>
      <vt:lpstr>启动过程（main）</vt:lpstr>
      <vt:lpstr>过程的定义</vt:lpstr>
      <vt:lpstr>过程的调用与返回</vt:lpstr>
      <vt:lpstr>过程的调用与返回</vt:lpstr>
      <vt:lpstr>过程的调用与返回</vt:lpstr>
      <vt:lpstr>过程的调用与返回</vt:lpstr>
      <vt:lpstr>PowerPoint 演示文稿</vt:lpstr>
      <vt:lpstr>程序流程图</vt:lpstr>
      <vt:lpstr>程序流程图</vt:lpstr>
      <vt:lpstr>本章知识点</vt:lpstr>
      <vt:lpstr>汇编语言与逆向技术 第5章 过程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汇编与逆向技术基础  第2章 IA-32处理器体系结构</dc:title>
  <dc:creator>zwang</dc:creator>
  <cp:lastModifiedBy>志 王</cp:lastModifiedBy>
  <cp:revision>406</cp:revision>
  <dcterms:created xsi:type="dcterms:W3CDTF">2020-03-01T14:18:02Z</dcterms:created>
  <dcterms:modified xsi:type="dcterms:W3CDTF">2026-01-04T09:11:46Z</dcterms:modified>
</cp:coreProperties>
</file>