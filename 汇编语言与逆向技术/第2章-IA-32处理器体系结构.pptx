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2" r:id="rId2"/>
  </p:sldMasterIdLst>
  <p:notesMasterIdLst>
    <p:notesMasterId r:id="rId64"/>
  </p:notesMasterIdLst>
  <p:sldIdLst>
    <p:sldId id="832" r:id="rId3"/>
    <p:sldId id="356" r:id="rId4"/>
    <p:sldId id="266" r:id="rId5"/>
    <p:sldId id="363" r:id="rId6"/>
    <p:sldId id="431" r:id="rId7"/>
    <p:sldId id="432" r:id="rId8"/>
    <p:sldId id="433" r:id="rId9"/>
    <p:sldId id="434" r:id="rId10"/>
    <p:sldId id="435" r:id="rId11"/>
    <p:sldId id="436" r:id="rId12"/>
    <p:sldId id="478" r:id="rId13"/>
    <p:sldId id="437" r:id="rId14"/>
    <p:sldId id="520" r:id="rId15"/>
    <p:sldId id="438" r:id="rId16"/>
    <p:sldId id="477" r:id="rId17"/>
    <p:sldId id="439" r:id="rId18"/>
    <p:sldId id="440" r:id="rId19"/>
    <p:sldId id="441" r:id="rId20"/>
    <p:sldId id="442" r:id="rId21"/>
    <p:sldId id="443" r:id="rId22"/>
    <p:sldId id="444" r:id="rId23"/>
    <p:sldId id="463" r:id="rId24"/>
    <p:sldId id="445" r:id="rId25"/>
    <p:sldId id="446" r:id="rId26"/>
    <p:sldId id="448" r:id="rId27"/>
    <p:sldId id="450" r:id="rId28"/>
    <p:sldId id="451" r:id="rId29"/>
    <p:sldId id="453" r:id="rId30"/>
    <p:sldId id="454" r:id="rId31"/>
    <p:sldId id="455" r:id="rId32"/>
    <p:sldId id="452" r:id="rId33"/>
    <p:sldId id="456" r:id="rId34"/>
    <p:sldId id="457" r:id="rId35"/>
    <p:sldId id="458" r:id="rId36"/>
    <p:sldId id="461" r:id="rId37"/>
    <p:sldId id="449" r:id="rId38"/>
    <p:sldId id="460" r:id="rId39"/>
    <p:sldId id="462" r:id="rId40"/>
    <p:sldId id="464" r:id="rId41"/>
    <p:sldId id="465" r:id="rId42"/>
    <p:sldId id="466" r:id="rId43"/>
    <p:sldId id="470" r:id="rId44"/>
    <p:sldId id="472" r:id="rId45"/>
    <p:sldId id="468" r:id="rId46"/>
    <p:sldId id="483" r:id="rId47"/>
    <p:sldId id="473" r:id="rId48"/>
    <p:sldId id="474" r:id="rId49"/>
    <p:sldId id="480" r:id="rId50"/>
    <p:sldId id="475" r:id="rId51"/>
    <p:sldId id="557" r:id="rId52"/>
    <p:sldId id="558" r:id="rId53"/>
    <p:sldId id="559" r:id="rId54"/>
    <p:sldId id="560" r:id="rId55"/>
    <p:sldId id="564" r:id="rId56"/>
    <p:sldId id="563" r:id="rId57"/>
    <p:sldId id="565" r:id="rId58"/>
    <p:sldId id="568" r:id="rId59"/>
    <p:sldId id="570" r:id="rId60"/>
    <p:sldId id="569" r:id="rId61"/>
    <p:sldId id="834" r:id="rId62"/>
    <p:sldId id="833" r:id="rId63"/>
  </p:sldIdLst>
  <p:sldSz cx="12192000" cy="6858000"/>
  <p:notesSz cx="6858000" cy="9144000"/>
  <p:custDataLst>
    <p:tags r:id="rId6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5" autoAdjust="0"/>
    <p:restoredTop sz="80607" autoAdjust="0"/>
  </p:normalViewPr>
  <p:slideViewPr>
    <p:cSldViewPr snapToGrid="0" snapToObjects="1" showGuides="1">
      <p:cViewPr varScale="1">
        <p:scale>
          <a:sx n="77" d="100"/>
          <a:sy n="77" d="100"/>
        </p:scale>
        <p:origin x="75" y="2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12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48" d="100"/>
          <a:sy n="48" d="100"/>
        </p:scale>
        <p:origin x="2184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B8E9B-9938-FE4B-AE28-1C6AC5DA2731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215D2-4FF9-AF41-91A8-41FD4B9A92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466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61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06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4111" name="Group 15"/>
          <p:cNvGrpSpPr/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/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13" name="Freeform 17"/>
            <p:cNvSpPr/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14" name="Freeform 18"/>
            <p:cNvSpPr/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15" name="Freeform 19"/>
            <p:cNvSpPr/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16" name="Freeform 20"/>
            <p:cNvSpPr/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17" name="Freeform 21"/>
            <p:cNvSpPr/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18" name="Freeform 22"/>
            <p:cNvSpPr/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19" name="Freeform 23"/>
            <p:cNvSpPr/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20" name="Freeform 24"/>
            <p:cNvSpPr/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21" name="Freeform 25"/>
            <p:cNvSpPr/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22" name="Freeform 26"/>
            <p:cNvSpPr/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23" name="Freeform 27"/>
            <p:cNvSpPr/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24" name="Freeform 28"/>
            <p:cNvSpPr/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25" name="Freeform 29"/>
            <p:cNvSpPr/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26" name="Freeform 30"/>
            <p:cNvSpPr/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27" name="Freeform 31"/>
            <p:cNvSpPr/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28" name="Freeform 32"/>
            <p:cNvSpPr/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29" name="Freeform 33"/>
            <p:cNvSpPr/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30" name="Freeform 34"/>
            <p:cNvSpPr/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31" name="Freeform 35"/>
            <p:cNvSpPr/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32" name="Freeform 36"/>
            <p:cNvSpPr/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33" name="Freeform 37"/>
            <p:cNvSpPr/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34" name="Freeform 38"/>
            <p:cNvSpPr/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35" name="Freeform 39"/>
            <p:cNvSpPr/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36" name="Freeform 40"/>
            <p:cNvSpPr/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37" name="Freeform 41"/>
            <p:cNvSpPr/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38" name="Freeform 42"/>
            <p:cNvSpPr/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39" name="Freeform 43"/>
            <p:cNvSpPr/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40" name="Freeform 44"/>
            <p:cNvSpPr/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41" name="Freeform 45"/>
            <p:cNvSpPr/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42" name="Freeform 46"/>
            <p:cNvSpPr/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43" name="Freeform 47"/>
            <p:cNvSpPr/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44" name="Freeform 48"/>
            <p:cNvSpPr/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45" name="Freeform 49"/>
            <p:cNvSpPr/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46" name="Freeform 50"/>
            <p:cNvSpPr/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47" name="Freeform 51"/>
            <p:cNvSpPr/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48" name="Freeform 52"/>
            <p:cNvSpPr/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49" name="Freeform 53"/>
            <p:cNvSpPr/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50" name="Freeform 54"/>
            <p:cNvSpPr/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51" name="Freeform 55"/>
            <p:cNvSpPr/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52" name="Freeform 56"/>
            <p:cNvSpPr/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53" name="Freeform 57"/>
            <p:cNvSpPr/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54" name="Freeform 58"/>
            <p:cNvSpPr/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55" name="Freeform 59"/>
            <p:cNvSpPr/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56" name="Freeform 60"/>
            <p:cNvSpPr/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57" name="Freeform 61"/>
            <p:cNvSpPr/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58" name="Freeform 62"/>
            <p:cNvSpPr/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59" name="Freeform 63"/>
            <p:cNvSpPr/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60" name="Freeform 64"/>
            <p:cNvSpPr/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61" name="Freeform 65"/>
            <p:cNvSpPr/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62" name="Freeform 66"/>
            <p:cNvSpPr/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63" name="Freeform 67"/>
            <p:cNvSpPr/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64" name="Freeform 68"/>
            <p:cNvSpPr/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65" name="Freeform 69"/>
            <p:cNvSpPr/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66" name="Freeform 70"/>
            <p:cNvSpPr/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67" name="Freeform 71"/>
            <p:cNvSpPr/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68" name="Freeform 72"/>
            <p:cNvSpPr/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69" name="Freeform 73"/>
            <p:cNvSpPr/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70" name="Freeform 74"/>
            <p:cNvSpPr/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71" name="Freeform 75"/>
            <p:cNvSpPr/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72" name="Freeform 76"/>
            <p:cNvSpPr/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73" name="Freeform 77"/>
            <p:cNvSpPr/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74" name="Freeform 78"/>
            <p:cNvSpPr/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75" name="Freeform 79"/>
            <p:cNvSpPr/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76" name="Freeform 80"/>
            <p:cNvSpPr/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77" name="Freeform 81"/>
            <p:cNvSpPr/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78" name="Freeform 82"/>
            <p:cNvSpPr/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79" name="Freeform 83"/>
            <p:cNvSpPr/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80" name="Freeform 84"/>
            <p:cNvSpPr/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81" name="Freeform 85"/>
            <p:cNvSpPr/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82" name="Freeform 86"/>
            <p:cNvSpPr/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83" name="Freeform 87"/>
            <p:cNvSpPr/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84" name="Freeform 88"/>
            <p:cNvSpPr/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85" name="Freeform 89"/>
            <p:cNvSpPr/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86" name="Freeform 90"/>
            <p:cNvSpPr/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87" name="Freeform 91"/>
            <p:cNvSpPr/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88" name="Freeform 92"/>
            <p:cNvSpPr/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89" name="Freeform 93"/>
            <p:cNvSpPr/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90" name="Freeform 94"/>
            <p:cNvSpPr/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91" name="Freeform 95"/>
            <p:cNvSpPr/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92" name="Freeform 96"/>
            <p:cNvSpPr/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93" name="Freeform 97"/>
            <p:cNvSpPr/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94" name="Freeform 98"/>
            <p:cNvSpPr/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95" name="Freeform 99"/>
            <p:cNvSpPr/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96" name="Freeform 100"/>
            <p:cNvSpPr/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97" name="Freeform 101"/>
            <p:cNvSpPr/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98" name="Freeform 102"/>
            <p:cNvSpPr/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99" name="Freeform 103"/>
            <p:cNvSpPr/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00" name="Freeform 104"/>
            <p:cNvSpPr/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01" name="Freeform 105"/>
            <p:cNvSpPr/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02" name="Freeform 106"/>
            <p:cNvSpPr/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03" name="Freeform 107"/>
            <p:cNvSpPr/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04" name="Freeform 108"/>
            <p:cNvSpPr/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05" name="Freeform 109"/>
            <p:cNvSpPr/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06" name="Freeform 110"/>
            <p:cNvSpPr/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07" name="Freeform 111"/>
            <p:cNvSpPr/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08" name="Freeform 112"/>
            <p:cNvSpPr/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09" name="Freeform 113"/>
            <p:cNvSpPr/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10" name="Freeform 114"/>
            <p:cNvSpPr/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11" name="Freeform 115"/>
            <p:cNvSpPr/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12" name="Freeform 116"/>
            <p:cNvSpPr/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13" name="Freeform 117"/>
            <p:cNvSpPr/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14" name="Freeform 118"/>
            <p:cNvSpPr/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15" name="Freeform 119"/>
            <p:cNvSpPr/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16" name="Freeform 120"/>
            <p:cNvSpPr/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17" name="Freeform 121"/>
            <p:cNvSpPr/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18" name="Freeform 122"/>
            <p:cNvSpPr/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19" name="Freeform 123"/>
            <p:cNvSpPr/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lnSpc>
                <a:spcPct val="150000"/>
              </a:lnSpc>
              <a:buFont typeface="Wingdings" panose="05000000000000000000" pitchFamily="2" charset="2"/>
              <a:buChar char="l"/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50000"/>
              </a:lnSpc>
              <a:buFont typeface="Wingdings" panose="05000000000000000000" pitchFamily="2" charset="2"/>
              <a:buChar char="l"/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150000"/>
              </a:lnSpc>
              <a:buFont typeface="Wingdings" panose="05000000000000000000" pitchFamily="2" charset="2"/>
              <a:buChar char="l"/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lnSpc>
                <a:spcPct val="150000"/>
              </a:lnSpc>
              <a:buFont typeface="Wingdings" panose="05000000000000000000" pitchFamily="2" charset="2"/>
              <a:buChar char="l"/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lnSpc>
                <a:spcPct val="150000"/>
              </a:lnSpc>
              <a:buFont typeface="Wingdings" panose="05000000000000000000" pitchFamily="2" charset="2"/>
              <a:buChar char="l"/>
              <a:defRPr baseline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C764DE79-268F-4C1A-8933-263129D2AF90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1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2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111" name="Group 15"/>
          <p:cNvGrpSpPr/>
          <p:nvPr/>
        </p:nvGrpSpPr>
        <p:grpSpPr bwMode="auto">
          <a:xfrm>
            <a:off x="0" y="1773239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/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13" name="Freeform 17"/>
            <p:cNvSpPr/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14" name="Freeform 18"/>
            <p:cNvSpPr/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15" name="Freeform 19"/>
            <p:cNvSpPr/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16" name="Freeform 20"/>
            <p:cNvSpPr/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17" name="Freeform 21"/>
            <p:cNvSpPr/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18" name="Freeform 22"/>
            <p:cNvSpPr/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19" name="Freeform 23"/>
            <p:cNvSpPr/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20" name="Freeform 24"/>
            <p:cNvSpPr/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21" name="Freeform 25"/>
            <p:cNvSpPr/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22" name="Freeform 26"/>
            <p:cNvSpPr/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23" name="Freeform 27"/>
            <p:cNvSpPr/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24" name="Freeform 28"/>
            <p:cNvSpPr/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25" name="Freeform 29"/>
            <p:cNvSpPr/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26" name="Freeform 30"/>
            <p:cNvSpPr/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27" name="Freeform 31"/>
            <p:cNvSpPr/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28" name="Freeform 32"/>
            <p:cNvSpPr/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29" name="Freeform 33"/>
            <p:cNvSpPr/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30" name="Freeform 34"/>
            <p:cNvSpPr/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31" name="Freeform 35"/>
            <p:cNvSpPr/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32" name="Freeform 36"/>
            <p:cNvSpPr/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33" name="Freeform 37"/>
            <p:cNvSpPr/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34" name="Freeform 38"/>
            <p:cNvSpPr/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35" name="Freeform 39"/>
            <p:cNvSpPr/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36" name="Freeform 40"/>
            <p:cNvSpPr/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37" name="Freeform 41"/>
            <p:cNvSpPr/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38" name="Freeform 42"/>
            <p:cNvSpPr/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39" name="Freeform 43"/>
            <p:cNvSpPr/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40" name="Freeform 44"/>
            <p:cNvSpPr/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41" name="Freeform 45"/>
            <p:cNvSpPr/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42" name="Freeform 46"/>
            <p:cNvSpPr/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43" name="Freeform 47"/>
            <p:cNvSpPr/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44" name="Freeform 48"/>
            <p:cNvSpPr/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45" name="Freeform 49"/>
            <p:cNvSpPr/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46" name="Freeform 50"/>
            <p:cNvSpPr/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47" name="Freeform 51"/>
            <p:cNvSpPr/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48" name="Freeform 52"/>
            <p:cNvSpPr/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49" name="Freeform 53"/>
            <p:cNvSpPr/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50" name="Freeform 54"/>
            <p:cNvSpPr/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51" name="Freeform 55"/>
            <p:cNvSpPr/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52" name="Freeform 56"/>
            <p:cNvSpPr/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53" name="Freeform 57"/>
            <p:cNvSpPr/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54" name="Freeform 58"/>
            <p:cNvSpPr/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55" name="Freeform 59"/>
            <p:cNvSpPr/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56" name="Freeform 60"/>
            <p:cNvSpPr/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57" name="Freeform 61"/>
            <p:cNvSpPr/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58" name="Freeform 62"/>
            <p:cNvSpPr/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59" name="Freeform 63"/>
            <p:cNvSpPr/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60" name="Freeform 64"/>
            <p:cNvSpPr/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61" name="Freeform 65"/>
            <p:cNvSpPr/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62" name="Freeform 66"/>
            <p:cNvSpPr/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63" name="Freeform 67"/>
            <p:cNvSpPr/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64" name="Freeform 68"/>
            <p:cNvSpPr/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65" name="Freeform 69"/>
            <p:cNvSpPr/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66" name="Freeform 70"/>
            <p:cNvSpPr/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67" name="Freeform 71"/>
            <p:cNvSpPr/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68" name="Freeform 72"/>
            <p:cNvSpPr/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69" name="Freeform 73"/>
            <p:cNvSpPr/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70" name="Freeform 74"/>
            <p:cNvSpPr/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71" name="Freeform 75"/>
            <p:cNvSpPr/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72" name="Freeform 76"/>
            <p:cNvSpPr/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73" name="Freeform 77"/>
            <p:cNvSpPr/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74" name="Freeform 78"/>
            <p:cNvSpPr/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75" name="Freeform 79"/>
            <p:cNvSpPr/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76" name="Freeform 80"/>
            <p:cNvSpPr/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77" name="Freeform 81"/>
            <p:cNvSpPr/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78" name="Freeform 82"/>
            <p:cNvSpPr/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79" name="Freeform 83"/>
            <p:cNvSpPr/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80" name="Freeform 84"/>
            <p:cNvSpPr/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81" name="Freeform 85"/>
            <p:cNvSpPr/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82" name="Freeform 86"/>
            <p:cNvSpPr/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83" name="Freeform 87"/>
            <p:cNvSpPr/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84" name="Freeform 88"/>
            <p:cNvSpPr/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85" name="Freeform 89"/>
            <p:cNvSpPr/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86" name="Freeform 90"/>
            <p:cNvSpPr/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87" name="Freeform 91"/>
            <p:cNvSpPr/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88" name="Freeform 92"/>
            <p:cNvSpPr/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89" name="Freeform 93"/>
            <p:cNvSpPr/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90" name="Freeform 94"/>
            <p:cNvSpPr/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91" name="Freeform 95"/>
            <p:cNvSpPr/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92" name="Freeform 96"/>
            <p:cNvSpPr/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93" name="Freeform 97"/>
            <p:cNvSpPr/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94" name="Freeform 98"/>
            <p:cNvSpPr/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95" name="Freeform 99"/>
            <p:cNvSpPr/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96" name="Freeform 100"/>
            <p:cNvSpPr/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97" name="Freeform 101"/>
            <p:cNvSpPr/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98" name="Freeform 102"/>
            <p:cNvSpPr/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99" name="Freeform 103"/>
            <p:cNvSpPr/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00" name="Freeform 104"/>
            <p:cNvSpPr/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01" name="Freeform 105"/>
            <p:cNvSpPr/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02" name="Freeform 106"/>
            <p:cNvSpPr/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03" name="Freeform 107"/>
            <p:cNvSpPr/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04" name="Freeform 108"/>
            <p:cNvSpPr/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05" name="Freeform 109"/>
            <p:cNvSpPr/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06" name="Freeform 110"/>
            <p:cNvSpPr/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07" name="Freeform 111"/>
            <p:cNvSpPr/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08" name="Freeform 112"/>
            <p:cNvSpPr/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09" name="Freeform 113"/>
            <p:cNvSpPr/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10" name="Freeform 114"/>
            <p:cNvSpPr/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11" name="Freeform 115"/>
            <p:cNvSpPr/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12" name="Freeform 116"/>
            <p:cNvSpPr/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13" name="Freeform 117"/>
            <p:cNvSpPr/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14" name="Freeform 118"/>
            <p:cNvSpPr/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15" name="Freeform 119"/>
            <p:cNvSpPr/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16" name="Freeform 120"/>
            <p:cNvSpPr/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17" name="Freeform 121"/>
            <p:cNvSpPr/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18" name="Freeform 122"/>
            <p:cNvSpPr/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19" name="Freeform 123"/>
            <p:cNvSpPr/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200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10" Type="http://schemas.openxmlformats.org/officeDocument/2006/relationships/image" Target="../media/image6.png"/><Relationship Id="rId4" Type="http://schemas.openxmlformats.org/officeDocument/2006/relationships/theme" Target="../theme/theme1.xml"/><Relationship Id="rId9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" name="Picture 32" descr="7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534" y="6165851"/>
            <a:ext cx="2785533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31" descr="6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695700" cy="90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2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441326"/>
            <a:ext cx="4656667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1" name="Rectangle 17"/>
          <p:cNvSpPr>
            <a:spLocks noChangeArrowheads="1"/>
          </p:cNvSpPr>
          <p:nvPr/>
        </p:nvSpPr>
        <p:spPr bwMode="gray">
          <a:xfrm>
            <a:off x="0" y="5638800"/>
            <a:ext cx="12192000" cy="1219200"/>
          </a:xfrm>
          <a:prstGeom prst="rect">
            <a:avLst/>
          </a:prstGeom>
          <a:gradFill rotWithShape="1">
            <a:gsLst>
              <a:gs pos="0">
                <a:srgbClr val="FFFFFF">
                  <a:alpha val="70000"/>
                </a:srgbClr>
              </a:gs>
              <a:gs pos="100000">
                <a:srgbClr val="3366FF">
                  <a:alpha val="60001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4918" y="1989139"/>
            <a:ext cx="10587567" cy="409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1"/>
            <a:r>
              <a:rPr lang="zh-CN" altLang="en-US"/>
              <a:t>第三级</a:t>
            </a:r>
          </a:p>
          <a:p>
            <a:pPr lvl="2"/>
            <a:r>
              <a:rPr lang="zh-CN" altLang="en-US"/>
              <a:t>第四级</a:t>
            </a:r>
          </a:p>
          <a:p>
            <a:pPr lvl="3"/>
            <a:r>
              <a:rPr lang="zh-CN" altLang="en-US"/>
              <a:t>第五级</a:t>
            </a:r>
          </a:p>
        </p:txBody>
      </p:sp>
      <p:sp>
        <p:nvSpPr>
          <p:cNvPr id="1048" name="Rectangle 24"/>
          <p:cNvSpPr>
            <a:spLocks noChangeArrowheads="1"/>
          </p:cNvSpPr>
          <p:nvPr userDrawn="1"/>
        </p:nvSpPr>
        <p:spPr bwMode="gray">
          <a:xfrm>
            <a:off x="0" y="1"/>
            <a:ext cx="12192000" cy="1484313"/>
          </a:xfrm>
          <a:prstGeom prst="rect">
            <a:avLst/>
          </a:prstGeom>
          <a:gradFill rotWithShape="1">
            <a:gsLst>
              <a:gs pos="0">
                <a:srgbClr val="3366FF">
                  <a:alpha val="60001"/>
                </a:srgbClr>
              </a:gs>
              <a:gs pos="100000">
                <a:srgbClr val="FFFFFF">
                  <a:alpha val="70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00151" y="981076"/>
            <a:ext cx="9793816" cy="86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pic>
        <p:nvPicPr>
          <p:cNvPr id="1053" name="Picture 29" descr="artplus_nature_naturalcity42_f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417" y="6334126"/>
            <a:ext cx="1826683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</p:bldLst>
  </p:timing>
  <p:txStyles>
    <p:titleStyle>
      <a:lvl1pPr algn="ctr" rtl="0" fontAlgn="base">
        <a:spcBef>
          <a:spcPct val="0"/>
        </a:spcBef>
        <a:spcAft>
          <a:spcPct val="0"/>
        </a:spcAft>
        <a:defRPr sz="4200" b="1" i="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200" b="1" i="1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Blip>
          <a:blip r:embed="rId9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Blip>
          <a:blip r:embed="rId9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Blip>
          <a:blip r:embed="rId9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Blip>
          <a:blip r:embed="rId10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C764DE79-268F-4C1A-8933-263129D2AF90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32" descr="7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534" y="6165851"/>
            <a:ext cx="2785533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1" descr="6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695700" cy="90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6" descr="2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441326"/>
            <a:ext cx="4656667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4"/>
          <p:cNvSpPr>
            <a:spLocks noChangeArrowheads="1"/>
          </p:cNvSpPr>
          <p:nvPr userDrawn="1"/>
        </p:nvSpPr>
        <p:spPr bwMode="gray">
          <a:xfrm>
            <a:off x="0" y="1"/>
            <a:ext cx="12192000" cy="1484313"/>
          </a:xfrm>
          <a:prstGeom prst="rect">
            <a:avLst/>
          </a:prstGeom>
          <a:gradFill rotWithShape="1">
            <a:gsLst>
              <a:gs pos="0">
                <a:srgbClr val="3366FF">
                  <a:alpha val="60001"/>
                </a:srgbClr>
              </a:gs>
              <a:gs pos="100000">
                <a:srgbClr val="FFFFFF">
                  <a:alpha val="70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29" descr="artplus_nature_naturalcity42_f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417" y="6334126"/>
            <a:ext cx="1826683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10" Type="http://schemas.openxmlformats.org/officeDocument/2006/relationships/tags" Target="../tags/tag13.xml"/><Relationship Id="rId19" Type="http://schemas.openxmlformats.org/officeDocument/2006/relationships/image" Target="../media/image13.png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image" Target="../media/image13.png"/><Relationship Id="rId2" Type="http://schemas.openxmlformats.org/officeDocument/2006/relationships/tags" Target="../tags/tag22.xml"/><Relationship Id="rId16" Type="http://schemas.openxmlformats.org/officeDocument/2006/relationships/slideLayout" Target="../slideLayouts/slideLayout5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tags" Target="../tags/tag48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tags" Target="../tags/tag47.xml"/><Relationship Id="rId17" Type="http://schemas.openxmlformats.org/officeDocument/2006/relationships/image" Target="../media/image13.png"/><Relationship Id="rId2" Type="http://schemas.openxmlformats.org/officeDocument/2006/relationships/tags" Target="../tags/tag37.xml"/><Relationship Id="rId16" Type="http://schemas.openxmlformats.org/officeDocument/2006/relationships/slideLayout" Target="../slideLayouts/slideLayout5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tags" Target="../tags/tag46.xml"/><Relationship Id="rId5" Type="http://schemas.openxmlformats.org/officeDocument/2006/relationships/tags" Target="../tags/tag40.xml"/><Relationship Id="rId15" Type="http://schemas.openxmlformats.org/officeDocument/2006/relationships/tags" Target="../tags/tag50.xml"/><Relationship Id="rId10" Type="http://schemas.openxmlformats.org/officeDocument/2006/relationships/tags" Target="../tags/tag45.xml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tags" Target="../tags/tag4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tags" Target="../tags/tag68.xml"/><Relationship Id="rId26" Type="http://schemas.openxmlformats.org/officeDocument/2006/relationships/tags" Target="../tags/tag76.xml"/><Relationship Id="rId3" Type="http://schemas.openxmlformats.org/officeDocument/2006/relationships/tags" Target="../tags/tag53.xml"/><Relationship Id="rId21" Type="http://schemas.openxmlformats.org/officeDocument/2006/relationships/tags" Target="../tags/tag71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tags" Target="../tags/tag67.xml"/><Relationship Id="rId25" Type="http://schemas.openxmlformats.org/officeDocument/2006/relationships/tags" Target="../tags/tag75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20" Type="http://schemas.openxmlformats.org/officeDocument/2006/relationships/tags" Target="../tags/tag70.xml"/><Relationship Id="rId29" Type="http://schemas.openxmlformats.org/officeDocument/2006/relationships/image" Target="../media/image13.png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24" Type="http://schemas.openxmlformats.org/officeDocument/2006/relationships/tags" Target="../tags/tag74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23" Type="http://schemas.openxmlformats.org/officeDocument/2006/relationships/tags" Target="../tags/tag73.xml"/><Relationship Id="rId28" Type="http://schemas.openxmlformats.org/officeDocument/2006/relationships/slideLayout" Target="../slideLayouts/slideLayout5.xml"/><Relationship Id="rId10" Type="http://schemas.openxmlformats.org/officeDocument/2006/relationships/tags" Target="../tags/tag60.xml"/><Relationship Id="rId19" Type="http://schemas.openxmlformats.org/officeDocument/2006/relationships/tags" Target="../tags/tag69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Relationship Id="rId22" Type="http://schemas.openxmlformats.org/officeDocument/2006/relationships/tags" Target="../tags/tag72.xml"/><Relationship Id="rId27" Type="http://schemas.openxmlformats.org/officeDocument/2006/relationships/tags" Target="../tags/tag7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tags" Target="../tags/tag90.xml"/><Relationship Id="rId18" Type="http://schemas.openxmlformats.org/officeDocument/2006/relationships/tags" Target="../tags/tag95.xml"/><Relationship Id="rId26" Type="http://schemas.openxmlformats.org/officeDocument/2006/relationships/tags" Target="../tags/tag103.xml"/><Relationship Id="rId3" Type="http://schemas.openxmlformats.org/officeDocument/2006/relationships/tags" Target="../tags/tag80.xml"/><Relationship Id="rId21" Type="http://schemas.openxmlformats.org/officeDocument/2006/relationships/tags" Target="../tags/tag98.xml"/><Relationship Id="rId7" Type="http://schemas.openxmlformats.org/officeDocument/2006/relationships/tags" Target="../tags/tag84.xml"/><Relationship Id="rId12" Type="http://schemas.openxmlformats.org/officeDocument/2006/relationships/tags" Target="../tags/tag89.xml"/><Relationship Id="rId17" Type="http://schemas.openxmlformats.org/officeDocument/2006/relationships/tags" Target="../tags/tag94.xml"/><Relationship Id="rId25" Type="http://schemas.openxmlformats.org/officeDocument/2006/relationships/tags" Target="../tags/tag102.xml"/><Relationship Id="rId2" Type="http://schemas.openxmlformats.org/officeDocument/2006/relationships/tags" Target="../tags/tag79.xml"/><Relationship Id="rId16" Type="http://schemas.openxmlformats.org/officeDocument/2006/relationships/tags" Target="../tags/tag93.xml"/><Relationship Id="rId20" Type="http://schemas.openxmlformats.org/officeDocument/2006/relationships/tags" Target="../tags/tag97.xml"/><Relationship Id="rId29" Type="http://schemas.openxmlformats.org/officeDocument/2006/relationships/image" Target="../media/image13.png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24" Type="http://schemas.openxmlformats.org/officeDocument/2006/relationships/tags" Target="../tags/tag101.xml"/><Relationship Id="rId5" Type="http://schemas.openxmlformats.org/officeDocument/2006/relationships/tags" Target="../tags/tag82.xml"/><Relationship Id="rId15" Type="http://schemas.openxmlformats.org/officeDocument/2006/relationships/tags" Target="../tags/tag92.xml"/><Relationship Id="rId23" Type="http://schemas.openxmlformats.org/officeDocument/2006/relationships/tags" Target="../tags/tag100.xml"/><Relationship Id="rId28" Type="http://schemas.openxmlformats.org/officeDocument/2006/relationships/slideLayout" Target="../slideLayouts/slideLayout5.xml"/><Relationship Id="rId10" Type="http://schemas.openxmlformats.org/officeDocument/2006/relationships/tags" Target="../tags/tag87.xml"/><Relationship Id="rId19" Type="http://schemas.openxmlformats.org/officeDocument/2006/relationships/tags" Target="../tags/tag96.xml"/><Relationship Id="rId4" Type="http://schemas.openxmlformats.org/officeDocument/2006/relationships/tags" Target="../tags/tag81.xml"/><Relationship Id="rId9" Type="http://schemas.openxmlformats.org/officeDocument/2006/relationships/tags" Target="../tags/tag86.xml"/><Relationship Id="rId14" Type="http://schemas.openxmlformats.org/officeDocument/2006/relationships/tags" Target="../tags/tag91.xml"/><Relationship Id="rId22" Type="http://schemas.openxmlformats.org/officeDocument/2006/relationships/tags" Target="../tags/tag99.xml"/><Relationship Id="rId27" Type="http://schemas.openxmlformats.org/officeDocument/2006/relationships/tags" Target="../tags/tag10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tags" Target="../tags/tag117.xml"/><Relationship Id="rId18" Type="http://schemas.openxmlformats.org/officeDocument/2006/relationships/tags" Target="../tags/tag122.xml"/><Relationship Id="rId26" Type="http://schemas.openxmlformats.org/officeDocument/2006/relationships/tags" Target="../tags/tag130.xml"/><Relationship Id="rId3" Type="http://schemas.openxmlformats.org/officeDocument/2006/relationships/tags" Target="../tags/tag107.xml"/><Relationship Id="rId21" Type="http://schemas.openxmlformats.org/officeDocument/2006/relationships/tags" Target="../tags/tag125.xml"/><Relationship Id="rId7" Type="http://schemas.openxmlformats.org/officeDocument/2006/relationships/tags" Target="../tags/tag111.xml"/><Relationship Id="rId12" Type="http://schemas.openxmlformats.org/officeDocument/2006/relationships/tags" Target="../tags/tag116.xml"/><Relationship Id="rId17" Type="http://schemas.openxmlformats.org/officeDocument/2006/relationships/tags" Target="../tags/tag121.xml"/><Relationship Id="rId25" Type="http://schemas.openxmlformats.org/officeDocument/2006/relationships/tags" Target="../tags/tag129.xml"/><Relationship Id="rId2" Type="http://schemas.openxmlformats.org/officeDocument/2006/relationships/tags" Target="../tags/tag106.xml"/><Relationship Id="rId16" Type="http://schemas.openxmlformats.org/officeDocument/2006/relationships/tags" Target="../tags/tag120.xml"/><Relationship Id="rId20" Type="http://schemas.openxmlformats.org/officeDocument/2006/relationships/tags" Target="../tags/tag124.xml"/><Relationship Id="rId29" Type="http://schemas.openxmlformats.org/officeDocument/2006/relationships/tags" Target="../tags/tag133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24" Type="http://schemas.openxmlformats.org/officeDocument/2006/relationships/tags" Target="../tags/tag128.xml"/><Relationship Id="rId5" Type="http://schemas.openxmlformats.org/officeDocument/2006/relationships/tags" Target="../tags/tag109.xml"/><Relationship Id="rId15" Type="http://schemas.openxmlformats.org/officeDocument/2006/relationships/tags" Target="../tags/tag119.xml"/><Relationship Id="rId23" Type="http://schemas.openxmlformats.org/officeDocument/2006/relationships/tags" Target="../tags/tag127.xml"/><Relationship Id="rId28" Type="http://schemas.openxmlformats.org/officeDocument/2006/relationships/tags" Target="../tags/tag132.xml"/><Relationship Id="rId10" Type="http://schemas.openxmlformats.org/officeDocument/2006/relationships/tags" Target="../tags/tag114.xml"/><Relationship Id="rId19" Type="http://schemas.openxmlformats.org/officeDocument/2006/relationships/tags" Target="../tags/tag123.xml"/><Relationship Id="rId31" Type="http://schemas.openxmlformats.org/officeDocument/2006/relationships/image" Target="../media/image13.png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tags" Target="../tags/tag118.xml"/><Relationship Id="rId22" Type="http://schemas.openxmlformats.org/officeDocument/2006/relationships/tags" Target="../tags/tag126.xml"/><Relationship Id="rId27" Type="http://schemas.openxmlformats.org/officeDocument/2006/relationships/tags" Target="../tags/tag131.xml"/><Relationship Id="rId30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tags" Target="../tags/tag146.xml"/><Relationship Id="rId18" Type="http://schemas.openxmlformats.org/officeDocument/2006/relationships/tags" Target="../tags/tag151.xml"/><Relationship Id="rId26" Type="http://schemas.openxmlformats.org/officeDocument/2006/relationships/tags" Target="../tags/tag159.xml"/><Relationship Id="rId3" Type="http://schemas.openxmlformats.org/officeDocument/2006/relationships/tags" Target="../tags/tag136.xml"/><Relationship Id="rId21" Type="http://schemas.openxmlformats.org/officeDocument/2006/relationships/tags" Target="../tags/tag154.xml"/><Relationship Id="rId7" Type="http://schemas.openxmlformats.org/officeDocument/2006/relationships/tags" Target="../tags/tag140.xml"/><Relationship Id="rId12" Type="http://schemas.openxmlformats.org/officeDocument/2006/relationships/tags" Target="../tags/tag145.xml"/><Relationship Id="rId17" Type="http://schemas.openxmlformats.org/officeDocument/2006/relationships/tags" Target="../tags/tag150.xml"/><Relationship Id="rId25" Type="http://schemas.openxmlformats.org/officeDocument/2006/relationships/tags" Target="../tags/tag158.xml"/><Relationship Id="rId2" Type="http://schemas.openxmlformats.org/officeDocument/2006/relationships/tags" Target="../tags/tag135.xml"/><Relationship Id="rId16" Type="http://schemas.openxmlformats.org/officeDocument/2006/relationships/tags" Target="../tags/tag149.xml"/><Relationship Id="rId20" Type="http://schemas.openxmlformats.org/officeDocument/2006/relationships/tags" Target="../tags/tag153.xml"/><Relationship Id="rId29" Type="http://schemas.openxmlformats.org/officeDocument/2006/relationships/image" Target="../media/image13.png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tags" Target="../tags/tag144.xml"/><Relationship Id="rId24" Type="http://schemas.openxmlformats.org/officeDocument/2006/relationships/tags" Target="../tags/tag157.xml"/><Relationship Id="rId5" Type="http://schemas.openxmlformats.org/officeDocument/2006/relationships/tags" Target="../tags/tag138.xml"/><Relationship Id="rId15" Type="http://schemas.openxmlformats.org/officeDocument/2006/relationships/tags" Target="../tags/tag148.xml"/><Relationship Id="rId23" Type="http://schemas.openxmlformats.org/officeDocument/2006/relationships/tags" Target="../tags/tag156.xml"/><Relationship Id="rId28" Type="http://schemas.openxmlformats.org/officeDocument/2006/relationships/slideLayout" Target="../slideLayouts/slideLayout5.xml"/><Relationship Id="rId10" Type="http://schemas.openxmlformats.org/officeDocument/2006/relationships/tags" Target="../tags/tag143.xml"/><Relationship Id="rId19" Type="http://schemas.openxmlformats.org/officeDocument/2006/relationships/tags" Target="../tags/tag152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tags" Target="../tags/tag147.xml"/><Relationship Id="rId22" Type="http://schemas.openxmlformats.org/officeDocument/2006/relationships/tags" Target="../tags/tag155.xml"/><Relationship Id="rId27" Type="http://schemas.openxmlformats.org/officeDocument/2006/relationships/tags" Target="../tags/tag16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tags" Target="../tags/tag168.xml"/><Relationship Id="rId13" Type="http://schemas.openxmlformats.org/officeDocument/2006/relationships/tags" Target="../tags/tag173.xml"/><Relationship Id="rId18" Type="http://schemas.openxmlformats.org/officeDocument/2006/relationships/tags" Target="../tags/tag178.xml"/><Relationship Id="rId26" Type="http://schemas.openxmlformats.org/officeDocument/2006/relationships/tags" Target="../tags/tag186.xml"/><Relationship Id="rId3" Type="http://schemas.openxmlformats.org/officeDocument/2006/relationships/tags" Target="../tags/tag163.xml"/><Relationship Id="rId21" Type="http://schemas.openxmlformats.org/officeDocument/2006/relationships/tags" Target="../tags/tag181.xml"/><Relationship Id="rId7" Type="http://schemas.openxmlformats.org/officeDocument/2006/relationships/tags" Target="../tags/tag167.xml"/><Relationship Id="rId12" Type="http://schemas.openxmlformats.org/officeDocument/2006/relationships/tags" Target="../tags/tag172.xml"/><Relationship Id="rId17" Type="http://schemas.openxmlformats.org/officeDocument/2006/relationships/tags" Target="../tags/tag177.xml"/><Relationship Id="rId25" Type="http://schemas.openxmlformats.org/officeDocument/2006/relationships/tags" Target="../tags/tag185.xml"/><Relationship Id="rId2" Type="http://schemas.openxmlformats.org/officeDocument/2006/relationships/tags" Target="../tags/tag162.xml"/><Relationship Id="rId16" Type="http://schemas.openxmlformats.org/officeDocument/2006/relationships/tags" Target="../tags/tag176.xml"/><Relationship Id="rId20" Type="http://schemas.openxmlformats.org/officeDocument/2006/relationships/tags" Target="../tags/tag180.xml"/><Relationship Id="rId29" Type="http://schemas.openxmlformats.org/officeDocument/2006/relationships/image" Target="../media/image13.png"/><Relationship Id="rId1" Type="http://schemas.openxmlformats.org/officeDocument/2006/relationships/tags" Target="../tags/tag161.xml"/><Relationship Id="rId6" Type="http://schemas.openxmlformats.org/officeDocument/2006/relationships/tags" Target="../tags/tag166.xml"/><Relationship Id="rId11" Type="http://schemas.openxmlformats.org/officeDocument/2006/relationships/tags" Target="../tags/tag171.xml"/><Relationship Id="rId24" Type="http://schemas.openxmlformats.org/officeDocument/2006/relationships/tags" Target="../tags/tag184.xml"/><Relationship Id="rId5" Type="http://schemas.openxmlformats.org/officeDocument/2006/relationships/tags" Target="../tags/tag165.xml"/><Relationship Id="rId15" Type="http://schemas.openxmlformats.org/officeDocument/2006/relationships/tags" Target="../tags/tag175.xml"/><Relationship Id="rId23" Type="http://schemas.openxmlformats.org/officeDocument/2006/relationships/tags" Target="../tags/tag183.xml"/><Relationship Id="rId28" Type="http://schemas.openxmlformats.org/officeDocument/2006/relationships/slideLayout" Target="../slideLayouts/slideLayout5.xml"/><Relationship Id="rId10" Type="http://schemas.openxmlformats.org/officeDocument/2006/relationships/tags" Target="../tags/tag170.xml"/><Relationship Id="rId19" Type="http://schemas.openxmlformats.org/officeDocument/2006/relationships/tags" Target="../tags/tag179.xml"/><Relationship Id="rId4" Type="http://schemas.openxmlformats.org/officeDocument/2006/relationships/tags" Target="../tags/tag164.xml"/><Relationship Id="rId9" Type="http://schemas.openxmlformats.org/officeDocument/2006/relationships/tags" Target="../tags/tag169.xml"/><Relationship Id="rId14" Type="http://schemas.openxmlformats.org/officeDocument/2006/relationships/tags" Target="../tags/tag174.xml"/><Relationship Id="rId22" Type="http://schemas.openxmlformats.org/officeDocument/2006/relationships/tags" Target="../tags/tag182.xml"/><Relationship Id="rId27" Type="http://schemas.openxmlformats.org/officeDocument/2006/relationships/tags" Target="../tags/tag18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1.e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tags" Target="../tags/tag195.xml"/><Relationship Id="rId13" Type="http://schemas.openxmlformats.org/officeDocument/2006/relationships/tags" Target="../tags/tag200.xml"/><Relationship Id="rId18" Type="http://schemas.openxmlformats.org/officeDocument/2006/relationships/tags" Target="../tags/tag205.xml"/><Relationship Id="rId26" Type="http://schemas.openxmlformats.org/officeDocument/2006/relationships/tags" Target="../tags/tag213.xml"/><Relationship Id="rId3" Type="http://schemas.openxmlformats.org/officeDocument/2006/relationships/tags" Target="../tags/tag190.xml"/><Relationship Id="rId21" Type="http://schemas.openxmlformats.org/officeDocument/2006/relationships/tags" Target="../tags/tag208.xml"/><Relationship Id="rId7" Type="http://schemas.openxmlformats.org/officeDocument/2006/relationships/tags" Target="../tags/tag194.xml"/><Relationship Id="rId12" Type="http://schemas.openxmlformats.org/officeDocument/2006/relationships/tags" Target="../tags/tag199.xml"/><Relationship Id="rId17" Type="http://schemas.openxmlformats.org/officeDocument/2006/relationships/tags" Target="../tags/tag204.xml"/><Relationship Id="rId25" Type="http://schemas.openxmlformats.org/officeDocument/2006/relationships/tags" Target="../tags/tag212.xml"/><Relationship Id="rId2" Type="http://schemas.openxmlformats.org/officeDocument/2006/relationships/tags" Target="../tags/tag189.xml"/><Relationship Id="rId16" Type="http://schemas.openxmlformats.org/officeDocument/2006/relationships/tags" Target="../tags/tag203.xml"/><Relationship Id="rId20" Type="http://schemas.openxmlformats.org/officeDocument/2006/relationships/tags" Target="../tags/tag207.xml"/><Relationship Id="rId29" Type="http://schemas.openxmlformats.org/officeDocument/2006/relationships/image" Target="../media/image13.png"/><Relationship Id="rId1" Type="http://schemas.openxmlformats.org/officeDocument/2006/relationships/tags" Target="../tags/tag188.xml"/><Relationship Id="rId6" Type="http://schemas.openxmlformats.org/officeDocument/2006/relationships/tags" Target="../tags/tag193.xml"/><Relationship Id="rId11" Type="http://schemas.openxmlformats.org/officeDocument/2006/relationships/tags" Target="../tags/tag198.xml"/><Relationship Id="rId24" Type="http://schemas.openxmlformats.org/officeDocument/2006/relationships/tags" Target="../tags/tag211.xml"/><Relationship Id="rId5" Type="http://schemas.openxmlformats.org/officeDocument/2006/relationships/tags" Target="../tags/tag192.xml"/><Relationship Id="rId15" Type="http://schemas.openxmlformats.org/officeDocument/2006/relationships/tags" Target="../tags/tag202.xml"/><Relationship Id="rId23" Type="http://schemas.openxmlformats.org/officeDocument/2006/relationships/tags" Target="../tags/tag210.xml"/><Relationship Id="rId28" Type="http://schemas.openxmlformats.org/officeDocument/2006/relationships/slideLayout" Target="../slideLayouts/slideLayout5.xml"/><Relationship Id="rId10" Type="http://schemas.openxmlformats.org/officeDocument/2006/relationships/tags" Target="../tags/tag197.xml"/><Relationship Id="rId19" Type="http://schemas.openxmlformats.org/officeDocument/2006/relationships/tags" Target="../tags/tag206.xml"/><Relationship Id="rId4" Type="http://schemas.openxmlformats.org/officeDocument/2006/relationships/tags" Target="../tags/tag191.xml"/><Relationship Id="rId9" Type="http://schemas.openxmlformats.org/officeDocument/2006/relationships/tags" Target="../tags/tag196.xml"/><Relationship Id="rId14" Type="http://schemas.openxmlformats.org/officeDocument/2006/relationships/tags" Target="../tags/tag201.xml"/><Relationship Id="rId22" Type="http://schemas.openxmlformats.org/officeDocument/2006/relationships/tags" Target="../tags/tag209.xml"/><Relationship Id="rId27" Type="http://schemas.openxmlformats.org/officeDocument/2006/relationships/tags" Target="../tags/tag21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 dirty="0">
                <a:solidFill>
                  <a:srgbClr val="7030A0"/>
                </a:solidFill>
              </a:rPr>
              <a:t>2</a:t>
            </a:r>
            <a:r>
              <a:rPr lang="zh-CN" altLang="en-US" sz="3600" b="1" dirty="0">
                <a:solidFill>
                  <a:srgbClr val="7030A0"/>
                </a:solidFill>
              </a:rPr>
              <a:t>章 </a:t>
            </a:r>
            <a:r>
              <a:rPr lang="en-US" altLang="zh-CN" sz="3600" b="1" dirty="0">
                <a:solidFill>
                  <a:srgbClr val="7030A0"/>
                </a:solidFill>
              </a:rPr>
              <a:t>IA-32</a:t>
            </a:r>
            <a:r>
              <a:rPr lang="zh-CN" altLang="en-US" sz="3600" b="1" dirty="0">
                <a:solidFill>
                  <a:srgbClr val="7030A0"/>
                </a:solidFill>
              </a:rPr>
              <a:t>处理器体系结构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/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</a:t>
            </a:r>
            <a:r>
              <a:rPr lang="en-US" altLang="zh-CN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ctr" defTabSz="914400"/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zwang@nankai.edu.cn</a:t>
            </a:r>
          </a:p>
        </p:txBody>
      </p:sp>
      <p:sp>
        <p:nvSpPr>
          <p:cNvPr id="4" name="Title 1"/>
          <p:cNvSpPr txBox="1"/>
          <p:nvPr/>
        </p:nvSpPr>
        <p:spPr bwMode="auto">
          <a:xfrm>
            <a:off x="0" y="5179843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05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本章知识点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计算机体系结构</a:t>
            </a:r>
            <a:endParaRPr lang="en-US" altLang="zh-CN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</a:rPr>
              <a:t>IA-32</a:t>
            </a:r>
            <a:r>
              <a:rPr lang="zh-CN" altLang="en-US" dirty="0">
                <a:latin typeface="宋体" panose="02010600030101010101" pitchFamily="2" charset="-122"/>
              </a:rPr>
              <a:t>处理器体系结构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</a:rPr>
              <a:t>IA-32</a:t>
            </a:r>
            <a:r>
              <a:rPr lang="zh-CN" altLang="en-US" dirty="0">
                <a:latin typeface="宋体" panose="02010600030101010101" pitchFamily="2" charset="-122"/>
              </a:rPr>
              <a:t>的内存管理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IA-32微机的构成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输入输出系统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/>
              <a:t>计算机体系结构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计算机基本概念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计算机基本结构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指令执行周期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内存的读取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程序是如何运行的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计算机基本结构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9146" y="1849438"/>
            <a:ext cx="6473709" cy="38835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计算机基本结构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中央处理器（</a:t>
            </a:r>
            <a:r>
              <a:rPr lang="en-US" altLang="zh-CN" dirty="0"/>
              <a:t>CPU</a:t>
            </a:r>
            <a:r>
              <a:rPr lang="zh-CN" altLang="en-US" dirty="0"/>
              <a:t>，</a:t>
            </a:r>
            <a:r>
              <a:rPr lang="en-US" altLang="zh-CN" dirty="0"/>
              <a:t>Central Processor Unit)</a:t>
            </a:r>
            <a:r>
              <a:rPr lang="zh-CN" altLang="en-US" dirty="0"/>
              <a:t>进行计算和逻辑操作的地方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寄存器（</a:t>
            </a:r>
            <a:r>
              <a:rPr lang="en-US" altLang="zh-CN" dirty="0"/>
              <a:t>Register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时钟（</a:t>
            </a:r>
            <a:r>
              <a:rPr lang="en-US" altLang="zh-CN" dirty="0"/>
              <a:t>clock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控制单元（</a:t>
            </a:r>
            <a:r>
              <a:rPr lang="en-US" altLang="zh-CN" dirty="0"/>
              <a:t>CU</a:t>
            </a:r>
            <a:r>
              <a:rPr lang="zh-CN" altLang="en-US" dirty="0"/>
              <a:t>，</a:t>
            </a:r>
            <a:r>
              <a:rPr lang="en-US" altLang="zh-CN" dirty="0"/>
              <a:t>Control Unit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算数逻辑单元（</a:t>
            </a:r>
            <a:r>
              <a:rPr lang="en-US" altLang="zh-CN" dirty="0"/>
              <a:t>ALU</a:t>
            </a:r>
            <a:r>
              <a:rPr lang="zh-CN" altLang="en-US" dirty="0"/>
              <a:t>，</a:t>
            </a:r>
            <a:r>
              <a:rPr lang="en-US" altLang="zh-CN" dirty="0"/>
              <a:t>Arithmetic Logic Unit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CPU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寄存器</a:t>
            </a:r>
            <a:r>
              <a:rPr lang="zh-CN" altLang="en-US" dirty="0"/>
              <a:t>：数据存储，数量有限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时钟</a:t>
            </a:r>
            <a:r>
              <a:rPr lang="zh-CN" altLang="en-US" dirty="0"/>
              <a:t>：同步</a:t>
            </a:r>
            <a:r>
              <a:rPr lang="en-US" altLang="zh-CN" dirty="0"/>
              <a:t>CPU</a:t>
            </a:r>
            <a:r>
              <a:rPr lang="zh-CN" altLang="en-US" dirty="0"/>
              <a:t>的内部操作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控制单元</a:t>
            </a:r>
            <a:r>
              <a:rPr lang="zh-CN" altLang="en-US" dirty="0"/>
              <a:t>：控制机器指令的执行步骤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算数逻辑单元</a:t>
            </a:r>
            <a:r>
              <a:rPr lang="zh-CN" altLang="en-US" dirty="0"/>
              <a:t>：算术运算、逻辑运算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l="5696" r="9710" b="-2"/>
          <a:stretch>
            <a:fillRect/>
          </a:stretch>
        </p:blipFill>
        <p:spPr>
          <a:xfrm>
            <a:off x="-60556" y="-1"/>
            <a:ext cx="12252556" cy="68579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12714" y="30277"/>
            <a:ext cx="2906015" cy="943635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CPU</a:t>
            </a:r>
            <a:r>
              <a:rPr lang="zh-CN" altLang="en-US" b="1" dirty="0">
                <a:solidFill>
                  <a:schemeClr val="bg1"/>
                </a:solidFill>
              </a:rPr>
              <a:t>时钟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04390" y="1428115"/>
            <a:ext cx="8262620" cy="3528060"/>
          </a:xfrm>
        </p:spPr>
        <p:txBody>
          <a:bodyPr anchor="ctr">
            <a:normAutofit fontScale="90000" lnSpcReduction="10000"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sz="3600" b="1" dirty="0">
                <a:solidFill>
                  <a:schemeClr val="bg1"/>
                </a:solidFill>
              </a:rPr>
              <a:t>每个时钟周期</a:t>
            </a:r>
            <a:r>
              <a:rPr lang="en-US" altLang="zh-CN" sz="3600" b="1" dirty="0">
                <a:solidFill>
                  <a:schemeClr val="bg1"/>
                </a:solidFill>
              </a:rPr>
              <a:t>CPU</a:t>
            </a:r>
            <a:r>
              <a:rPr lang="zh-CN" altLang="en-US" sz="3600" b="1" dirty="0">
                <a:solidFill>
                  <a:schemeClr val="bg1"/>
                </a:solidFill>
              </a:rPr>
              <a:t>完成一步操作</a:t>
            </a:r>
            <a:endParaRPr lang="en-US" altLang="zh-CN" sz="3600" b="1" dirty="0">
              <a:solidFill>
                <a:schemeClr val="bg1"/>
              </a:solidFill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3600" b="1" dirty="0">
                <a:solidFill>
                  <a:schemeClr val="bg1"/>
                </a:solidFill>
              </a:rPr>
              <a:t>时钟频率</a:t>
            </a:r>
            <a:r>
              <a:rPr lang="en-US" altLang="zh-CN" sz="3600" b="1" dirty="0">
                <a:solidFill>
                  <a:schemeClr val="bg1"/>
                </a:solidFill>
              </a:rPr>
              <a:t>=1/</a:t>
            </a:r>
            <a:r>
              <a:rPr lang="zh-CN" altLang="en-US" sz="3600" b="1" dirty="0">
                <a:solidFill>
                  <a:schemeClr val="bg1"/>
                </a:solidFill>
              </a:rPr>
              <a:t>时钟周期</a:t>
            </a:r>
            <a:endParaRPr lang="en-US" altLang="zh-CN" sz="3600" b="1" dirty="0">
              <a:solidFill>
                <a:schemeClr val="bg1"/>
              </a:solidFill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3600" b="1" dirty="0">
                <a:solidFill>
                  <a:schemeClr val="bg1"/>
                </a:solidFill>
              </a:rPr>
              <a:t>时钟频率反映了</a:t>
            </a:r>
            <a:r>
              <a:rPr lang="en-US" altLang="zh-CN" sz="3600" b="1" dirty="0">
                <a:solidFill>
                  <a:schemeClr val="bg1"/>
                </a:solidFill>
              </a:rPr>
              <a:t>CPU</a:t>
            </a:r>
            <a:r>
              <a:rPr lang="zh-CN" altLang="en-US" sz="3600" b="1" dirty="0">
                <a:solidFill>
                  <a:schemeClr val="bg1"/>
                </a:solidFill>
              </a:rPr>
              <a:t>速度的快慢</a:t>
            </a:r>
            <a:endParaRPr lang="en-US" altLang="zh-CN" sz="3600" b="1" dirty="0">
              <a:solidFill>
                <a:schemeClr val="bg1"/>
              </a:solidFill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3600" b="1" dirty="0">
                <a:solidFill>
                  <a:schemeClr val="bg1"/>
                </a:solidFill>
              </a:rPr>
              <a:t>当前流行的</a:t>
            </a:r>
            <a:r>
              <a:rPr lang="en-US" altLang="zh-CN" sz="3600" b="1" dirty="0">
                <a:solidFill>
                  <a:schemeClr val="bg1"/>
                </a:solidFill>
              </a:rPr>
              <a:t>CPU</a:t>
            </a:r>
            <a:r>
              <a:rPr lang="zh-CN" altLang="en-US" sz="3600" b="1" dirty="0">
                <a:solidFill>
                  <a:schemeClr val="bg1"/>
                </a:solidFill>
              </a:rPr>
              <a:t>主频</a:t>
            </a:r>
            <a:r>
              <a:rPr lang="en-US" altLang="zh-CN" sz="3600" b="1" dirty="0">
                <a:solidFill>
                  <a:schemeClr val="bg1"/>
                </a:solidFill>
              </a:rPr>
              <a:t>3GHz</a:t>
            </a:r>
            <a:endParaRPr lang="zh-CN" altLang="en-US" sz="3600" b="1" dirty="0">
              <a:solidFill>
                <a:schemeClr val="bg1"/>
              </a:solidFill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3600" b="1" dirty="0">
                <a:solidFill>
                  <a:schemeClr val="bg1"/>
                </a:solidFill>
              </a:rPr>
              <a:t>可通过软件优化提升主频利用率，实现超频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endParaRPr lang="en-US" altLang="zh-CN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l="4600" r="10805" b="-2"/>
          <a:stretch>
            <a:fillRect/>
          </a:stretch>
        </p:blipFill>
        <p:spPr>
          <a:xfrm>
            <a:off x="0" y="-1"/>
            <a:ext cx="12192000" cy="68579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6002" y="260751"/>
            <a:ext cx="3244221" cy="998136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chemeClr val="bg1">
                    <a:lumMod val="85000"/>
                  </a:schemeClr>
                </a:solidFill>
              </a:rPr>
              <a:t>内存存储单元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1705" y="1410970"/>
            <a:ext cx="9735185" cy="3756660"/>
          </a:xfrm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</a:rPr>
              <a:t>Memory storage unit</a:t>
            </a:r>
            <a:r>
              <a:rPr lang="zh-CN" altLang="en-US" b="1" dirty="0">
                <a:solidFill>
                  <a:schemeClr val="bg1"/>
                </a:solidFill>
              </a:rPr>
              <a:t>存放指令和数据的地方</a:t>
            </a:r>
            <a:endParaRPr lang="en-US" altLang="zh-CN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</a:rPr>
              <a:t>核心频率</a:t>
            </a:r>
            <a:r>
              <a:rPr lang="en-US" altLang="zh-CN" b="1" dirty="0">
                <a:solidFill>
                  <a:schemeClr val="bg1"/>
                </a:solidFill>
              </a:rPr>
              <a:t>133MHz~200MHz </a:t>
            </a:r>
            <a:r>
              <a:rPr lang="zh-CN" altLang="en-US" b="1" dirty="0">
                <a:solidFill>
                  <a:schemeClr val="bg1"/>
                </a:solidFill>
              </a:rPr>
              <a:t>（存储单元频率、刷新频率）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</a:rPr>
              <a:t>DDR2-800、DDR3-1600、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DDR</a:t>
            </a:r>
            <a:r>
              <a:rPr lang="en-US" altLang="zh-CN" b="1" dirty="0">
                <a:solidFill>
                  <a:schemeClr val="bg1"/>
                </a:solidFill>
                <a:sym typeface="+mn-ea"/>
              </a:rPr>
              <a:t>4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-</a:t>
            </a:r>
            <a:r>
              <a:rPr lang="en-US" altLang="zh-CN" b="1" dirty="0">
                <a:solidFill>
                  <a:schemeClr val="bg1"/>
                </a:solidFill>
                <a:sym typeface="+mn-ea"/>
              </a:rPr>
              <a:t>24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00</a:t>
            </a:r>
            <a:r>
              <a:rPr lang="zh-CN" altLang="en-US" b="1" dirty="0">
                <a:solidFill>
                  <a:schemeClr val="bg1"/>
                </a:solidFill>
              </a:rPr>
              <a:t>等，并不是内存的真正频率，而是业界约定俗成的等效频率（数据传送频率）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</a:rPr>
              <a:t>是硬盘的</a:t>
            </a:r>
            <a:r>
              <a:rPr lang="en-US" altLang="zh-CN" b="1" dirty="0">
                <a:solidFill>
                  <a:schemeClr val="bg1"/>
                </a:solidFill>
              </a:rPr>
              <a:t>20-30</a:t>
            </a:r>
            <a:r>
              <a:rPr lang="zh-CN" altLang="en-US" b="1" dirty="0">
                <a:solidFill>
                  <a:schemeClr val="bg1"/>
                </a:solidFill>
              </a:rPr>
              <a:t>倍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4" name="AutoShape 2" descr="https://g.foolcdn.com/editorial/images/439738/gettyimages-603159290.jpg"/>
          <p:cNvSpPr>
            <a:spLocks noChangeAspect="1" noChangeArrowheads="1"/>
          </p:cNvSpPr>
          <p:nvPr/>
        </p:nvSpPr>
        <p:spPr bwMode="auto">
          <a:xfrm>
            <a:off x="5943600" y="31369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r="15405" b="-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0921" y="295607"/>
            <a:ext cx="5000992" cy="1106995"/>
          </a:xfrm>
        </p:spPr>
        <p:txBody>
          <a:bodyPr>
            <a:normAutofit/>
          </a:bodyPr>
          <a:lstStyle/>
          <a:p>
            <a:r>
              <a:rPr lang="zh-CN" altLang="en-US" sz="4800" b="1" dirty="0">
                <a:solidFill>
                  <a:schemeClr val="bg1"/>
                </a:solidFill>
              </a:rPr>
              <a:t>总线（</a:t>
            </a:r>
            <a:r>
              <a:rPr lang="en-US" altLang="zh-CN" sz="4800" b="1" dirty="0">
                <a:solidFill>
                  <a:schemeClr val="bg1"/>
                </a:solidFill>
              </a:rPr>
              <a:t>bus</a:t>
            </a:r>
            <a:r>
              <a:rPr lang="zh-CN" altLang="en-US" sz="4800" b="1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06475" y="2270125"/>
            <a:ext cx="6660515" cy="3186430"/>
          </a:xfrm>
        </p:spPr>
        <p:txBody>
          <a:bodyPr anchor="ctr">
            <a:normAutofit fontScale="90000"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数据总线（</a:t>
            </a:r>
            <a:r>
              <a:rPr lang="en-US" altLang="zh-CN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data bus</a:t>
            </a:r>
            <a:r>
              <a:rPr lang="zh-CN" altLang="en-US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）</a:t>
            </a:r>
            <a:endParaRPr lang="en-US" altLang="zh-CN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地址总线（</a:t>
            </a:r>
            <a:r>
              <a:rPr lang="en-US" altLang="zh-CN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address bus</a:t>
            </a:r>
            <a:r>
              <a:rPr lang="zh-CN" altLang="en-US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）</a:t>
            </a:r>
            <a:endParaRPr lang="en-US" altLang="zh-CN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控制总线（</a:t>
            </a:r>
            <a:r>
              <a:rPr lang="en-US" altLang="zh-CN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control bus</a:t>
            </a:r>
            <a:r>
              <a:rPr lang="zh-CN" altLang="en-US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）</a:t>
            </a:r>
            <a:endParaRPr lang="en-US" altLang="zh-CN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常见如</a:t>
            </a:r>
            <a:r>
              <a:rPr lang="en-US" altLang="zh-CN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333</a:t>
            </a:r>
            <a:r>
              <a:rPr lang="en-US" altLang="zh-CN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MHz</a:t>
            </a:r>
            <a:r>
              <a:rPr lang="zh-CN" altLang="en-US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，</a:t>
            </a:r>
            <a:r>
              <a:rPr lang="en-US" altLang="zh-CN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400</a:t>
            </a:r>
            <a:r>
              <a:rPr lang="en-US" altLang="zh-CN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MHz</a:t>
            </a:r>
            <a:r>
              <a:rPr lang="zh-CN" altLang="en-US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，</a:t>
            </a:r>
            <a:r>
              <a:rPr lang="en-US" altLang="zh-CN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800</a:t>
            </a:r>
            <a:r>
              <a:rPr lang="en-US" altLang="zh-CN" sz="32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MHz</a:t>
            </a:r>
            <a:endParaRPr lang="en-US" altLang="zh-CN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>
              <a:lnSpc>
                <a:spcPct val="150000"/>
              </a:lnSpc>
            </a:pPr>
            <a:endParaRPr lang="en-US" altLang="zh-CN" sz="32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05303" y="2413121"/>
            <a:ext cx="889528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ru-RU" sz="3200" dirty="0">
                <a:ea typeface="楷体" panose="02010609060101010101" pitchFamily="49" charset="-122"/>
              </a:rPr>
              <a:t>地址总线的宽度决定了</a:t>
            </a:r>
            <a:r>
              <a:rPr lang="zh-CN" altLang="zh-CN" sz="3200" dirty="0">
                <a:ea typeface="楷体" panose="02010609060101010101" pitchFamily="49" charset="-122"/>
              </a:rPr>
              <a:t>CPU的寻址能力；</a:t>
            </a:r>
            <a:endParaRPr lang="en-US" altLang="zh-CN" sz="3200" dirty="0">
              <a:ea typeface="楷体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zh-CN" altLang="zh-CN" sz="3200" dirty="0">
              <a:ea typeface="楷体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zh-CN" sz="3200" dirty="0">
                <a:ea typeface="楷体" panose="02010609060101010101" pitchFamily="49" charset="-122"/>
              </a:rPr>
              <a:t>数据总线的宽度决定了CPU与其它器件进行数据传送时的一次数据传送量；</a:t>
            </a:r>
            <a:endParaRPr lang="en-US" altLang="zh-CN" sz="3200" dirty="0">
              <a:ea typeface="楷体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zh-CN" altLang="zh-CN" sz="3200" dirty="0">
              <a:ea typeface="楷体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zh-CN" sz="3200" dirty="0">
                <a:ea typeface="楷体" panose="02010609060101010101" pitchFamily="49" charset="-122"/>
              </a:rPr>
              <a:t>控制总线宽度决定了CPU对系统中其它器件的控制能力。</a:t>
            </a:r>
          </a:p>
        </p:txBody>
      </p:sp>
      <p:sp>
        <p:nvSpPr>
          <p:cNvPr id="3" name="标题 1"/>
          <p:cNvSpPr txBox="1"/>
          <p:nvPr/>
        </p:nvSpPr>
        <p:spPr>
          <a:xfrm>
            <a:off x="805304" y="978204"/>
            <a:ext cx="5000992" cy="110699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4800" b="1" dirty="0"/>
              <a:t>总线（</a:t>
            </a:r>
            <a:r>
              <a:rPr lang="en-US" altLang="zh-CN" sz="4800" b="1" dirty="0"/>
              <a:t>Bus</a:t>
            </a:r>
            <a:r>
              <a:rPr lang="zh-CN" altLang="en-US" sz="4800" b="1" dirty="0"/>
              <a:t>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指令执行周期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单条机器指令的执行包括一系列操作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取指令</a:t>
            </a:r>
            <a:r>
              <a:rPr lang="zh-CN" altLang="en-US" dirty="0"/>
              <a:t>：指令指针</a:t>
            </a:r>
            <a:r>
              <a:rPr lang="en-US" altLang="zh-CN" dirty="0"/>
              <a:t>IP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解码</a:t>
            </a:r>
            <a:r>
              <a:rPr lang="zh-CN" altLang="en-US" dirty="0"/>
              <a:t>：控制单元</a:t>
            </a:r>
            <a:r>
              <a:rPr lang="en-US" altLang="zh-CN" dirty="0"/>
              <a:t>CU</a:t>
            </a:r>
            <a:r>
              <a:rPr lang="zh-CN" altLang="en-US" dirty="0"/>
              <a:t>确定执行什么操作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取操作数</a:t>
            </a:r>
            <a:r>
              <a:rPr lang="zh-CN" altLang="en-US" dirty="0"/>
              <a:t>：从内存读操作数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执行</a:t>
            </a:r>
            <a:r>
              <a:rPr lang="zh-CN" altLang="en-US" dirty="0"/>
              <a:t>：算数逻辑单元</a:t>
            </a:r>
            <a:r>
              <a:rPr lang="en-US" altLang="zh-CN" dirty="0"/>
              <a:t>ALU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存储输出操作数</a:t>
            </a:r>
            <a:r>
              <a:rPr lang="zh-CN" altLang="en-US" dirty="0"/>
              <a:t>：向内存写入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150235" y="1581150"/>
            <a:ext cx="5250815" cy="45148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标题 1"/>
          <p:cNvSpPr txBox="1"/>
          <p:nvPr>
            <p:custDataLst>
              <p:tags r:id="rId2"/>
            </p:custDataLst>
          </p:nvPr>
        </p:nvSpPr>
        <p:spPr>
          <a:xfrm>
            <a:off x="838200" y="781878"/>
            <a:ext cx="10515600" cy="9088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指令执行周期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5659120" y="3429000"/>
            <a:ext cx="436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Calibri" panose="020F0502020204030204" charset="0"/>
              </a:rPr>
              <a:t>③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667250" y="1771650"/>
            <a:ext cx="436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Calibri" panose="020F0502020204030204" charset="0"/>
              </a:rPr>
              <a:t>①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375400" y="2679700"/>
            <a:ext cx="436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Calibri" panose="020F0502020204030204" charset="0"/>
              </a:rPr>
              <a:t>②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300470" y="4368800"/>
            <a:ext cx="436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000" b="1">
                <a:solidFill>
                  <a:srgbClr val="FF0000"/>
                </a:solidFill>
                <a:latin typeface="Calibri" panose="020F0502020204030204" charset="0"/>
              </a:rPr>
              <a:t>③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25850" y="5069205"/>
            <a:ext cx="9137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④取数据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861685" y="4190365"/>
            <a:ext cx="438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⑤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873500" y="4190365"/>
            <a:ext cx="12109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⑥</a:t>
            </a:r>
            <a:r>
              <a:rPr lang="en-US" altLang="zh-CN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存数据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55817" y="635001"/>
            <a:ext cx="7297783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CPU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内部包括哪些基本部件？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ALU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CU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Register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Clock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微软雅黑" panose="020B0503020204020204" charset="-122"/>
              </a:rPr>
              <a:t>提交</a:t>
            </a:r>
          </a:p>
        </p:txBody>
      </p: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微软雅黑" panose="020B0503020204020204" charset="-122"/>
                </a:rPr>
                <a:t>多选题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  <a:sym typeface="微软雅黑" panose="020B050302020402020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下面哪个设备的时钟频率最高？</a:t>
            </a: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CPU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总线</a:t>
            </a: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内存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9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</a:p>
        </p:txBody>
      </p:sp>
      <p:grpSp>
        <p:nvGrpSpPr>
          <p:cNvPr id="18" name="组合 17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1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IA-32</a:t>
            </a:r>
            <a:r>
              <a:rPr lang="zh-CN" altLang="en-US" dirty="0"/>
              <a:t>处理器体系结构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IA-32</a:t>
            </a:r>
            <a:r>
              <a:rPr lang="zh-CN" altLang="en-US" dirty="0"/>
              <a:t>处理器体系结构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IA-32</a:t>
            </a:r>
            <a:r>
              <a:rPr lang="zh-CN" altLang="en-US" dirty="0"/>
              <a:t>（</a:t>
            </a:r>
            <a:r>
              <a:rPr lang="en-US" altLang="zh-CN" dirty="0"/>
              <a:t>Intel Architecture 32-bit</a:t>
            </a:r>
            <a:r>
              <a:rPr lang="zh-CN" altLang="en-US" dirty="0"/>
              <a:t>）英特尔</a:t>
            </a:r>
            <a:r>
              <a:rPr lang="en-US" altLang="zh-CN" dirty="0"/>
              <a:t>32</a:t>
            </a:r>
            <a:r>
              <a:rPr lang="zh-CN" altLang="en-US" dirty="0"/>
              <a:t>位体系结构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1985</a:t>
            </a:r>
            <a:r>
              <a:rPr lang="zh-CN" altLang="en-US" dirty="0"/>
              <a:t>年 </a:t>
            </a:r>
            <a:r>
              <a:rPr lang="en-US" altLang="zh-CN" dirty="0"/>
              <a:t>80386 CPU</a:t>
            </a:r>
            <a:r>
              <a:rPr lang="zh-CN" altLang="en-US" dirty="0"/>
              <a:t>首先使用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32</a:t>
            </a:r>
            <a:r>
              <a:rPr lang="zh-CN" altLang="en-US" dirty="0"/>
              <a:t>位内存地址、</a:t>
            </a:r>
            <a:r>
              <a:rPr lang="en-US" altLang="zh-CN" dirty="0"/>
              <a:t>32</a:t>
            </a:r>
            <a:r>
              <a:rPr lang="zh-CN" altLang="en-US" dirty="0"/>
              <a:t>位数据操作数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4628" y="95870"/>
            <a:ext cx="10515600" cy="1325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工作模式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421433"/>
            <a:ext cx="10515600" cy="30246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实地址模式 （</a:t>
            </a:r>
            <a:r>
              <a:rPr lang="en-US" altLang="zh-CN" sz="2400" dirty="0"/>
              <a:t>Real-Address Mode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16</a:t>
            </a:r>
            <a:r>
              <a:rPr lang="zh-CN" altLang="en-US" sz="2000" dirty="0">
                <a:solidFill>
                  <a:srgbClr val="FF0000"/>
                </a:solidFill>
              </a:rPr>
              <a:t>位</a:t>
            </a:r>
            <a:r>
              <a:rPr lang="zh-CN" altLang="en-US" sz="2000" dirty="0"/>
              <a:t>，</a:t>
            </a:r>
            <a:r>
              <a:rPr lang="en-US" altLang="zh-CN" sz="2000" dirty="0"/>
              <a:t>8086</a:t>
            </a:r>
            <a:r>
              <a:rPr lang="zh-CN" altLang="en-US" sz="2000" dirty="0"/>
              <a:t>程序设计环境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保护模式（</a:t>
            </a:r>
            <a:r>
              <a:rPr lang="en-US" altLang="zh-CN" sz="2400" dirty="0"/>
              <a:t>Protected Mode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32</a:t>
            </a:r>
            <a:r>
              <a:rPr lang="zh-CN" altLang="en-US" sz="2000" dirty="0">
                <a:solidFill>
                  <a:srgbClr val="FF0000"/>
                </a:solidFill>
              </a:rPr>
              <a:t>位</a:t>
            </a:r>
            <a:r>
              <a:rPr lang="zh-CN" altLang="en-US" sz="2000" dirty="0"/>
              <a:t>，</a:t>
            </a:r>
            <a:r>
              <a:rPr lang="en-US" altLang="zh-CN" sz="2000" dirty="0"/>
              <a:t>IA-32</a:t>
            </a:r>
            <a:r>
              <a:rPr lang="zh-CN" altLang="en-US" sz="2000" dirty="0"/>
              <a:t>程序设计环境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提供了虚拟</a:t>
            </a:r>
            <a:r>
              <a:rPr lang="en-US" altLang="zh-CN" sz="2000" dirty="0"/>
              <a:t>8086</a:t>
            </a:r>
            <a:r>
              <a:rPr lang="zh-CN" altLang="en-US" sz="2000" dirty="0"/>
              <a:t>模式：执行和兼容旧的</a:t>
            </a:r>
            <a:r>
              <a:rPr lang="en-US" altLang="zh-CN" sz="2000" dirty="0"/>
              <a:t>8086</a:t>
            </a:r>
            <a:r>
              <a:rPr lang="zh-CN" altLang="en-US" sz="2000" dirty="0"/>
              <a:t>程序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95" y="4446104"/>
            <a:ext cx="11653335" cy="210854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实地址模式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/>
              <a:t>16</a:t>
            </a:r>
            <a:r>
              <a:rPr lang="zh-CN" altLang="en-US" sz="3200" dirty="0"/>
              <a:t>位的</a:t>
            </a:r>
            <a:r>
              <a:rPr lang="en-US" altLang="zh-CN" sz="3200" dirty="0"/>
              <a:t>8086</a:t>
            </a:r>
            <a:r>
              <a:rPr lang="zh-CN" altLang="en-US" sz="3200" dirty="0"/>
              <a:t>程序设计环境</a:t>
            </a:r>
            <a:endParaRPr lang="en-US" altLang="zh-CN" sz="3200" dirty="0"/>
          </a:p>
          <a:p>
            <a:pPr lvl="1">
              <a:lnSpc>
                <a:spcPct val="150000"/>
              </a:lnSpc>
            </a:pPr>
            <a:r>
              <a:rPr lang="en-US" altLang="zh-CN" sz="2800" dirty="0"/>
              <a:t>20</a:t>
            </a:r>
            <a:r>
              <a:rPr lang="zh-CN" altLang="en-US" sz="2800" dirty="0"/>
              <a:t>条地址线、可存储空间</a:t>
            </a:r>
            <a:r>
              <a:rPr lang="en-US" altLang="zh-CN" sz="2800" dirty="0">
                <a:solidFill>
                  <a:srgbClr val="FF0000"/>
                </a:solidFill>
              </a:rPr>
              <a:t>1MB</a:t>
            </a:r>
            <a:r>
              <a:rPr lang="zh-CN" altLang="en-US" sz="2800" dirty="0"/>
              <a:t>（</a:t>
            </a:r>
            <a:r>
              <a:rPr lang="en-US" altLang="zh-CN" sz="2800" dirty="0"/>
              <a:t>2</a:t>
            </a:r>
            <a:r>
              <a:rPr lang="zh-CN" altLang="en-US" sz="2800" dirty="0"/>
              <a:t>的</a:t>
            </a:r>
            <a:r>
              <a:rPr lang="en-US" altLang="zh-CN" sz="2800" dirty="0"/>
              <a:t>20</a:t>
            </a:r>
            <a:r>
              <a:rPr lang="zh-CN" altLang="en-US" sz="2800" dirty="0"/>
              <a:t>次方）</a:t>
            </a:r>
          </a:p>
          <a:p>
            <a:pPr lvl="1">
              <a:lnSpc>
                <a:spcPct val="150000"/>
              </a:lnSpc>
            </a:pPr>
            <a:r>
              <a:rPr lang="en-US" altLang="zh-CN" sz="2800" dirty="0"/>
              <a:t>16</a:t>
            </a:r>
            <a:r>
              <a:rPr lang="zh-CN" altLang="en-US" sz="2800" dirty="0"/>
              <a:t>位寄存器如何兼容？</a:t>
            </a:r>
          </a:p>
          <a:p>
            <a:pPr lvl="2">
              <a:lnSpc>
                <a:spcPct val="150000"/>
              </a:lnSpc>
            </a:pPr>
            <a:r>
              <a:rPr lang="zh-CN" altLang="en-US" sz="2330" dirty="0"/>
              <a:t>使用一个段选择器（通常是一个段寄存器，如CS、DS、ES等）和一个偏移地址相结合来产生一个20位的物理地址</a:t>
            </a:r>
          </a:p>
          <a:p>
            <a:pPr lvl="2">
              <a:lnSpc>
                <a:spcPct val="150000"/>
              </a:lnSpc>
            </a:pPr>
            <a:r>
              <a:rPr lang="zh-CN" altLang="en-US" sz="2330" dirty="0"/>
              <a:t>物理地址（</a:t>
            </a:r>
            <a:r>
              <a:rPr lang="en-US" altLang="zh-CN" sz="2330" dirty="0"/>
              <a:t>20</a:t>
            </a:r>
            <a:r>
              <a:rPr lang="zh-CN" altLang="en-US" sz="2330" dirty="0"/>
              <a:t>位） = </a:t>
            </a:r>
            <a:r>
              <a:rPr lang="en-US" altLang="zh-CN" sz="2330" dirty="0"/>
              <a:t>16</a:t>
            </a:r>
            <a:r>
              <a:rPr lang="zh-CN" altLang="en-US" sz="2330" dirty="0"/>
              <a:t>位段地址 &lt;&lt; 4（即</a:t>
            </a:r>
            <a:r>
              <a:rPr lang="en-US" altLang="zh-CN" sz="2330" dirty="0"/>
              <a:t>*16</a:t>
            </a:r>
            <a:r>
              <a:rPr lang="zh-CN" altLang="en-US" sz="2330" dirty="0"/>
              <a:t>）+ </a:t>
            </a:r>
            <a:r>
              <a:rPr lang="en-US" altLang="zh-CN" sz="2330" dirty="0"/>
              <a:t>16</a:t>
            </a:r>
            <a:r>
              <a:rPr lang="zh-CN" altLang="en-US" sz="2330" dirty="0"/>
              <a:t>位偏移地址</a:t>
            </a:r>
            <a:r>
              <a:rPr lang="en-US" altLang="zh-CN" sz="2330" dirty="0"/>
              <a:t> 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保护模式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IA-32</a:t>
            </a:r>
            <a:r>
              <a:rPr lang="zh-CN" altLang="en-US" dirty="0"/>
              <a:t> </a:t>
            </a:r>
            <a:r>
              <a:rPr lang="en-US" altLang="zh-CN" dirty="0"/>
              <a:t>CPU</a:t>
            </a:r>
            <a:r>
              <a:rPr lang="zh-CN" altLang="en-US" dirty="0"/>
              <a:t>的存储管理和保护机制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多任务</a:t>
            </a:r>
            <a:r>
              <a:rPr lang="zh-CN" altLang="en-US" dirty="0"/>
              <a:t>操作系统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程序有独立的</a:t>
            </a:r>
            <a:r>
              <a:rPr lang="en-US" altLang="zh-CN" dirty="0">
                <a:solidFill>
                  <a:srgbClr val="FF0000"/>
                </a:solidFill>
              </a:rPr>
              <a:t>4GB</a:t>
            </a:r>
            <a:r>
              <a:rPr lang="zh-CN" altLang="en-US" dirty="0"/>
              <a:t>内存存储空间（</a:t>
            </a:r>
            <a:r>
              <a:rPr lang="en-US" altLang="zh-CN" dirty="0"/>
              <a:t>2</a:t>
            </a:r>
            <a:r>
              <a:rPr lang="zh-CN" altLang="en-US" dirty="0"/>
              <a:t>的</a:t>
            </a:r>
            <a:r>
              <a:rPr lang="en-US" altLang="zh-CN" dirty="0"/>
              <a:t>32</a:t>
            </a:r>
            <a:r>
              <a:rPr lang="zh-CN" altLang="en-US" dirty="0"/>
              <a:t>次方）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地址空间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1" y="1989139"/>
            <a:ext cx="9222424" cy="40925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IA-32 CPU 4GB </a:t>
            </a:r>
            <a:r>
              <a:rPr lang="zh-CN" altLang="en-US" dirty="0"/>
              <a:t>地址空间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32</a:t>
            </a:r>
            <a:r>
              <a:rPr lang="zh-CN" altLang="en-US" dirty="0"/>
              <a:t>位的寻址上限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8086</a:t>
            </a:r>
            <a:r>
              <a:rPr lang="zh-CN" altLang="en-US" dirty="0"/>
              <a:t>只有</a:t>
            </a:r>
            <a:r>
              <a:rPr lang="en-US" altLang="zh-CN" dirty="0"/>
              <a:t>1MB</a:t>
            </a:r>
            <a:r>
              <a:rPr lang="zh-CN" altLang="en-US" dirty="0"/>
              <a:t>地址空间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410962" y="635001"/>
            <a:ext cx="8342638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哪种操作模式，程序可以拥有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4GB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的地址空间？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保护模式</a:t>
            </a: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实地址模式</a:t>
            </a: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虚拟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8086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模式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9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</a:p>
        </p:txBody>
      </p:sp>
      <p:grpSp>
        <p:nvGrpSpPr>
          <p:cNvPr id="20" name="组合 19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3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1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寄存器（</a:t>
            </a:r>
            <a:r>
              <a:rPr lang="en-US" altLang="zh-CN" dirty="0"/>
              <a:t>Register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寄存器是</a:t>
            </a:r>
            <a:r>
              <a:rPr lang="en-US" altLang="zh-CN" dirty="0"/>
              <a:t>CPU</a:t>
            </a:r>
            <a:r>
              <a:rPr lang="zh-CN" altLang="en-US" dirty="0"/>
              <a:t>内部的</a:t>
            </a:r>
            <a:r>
              <a:rPr lang="zh-CN" altLang="en-US" dirty="0">
                <a:solidFill>
                  <a:srgbClr val="FF0000"/>
                </a:solidFill>
              </a:rPr>
              <a:t>高速存储单元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dirty="0"/>
              <a:t>比内存的访问速度快很多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优化循环结构执行速度，把循环计数变量放到寄存器中。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46442" y="479852"/>
            <a:ext cx="2875788" cy="5619196"/>
          </a:xfrm>
        </p:spPr>
        <p:txBody>
          <a:bodyPr vert="horz" wrap="square" lIns="91440" tIns="45720" rIns="91440" bIns="45720" numCol="1" rtlCol="0" anchor="b" anchorCtr="0" compatLnSpc="1"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zh-CN" altLang="en-US" dirty="0">
                <a:latin typeface="+mj-lt"/>
                <a:ea typeface="+mj-ea"/>
              </a:rPr>
              <a:t>通用寄存器</a:t>
            </a:r>
            <a:br>
              <a:rPr lang="en-US" altLang="zh-CN" dirty="0">
                <a:latin typeface="+mj-lt"/>
                <a:ea typeface="+mj-ea"/>
              </a:rPr>
            </a:br>
            <a:r>
              <a:rPr lang="en-US" altLang="zh-CN" sz="2400" dirty="0">
                <a:solidFill>
                  <a:srgbClr val="0070C0"/>
                </a:solidFill>
                <a:ea typeface="+mj-ea"/>
                <a:cs typeface="Times New Roman" panose="02020603050405020304" pitchFamily="18" charset="0"/>
              </a:rPr>
              <a:t>8</a:t>
            </a:r>
            <a:r>
              <a:rPr lang="zh-CN" altLang="en-US" sz="2400" dirty="0">
                <a:solidFill>
                  <a:srgbClr val="0070C0"/>
                </a:solidFill>
                <a:ea typeface="+mj-ea"/>
                <a:cs typeface="Times New Roman" panose="02020603050405020304" pitchFamily="18" charset="0"/>
              </a:rPr>
              <a:t>个</a:t>
            </a:r>
            <a:r>
              <a:rPr lang="en-US" altLang="zh-CN" sz="2400" dirty="0">
                <a:solidFill>
                  <a:srgbClr val="0070C0"/>
                </a:solidFill>
                <a:ea typeface="+mj-ea"/>
                <a:cs typeface="Times New Roman" panose="02020603050405020304" pitchFamily="18" charset="0"/>
              </a:rPr>
              <a:t>32</a:t>
            </a:r>
            <a:r>
              <a:rPr lang="zh-CN" altLang="en-US" sz="2400" dirty="0">
                <a:solidFill>
                  <a:srgbClr val="0070C0"/>
                </a:solidFill>
                <a:ea typeface="+mj-ea"/>
                <a:cs typeface="Times New Roman" panose="02020603050405020304" pitchFamily="18" charset="0"/>
              </a:rPr>
              <a:t>位通用寄存器</a:t>
            </a:r>
            <a:br>
              <a:rPr lang="en-US" altLang="zh-CN" dirty="0">
                <a:latin typeface="+mj-lt"/>
                <a:ea typeface="+mj-ea"/>
              </a:rPr>
            </a:br>
            <a:r>
              <a:rPr lang="en-US" altLang="zh-CN" sz="2000" dirty="0">
                <a:solidFill>
                  <a:srgbClr val="7030A0"/>
                </a:solidFill>
                <a:ea typeface="+mj-ea"/>
                <a:cs typeface="Times New Roman" panose="02020603050405020304" pitchFamily="18" charset="0"/>
              </a:rPr>
              <a:t>EAX</a:t>
            </a:r>
            <a:br>
              <a:rPr lang="en-US" altLang="zh-CN" sz="2000" dirty="0">
                <a:solidFill>
                  <a:srgbClr val="7030A0"/>
                </a:solidFill>
                <a:ea typeface="+mj-ea"/>
                <a:cs typeface="Times New Roman" panose="02020603050405020304" pitchFamily="18" charset="0"/>
              </a:rPr>
            </a:br>
            <a:r>
              <a:rPr lang="en-US" altLang="zh-CN" sz="2000" dirty="0">
                <a:solidFill>
                  <a:srgbClr val="7030A0"/>
                </a:solidFill>
                <a:ea typeface="+mj-ea"/>
                <a:cs typeface="Times New Roman" panose="02020603050405020304" pitchFamily="18" charset="0"/>
              </a:rPr>
              <a:t>EBX</a:t>
            </a:r>
            <a:br>
              <a:rPr lang="en-US" altLang="zh-CN" sz="2000" dirty="0">
                <a:solidFill>
                  <a:srgbClr val="7030A0"/>
                </a:solidFill>
                <a:ea typeface="+mj-ea"/>
                <a:cs typeface="Times New Roman" panose="02020603050405020304" pitchFamily="18" charset="0"/>
              </a:rPr>
            </a:br>
            <a:r>
              <a:rPr lang="en-US" altLang="zh-CN" sz="2000" dirty="0">
                <a:solidFill>
                  <a:srgbClr val="7030A0"/>
                </a:solidFill>
                <a:ea typeface="+mj-ea"/>
                <a:cs typeface="Times New Roman" panose="02020603050405020304" pitchFamily="18" charset="0"/>
              </a:rPr>
              <a:t>ECX</a:t>
            </a:r>
            <a:br>
              <a:rPr lang="en-US" altLang="zh-CN" sz="2000" dirty="0">
                <a:solidFill>
                  <a:srgbClr val="7030A0"/>
                </a:solidFill>
                <a:ea typeface="+mj-ea"/>
                <a:cs typeface="Times New Roman" panose="02020603050405020304" pitchFamily="18" charset="0"/>
              </a:rPr>
            </a:br>
            <a:r>
              <a:rPr lang="en-US" altLang="zh-CN" sz="2000" dirty="0">
                <a:solidFill>
                  <a:srgbClr val="7030A0"/>
                </a:solidFill>
                <a:ea typeface="+mj-ea"/>
                <a:cs typeface="Times New Roman" panose="02020603050405020304" pitchFamily="18" charset="0"/>
              </a:rPr>
              <a:t>EDX</a:t>
            </a:r>
            <a:br>
              <a:rPr lang="en-US" altLang="zh-CN" sz="2000" dirty="0">
                <a:solidFill>
                  <a:srgbClr val="7030A0"/>
                </a:solidFill>
                <a:ea typeface="+mj-ea"/>
                <a:cs typeface="Times New Roman" panose="02020603050405020304" pitchFamily="18" charset="0"/>
              </a:rPr>
            </a:br>
            <a:r>
              <a:rPr lang="en-US" altLang="zh-CN" sz="2000" dirty="0">
                <a:solidFill>
                  <a:srgbClr val="7030A0"/>
                </a:solidFill>
                <a:ea typeface="+mj-ea"/>
                <a:cs typeface="Times New Roman" panose="02020603050405020304" pitchFamily="18" charset="0"/>
              </a:rPr>
              <a:t>ESP</a:t>
            </a:r>
            <a:br>
              <a:rPr lang="en-US" altLang="zh-CN" sz="2000" dirty="0">
                <a:solidFill>
                  <a:srgbClr val="7030A0"/>
                </a:solidFill>
                <a:ea typeface="+mj-ea"/>
                <a:cs typeface="Times New Roman" panose="02020603050405020304" pitchFamily="18" charset="0"/>
              </a:rPr>
            </a:br>
            <a:r>
              <a:rPr lang="en-US" altLang="zh-CN" sz="2000" dirty="0">
                <a:solidFill>
                  <a:srgbClr val="7030A0"/>
                </a:solidFill>
                <a:ea typeface="+mj-ea"/>
                <a:cs typeface="Times New Roman" panose="02020603050405020304" pitchFamily="18" charset="0"/>
              </a:rPr>
              <a:t>EBP</a:t>
            </a:r>
            <a:br>
              <a:rPr lang="en-US" altLang="zh-CN" sz="2000" dirty="0">
                <a:solidFill>
                  <a:srgbClr val="7030A0"/>
                </a:solidFill>
                <a:ea typeface="+mj-ea"/>
                <a:cs typeface="Times New Roman" panose="02020603050405020304" pitchFamily="18" charset="0"/>
              </a:rPr>
            </a:br>
            <a:r>
              <a:rPr lang="en-US" altLang="zh-CN" sz="2000" dirty="0">
                <a:solidFill>
                  <a:srgbClr val="7030A0"/>
                </a:solidFill>
                <a:ea typeface="+mj-ea"/>
                <a:cs typeface="Times New Roman" panose="02020603050405020304" pitchFamily="18" charset="0"/>
              </a:rPr>
              <a:t>ESI</a:t>
            </a:r>
            <a:br>
              <a:rPr lang="en-US" altLang="zh-CN" sz="2000" dirty="0">
                <a:solidFill>
                  <a:srgbClr val="7030A0"/>
                </a:solidFill>
                <a:ea typeface="+mj-ea"/>
                <a:cs typeface="Times New Roman" panose="02020603050405020304" pitchFamily="18" charset="0"/>
              </a:rPr>
            </a:br>
            <a:r>
              <a:rPr lang="en-US" altLang="zh-CN" sz="2000" dirty="0">
                <a:solidFill>
                  <a:srgbClr val="7030A0"/>
                </a:solidFill>
                <a:ea typeface="+mj-ea"/>
                <a:cs typeface="Times New Roman" panose="02020603050405020304" pitchFamily="18" charset="0"/>
              </a:rPr>
              <a:t>EDI</a:t>
            </a:r>
            <a:endParaRPr lang="zh-CN" altLang="en-US" dirty="0">
              <a:solidFill>
                <a:srgbClr val="7030A0"/>
              </a:solidFill>
              <a:latin typeface="+mj-lt"/>
              <a:ea typeface="+mj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r="19571" b="2"/>
          <a:stretch>
            <a:fillRect/>
          </a:stretch>
        </p:blipFill>
        <p:spPr>
          <a:xfrm>
            <a:off x="1906137" y="576072"/>
            <a:ext cx="5019420" cy="552297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3319" y="1011405"/>
            <a:ext cx="7345362" cy="868363"/>
          </a:xfrm>
        </p:spPr>
        <p:txBody>
          <a:bodyPr/>
          <a:lstStyle/>
          <a:p>
            <a:pPr algn="ctr"/>
            <a:r>
              <a:rPr lang="zh-CN" altLang="en-US" dirty="0"/>
              <a:t>段寄存器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25662" y="1913256"/>
            <a:ext cx="7940675" cy="4092575"/>
          </a:xfrm>
        </p:spPr>
        <p:txBody>
          <a:bodyPr/>
          <a:lstStyle/>
          <a:p>
            <a:r>
              <a:rPr lang="en-US" altLang="zh-CN" sz="2400" dirty="0"/>
              <a:t>CS</a:t>
            </a:r>
            <a:r>
              <a:rPr lang="zh-CN" altLang="en-US" sz="2400" dirty="0"/>
              <a:t>：</a:t>
            </a:r>
            <a:r>
              <a:rPr lang="en-US" altLang="zh-CN" sz="2400" dirty="0"/>
              <a:t>Code </a:t>
            </a:r>
            <a:r>
              <a:rPr lang="en-US" altLang="zh-CN" sz="2400" dirty="0" err="1"/>
              <a:t>Segement</a:t>
            </a:r>
            <a:r>
              <a:rPr lang="zh-CN" altLang="en-US" sz="2400" dirty="0"/>
              <a:t>，代码段寄存器</a:t>
            </a:r>
          </a:p>
          <a:p>
            <a:r>
              <a:rPr lang="en-US" altLang="zh-CN" sz="2400" dirty="0"/>
              <a:t>SS</a:t>
            </a:r>
            <a:r>
              <a:rPr lang="zh-CN" altLang="en-US" sz="2400" dirty="0"/>
              <a:t>：</a:t>
            </a:r>
            <a:r>
              <a:rPr lang="en-US" altLang="zh-CN" sz="2400" dirty="0"/>
              <a:t>Stack Segment</a:t>
            </a:r>
            <a:r>
              <a:rPr lang="zh-CN" altLang="en-US" sz="2400" dirty="0"/>
              <a:t>，栈段寄存器</a:t>
            </a:r>
          </a:p>
          <a:p>
            <a:r>
              <a:rPr lang="en-US" altLang="zh-CN" sz="2400" dirty="0"/>
              <a:t>DS</a:t>
            </a:r>
            <a:r>
              <a:rPr lang="zh-CN" altLang="en-US" sz="2400" dirty="0"/>
              <a:t>：</a:t>
            </a:r>
            <a:r>
              <a:rPr lang="en-US" altLang="zh-CN" sz="2400" dirty="0"/>
              <a:t>Data Segment</a:t>
            </a:r>
            <a:r>
              <a:rPr lang="zh-CN" altLang="en-US" sz="2400" dirty="0"/>
              <a:t>，数据段寄存器</a:t>
            </a:r>
          </a:p>
          <a:p>
            <a:r>
              <a:rPr lang="en-US" altLang="zh-CN" sz="2400" dirty="0"/>
              <a:t>ES</a:t>
            </a:r>
            <a:r>
              <a:rPr lang="zh-CN" altLang="en-US" sz="2400" dirty="0"/>
              <a:t>：</a:t>
            </a:r>
            <a:r>
              <a:rPr lang="en-US" altLang="zh-CN" sz="2400" dirty="0"/>
              <a:t>Extra(Data) Segment</a:t>
            </a:r>
            <a:r>
              <a:rPr lang="zh-CN" altLang="en-US" sz="2400" dirty="0"/>
              <a:t>，数据段寄存器</a:t>
            </a:r>
          </a:p>
          <a:p>
            <a:r>
              <a:rPr lang="en-US" altLang="zh-CN" sz="2400" dirty="0"/>
              <a:t>FS</a:t>
            </a:r>
            <a:r>
              <a:rPr lang="zh-CN" altLang="en-US" sz="2400" dirty="0"/>
              <a:t>：</a:t>
            </a:r>
            <a:r>
              <a:rPr lang="en-US" altLang="zh-CN" sz="2400" dirty="0"/>
              <a:t>Data Segment</a:t>
            </a:r>
            <a:r>
              <a:rPr lang="zh-CN" altLang="en-US" sz="2400" dirty="0"/>
              <a:t>，数据段寄存器</a:t>
            </a:r>
          </a:p>
          <a:p>
            <a:r>
              <a:rPr lang="en-US" altLang="zh-CN" sz="2400" dirty="0"/>
              <a:t>GS</a:t>
            </a:r>
            <a:r>
              <a:rPr lang="zh-CN" altLang="en-US" sz="2400" dirty="0"/>
              <a:t>：</a:t>
            </a:r>
            <a:r>
              <a:rPr lang="en-US" altLang="zh-CN" sz="2400" dirty="0"/>
              <a:t>Data Segment</a:t>
            </a:r>
            <a:r>
              <a:rPr lang="zh-CN" altLang="en-US" sz="2400" dirty="0"/>
              <a:t>，数据段寄存器</a:t>
            </a:r>
          </a:p>
          <a:p>
            <a:endParaRPr lang="zh-CN" altLang="en-US" dirty="0"/>
          </a:p>
        </p:txBody>
      </p:sp>
      <p:pic>
        <p:nvPicPr>
          <p:cNvPr id="4" name="内容占位符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28006" y="4994660"/>
            <a:ext cx="7940675" cy="734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EFLAGS</a:t>
            </a:r>
            <a:r>
              <a:rPr lang="zh-CN" altLang="en-US" dirty="0"/>
              <a:t>寄存器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9654" y="1524255"/>
            <a:ext cx="7132718" cy="47239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零标志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零标志（</a:t>
            </a:r>
            <a:r>
              <a:rPr lang="en-US" altLang="zh-CN" dirty="0">
                <a:solidFill>
                  <a:srgbClr val="FF0000"/>
                </a:solidFill>
              </a:rPr>
              <a:t>ZF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：若算数或者逻辑运算结果为</a:t>
            </a:r>
            <a:r>
              <a:rPr lang="en-US" altLang="zh-CN" dirty="0"/>
              <a:t>0</a:t>
            </a:r>
            <a:r>
              <a:rPr lang="zh-CN" altLang="en-US" dirty="0"/>
              <a:t>则将其置</a:t>
            </a:r>
            <a:r>
              <a:rPr lang="en-US" altLang="zh-CN" dirty="0"/>
              <a:t>1</a:t>
            </a:r>
            <a:r>
              <a:rPr lang="zh-CN" altLang="en-US" dirty="0"/>
              <a:t>，反之清零</a:t>
            </a:r>
            <a:endParaRPr lang="en-US" altLang="zh-CN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3200" dirty="0" err="1"/>
              <a:t>xor</a:t>
            </a:r>
            <a:r>
              <a:rPr lang="en-US" altLang="zh-CN" sz="3200" dirty="0"/>
              <a:t> </a:t>
            </a:r>
            <a:r>
              <a:rPr lang="en-US" altLang="zh-CN" sz="3200" dirty="0" err="1"/>
              <a:t>eax</a:t>
            </a:r>
            <a:r>
              <a:rPr lang="en-US" altLang="zh-CN" sz="3200" dirty="0"/>
              <a:t>, </a:t>
            </a:r>
            <a:r>
              <a:rPr lang="en-US" altLang="zh-CN" sz="3200" dirty="0" err="1"/>
              <a:t>eax</a:t>
            </a:r>
            <a:r>
              <a:rPr lang="en-US" altLang="zh-CN" sz="3200" dirty="0"/>
              <a:t>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3200" dirty="0" err="1"/>
              <a:t>jz</a:t>
            </a:r>
            <a:r>
              <a:rPr lang="en-US" altLang="zh-CN" sz="3200" dirty="0"/>
              <a:t>     //</a:t>
            </a:r>
            <a:r>
              <a:rPr lang="zh-CN" altLang="en-US" sz="3200" dirty="0"/>
              <a:t>当</a:t>
            </a:r>
            <a:r>
              <a:rPr lang="en-US" altLang="zh-CN" sz="3200" dirty="0"/>
              <a:t>z</a:t>
            </a:r>
            <a:r>
              <a:rPr lang="zh-CN" altLang="en-US" sz="3200" dirty="0"/>
              <a:t>为</a:t>
            </a:r>
            <a:r>
              <a:rPr lang="en-US" altLang="zh-CN" sz="3200" dirty="0"/>
              <a:t>1</a:t>
            </a:r>
            <a:r>
              <a:rPr lang="zh-CN" altLang="en-US" sz="3200" dirty="0"/>
              <a:t>时则跳转（与</a:t>
            </a:r>
            <a:r>
              <a:rPr lang="en-US" altLang="zh-CN" sz="3200" dirty="0"/>
              <a:t>je</a:t>
            </a:r>
            <a:r>
              <a:rPr lang="zh-CN" altLang="en-US" sz="3200" dirty="0"/>
              <a:t>功能上相同）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进位标志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进位标志（</a:t>
            </a:r>
            <a:r>
              <a:rPr lang="en-US" altLang="zh-CN" dirty="0">
                <a:solidFill>
                  <a:srgbClr val="FF0000"/>
                </a:solidFill>
              </a:rPr>
              <a:t>CF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：在无符号算术运算的结果最高有效位</a:t>
            </a:r>
            <a:r>
              <a:rPr lang="en-US" altLang="zh-CN" dirty="0"/>
              <a:t>(most-significant bit)</a:t>
            </a:r>
            <a:r>
              <a:rPr lang="zh-CN" altLang="en-US" dirty="0"/>
              <a:t>发生进位或借位则将其置</a:t>
            </a:r>
            <a:r>
              <a:rPr lang="en-US" altLang="zh-CN" dirty="0"/>
              <a:t>1</a:t>
            </a:r>
            <a:r>
              <a:rPr lang="zh-CN" altLang="en-US" dirty="0"/>
              <a:t>，反之清零。</a:t>
            </a:r>
            <a:endParaRPr lang="en-US" altLang="zh-CN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3200" dirty="0"/>
              <a:t>add </a:t>
            </a:r>
            <a:r>
              <a:rPr lang="en-US" altLang="zh-CN" sz="3200" dirty="0" err="1"/>
              <a:t>eax</a:t>
            </a:r>
            <a:r>
              <a:rPr lang="zh-CN" altLang="en-US" sz="3200" dirty="0"/>
              <a:t>，</a:t>
            </a:r>
            <a:r>
              <a:rPr lang="en-US" altLang="zh-CN" sz="3200" dirty="0"/>
              <a:t>0xffffffff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3200" dirty="0" err="1"/>
              <a:t>jc</a:t>
            </a:r>
            <a:endParaRPr lang="en-US" altLang="zh-CN" sz="3200" i="1" dirty="0" err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溢出标志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溢出标志（</a:t>
            </a:r>
            <a:r>
              <a:rPr lang="en-US" altLang="zh-CN" dirty="0">
                <a:solidFill>
                  <a:srgbClr val="FF0000"/>
                </a:solidFill>
              </a:rPr>
              <a:t>OF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：在有符号算术运算的结果是较大的正数或较小的负数，并且目的操作数无法容纳时，将该位置</a:t>
            </a:r>
            <a:r>
              <a:rPr lang="en-US" altLang="zh-CN" dirty="0"/>
              <a:t>1</a:t>
            </a:r>
            <a:r>
              <a:rPr lang="zh-CN" altLang="en-US" dirty="0"/>
              <a:t>，反之清零。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常用于为带符号整型运算指示溢出状态。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MOV AL, 100      ; AL = 100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ADD AL, 50       ; AL = AL + 50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符号标志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符号标志（</a:t>
            </a:r>
            <a:r>
              <a:rPr lang="en-US" altLang="zh-CN" dirty="0">
                <a:solidFill>
                  <a:srgbClr val="FF0000"/>
                </a:solidFill>
              </a:rPr>
              <a:t>SF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：该标志被设置为有符号整型的最高有效位。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0</a:t>
            </a:r>
            <a:r>
              <a:rPr lang="zh-CN" altLang="en-US" dirty="0"/>
              <a:t>表示算术或者逻辑运算结果为正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1</a:t>
            </a:r>
            <a:r>
              <a:rPr lang="zh-CN" altLang="en-US" dirty="0"/>
              <a:t>表示算数或者逻辑运算结果为负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奇偶标志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奇偶标志（</a:t>
            </a:r>
            <a:r>
              <a:rPr lang="en-US" altLang="zh-CN" dirty="0">
                <a:solidFill>
                  <a:srgbClr val="FF0000"/>
                </a:solidFill>
              </a:rPr>
              <a:t>PF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：如果结果的最低有效字节</a:t>
            </a:r>
            <a:r>
              <a:rPr lang="en-US" altLang="zh-CN" dirty="0"/>
              <a:t>(least-significant byte)</a:t>
            </a:r>
            <a:r>
              <a:rPr lang="zh-CN" altLang="en-US" dirty="0"/>
              <a:t>包含偶数个</a:t>
            </a:r>
            <a:r>
              <a:rPr lang="en-US" altLang="zh-CN" dirty="0"/>
              <a:t>1</a:t>
            </a:r>
            <a:r>
              <a:rPr lang="zh-CN" altLang="en-US" dirty="0"/>
              <a:t>位则该位置</a:t>
            </a:r>
            <a:r>
              <a:rPr lang="en-US" altLang="zh-CN" dirty="0"/>
              <a:t>1</a:t>
            </a:r>
            <a:r>
              <a:rPr lang="zh-CN" altLang="en-US" dirty="0"/>
              <a:t>，否则清零。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常用于数据校验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辅助进位标志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辅助进位标志（</a:t>
            </a:r>
            <a:r>
              <a:rPr lang="en-US" altLang="zh-CN" dirty="0">
                <a:solidFill>
                  <a:srgbClr val="FF0000"/>
                </a:solidFill>
              </a:rPr>
              <a:t>AC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：如果算术操作在结果的第</a:t>
            </a:r>
            <a:r>
              <a:rPr lang="en-US" altLang="zh-CN" dirty="0"/>
              <a:t>3</a:t>
            </a:r>
            <a:r>
              <a:rPr lang="zh-CN" altLang="en-US" dirty="0"/>
              <a:t>位发生进位或借位则将该标志置</a:t>
            </a:r>
            <a:r>
              <a:rPr lang="en-US" altLang="zh-CN" dirty="0"/>
              <a:t>1</a:t>
            </a:r>
            <a:r>
              <a:rPr lang="zh-CN" altLang="en-US" dirty="0"/>
              <a:t>，否则清零。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这个标志在</a:t>
            </a:r>
            <a:r>
              <a:rPr lang="en-US" altLang="zh-CN" dirty="0"/>
              <a:t>BCD(binary-code decimal)</a:t>
            </a:r>
            <a:r>
              <a:rPr lang="zh-CN" altLang="en-US" dirty="0"/>
              <a:t>算术运算中被使用。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控制标志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方向标志（</a:t>
            </a:r>
            <a:r>
              <a:rPr lang="en-US" altLang="zh-CN" dirty="0">
                <a:solidFill>
                  <a:srgbClr val="FF0000"/>
                </a:solidFill>
              </a:rPr>
              <a:t>DF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dirty="0"/>
              <a:t>控制串指令</a:t>
            </a:r>
            <a:r>
              <a:rPr lang="en-US" altLang="zh-CN" dirty="0"/>
              <a:t>(MOVS, CMPS, SCAS, LODS</a:t>
            </a:r>
            <a:r>
              <a:rPr lang="zh-CN" altLang="en-US" dirty="0"/>
              <a:t>以及</a:t>
            </a:r>
            <a:r>
              <a:rPr lang="en-US" altLang="zh-CN" dirty="0"/>
              <a:t>STOS)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设置</a:t>
            </a:r>
            <a:r>
              <a:rPr lang="en-US" altLang="zh-CN" dirty="0"/>
              <a:t>DF</a:t>
            </a:r>
            <a:r>
              <a:rPr lang="zh-CN" altLang="en-US" dirty="0"/>
              <a:t>标志使得串指令自动递减（从高地址向低地址方向处理字符串），清除该标志则使得串指令自动递增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STD</a:t>
            </a:r>
            <a:r>
              <a:rPr lang="zh-CN" altLang="en-US" dirty="0"/>
              <a:t>以及</a:t>
            </a:r>
            <a:r>
              <a:rPr lang="en-US" altLang="zh-CN" dirty="0"/>
              <a:t>CLD</a:t>
            </a:r>
            <a:r>
              <a:rPr lang="zh-CN" altLang="en-US" dirty="0"/>
              <a:t>指令分别用于设置以及清除</a:t>
            </a:r>
            <a:r>
              <a:rPr lang="en-US" altLang="zh-CN" dirty="0"/>
              <a:t>DF</a:t>
            </a:r>
            <a:r>
              <a:rPr lang="zh-CN" altLang="en-US" dirty="0"/>
              <a:t>标志。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系统标志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TF</a:t>
            </a:r>
            <a:r>
              <a:rPr lang="zh-CN" altLang="en-US" dirty="0"/>
              <a:t>：将该位设置为</a:t>
            </a:r>
            <a:r>
              <a:rPr lang="en-US" altLang="zh-CN" dirty="0"/>
              <a:t>1</a:t>
            </a:r>
            <a:r>
              <a:rPr lang="zh-CN" altLang="en-US" dirty="0"/>
              <a:t>以允许单步调试模式，清零则禁用该模式。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调试器的</a:t>
            </a:r>
            <a:r>
              <a:rPr lang="zh-CN" altLang="en-US" dirty="0">
                <a:solidFill>
                  <a:srgbClr val="FF0000"/>
                </a:solidFill>
              </a:rPr>
              <a:t>单步调试</a:t>
            </a:r>
            <a:r>
              <a:rPr lang="zh-CN" altLang="en-US" dirty="0"/>
              <a:t>功能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>
            <p:custDataLst>
              <p:tags r:id="rId2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238375" y="82583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两个无符号整数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减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之后的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CPU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状态寄存器的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CF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ZF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标志位结果如下，哪种状态表示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大于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？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3352800" y="2795905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CF=0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ZF=0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CF=1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ZF=0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CF=0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ZF=1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CF=1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ZF=1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12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提交</a:t>
            </a:r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12661900" y="6326833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以上版本</a:t>
            </a:r>
          </a:p>
        </p:txBody>
      </p:sp>
      <p:sp>
        <p:nvSpPr>
          <p:cNvPr id="28" name="文本框 27"/>
          <p:cNvSpPr txBox="1"/>
          <p:nvPr>
            <p:custDataLst>
              <p:tags r:id="rId14"/>
            </p:custDataLst>
          </p:nvPr>
        </p:nvSpPr>
        <p:spPr>
          <a:xfrm>
            <a:off x="12827000" y="635000"/>
            <a:ext cx="3332480" cy="1015663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lvl="0"/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如果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A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大于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B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，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A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减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B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，不等于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0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，所以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ZF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为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0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，不产生进位或者借位，所以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CF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为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0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grpSp>
        <p:nvGrpSpPr>
          <p:cNvPr id="26" name="组合 25"/>
          <p:cNvGrpSpPr/>
          <p:nvPr>
            <p:custDataLst>
              <p:tags r:id="rId15"/>
            </p:custDataLst>
          </p:nvPr>
        </p:nvGrpSpPr>
        <p:grpSpPr>
          <a:xfrm>
            <a:off x="12585700" y="0"/>
            <a:ext cx="3815080" cy="647700"/>
            <a:chOff x="9537700" y="0"/>
            <a:chExt cx="3815080" cy="647700"/>
          </a:xfrm>
        </p:grpSpPr>
        <p:sp>
          <p:nvSpPr>
            <p:cNvPr id="23" name="RemarkBack"/>
            <p:cNvSpPr/>
            <p:nvPr>
              <p:custDataLst>
                <p:tags r:id="rId25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RemarkBlock"/>
            <p:cNvSpPr/>
            <p:nvPr>
              <p:custDataLst>
                <p:tags r:id="rId26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RemarkTitleText"/>
            <p:cNvSpPr txBox="1"/>
            <p:nvPr>
              <p:custDataLst>
                <p:tags r:id="rId27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微软雅黑" panose="020B0503020204020204" charset="-122"/>
                </a:rPr>
                <a:t>答案解析</a:t>
              </a:r>
            </a:p>
          </p:txBody>
        </p:sp>
      </p:grpSp>
      <p:sp>
        <p:nvSpPr>
          <p:cNvPr id="2" name="RemarkBack"/>
          <p:cNvSpPr/>
          <p:nvPr>
            <p:custDataLst>
              <p:tags r:id="rId16"/>
            </p:custDataLst>
          </p:nvPr>
        </p:nvSpPr>
        <p:spPr>
          <a:xfrm>
            <a:off x="12585700" y="12700"/>
            <a:ext cx="381508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markBlock"/>
          <p:cNvSpPr/>
          <p:nvPr>
            <p:custDataLst>
              <p:tags r:id="rId17"/>
            </p:custDataLst>
          </p:nvPr>
        </p:nvSpPr>
        <p:spPr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markTitleText"/>
          <p:cNvSpPr txBox="1"/>
          <p:nvPr>
            <p:custDataLst>
              <p:tags r:id="rId18"/>
            </p:custDataLst>
          </p:nvPr>
        </p:nvSpPr>
        <p:spPr>
          <a:xfrm>
            <a:off x="12827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答案解析</a:t>
            </a:r>
          </a:p>
        </p:txBody>
      </p:sp>
      <p:grpSp>
        <p:nvGrpSpPr>
          <p:cNvPr id="20" name="组合 19"/>
          <p:cNvGrpSpPr/>
          <p:nvPr>
            <p:custDataLst>
              <p:tags r:id="rId19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21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22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23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微软雅黑" panose="020B050302020402020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24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微软雅黑" panose="020B050302020402020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20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指令指针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指令指针寄存器</a:t>
            </a:r>
            <a:r>
              <a:rPr lang="zh-CN" altLang="en-US" dirty="0"/>
              <a:t>（</a:t>
            </a:r>
            <a:r>
              <a:rPr lang="en-US" altLang="zh-CN" dirty="0"/>
              <a:t>EIP</a:t>
            </a:r>
            <a:r>
              <a:rPr lang="zh-CN" altLang="en-US" dirty="0"/>
              <a:t>）存放下一条机器指令的内存地址。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跳转指令可以修改指令指针寄存器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哪个寄存器存储了下一条要执行机器指令的内存地址？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EAX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EFLAGS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EIP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ESP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提交</a:t>
            </a:r>
          </a:p>
        </p:txBody>
      </p:sp>
      <p:sp>
        <p:nvSpPr>
          <p:cNvPr id="22" name="矩形 21"/>
          <p:cNvSpPr/>
          <p:nvPr>
            <p:custDataLst>
              <p:tags r:id="rId12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12661900" y="6326833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以上版本</a:t>
            </a:r>
          </a:p>
        </p:txBody>
      </p:sp>
      <p:sp>
        <p:nvSpPr>
          <p:cNvPr id="28" name="文本框 27"/>
          <p:cNvSpPr txBox="1"/>
          <p:nvPr>
            <p:custDataLst>
              <p:tags r:id="rId14"/>
            </p:custDataLst>
          </p:nvPr>
        </p:nvSpPr>
        <p:spPr>
          <a:xfrm>
            <a:off x="12827000" y="635000"/>
            <a:ext cx="3332480" cy="1015663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lvl="0"/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EIP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指令指针寄存器，存储下一条要执行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CPU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指令的内存地址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grpSp>
        <p:nvGrpSpPr>
          <p:cNvPr id="26" name="组合 25"/>
          <p:cNvGrpSpPr/>
          <p:nvPr>
            <p:custDataLst>
              <p:tags r:id="rId15"/>
            </p:custDataLst>
          </p:nvPr>
        </p:nvGrpSpPr>
        <p:grpSpPr>
          <a:xfrm>
            <a:off x="12585700" y="0"/>
            <a:ext cx="3815080" cy="647700"/>
            <a:chOff x="9537700" y="0"/>
            <a:chExt cx="3815080" cy="647700"/>
          </a:xfrm>
        </p:grpSpPr>
        <p:sp>
          <p:nvSpPr>
            <p:cNvPr id="23" name="RemarkBack"/>
            <p:cNvSpPr/>
            <p:nvPr>
              <p:custDataLst>
                <p:tags r:id="rId25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RemarkBlock"/>
            <p:cNvSpPr/>
            <p:nvPr>
              <p:custDataLst>
                <p:tags r:id="rId26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RemarkTitleText"/>
            <p:cNvSpPr txBox="1"/>
            <p:nvPr>
              <p:custDataLst>
                <p:tags r:id="rId27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微软雅黑" panose="020B0503020204020204" charset="-122"/>
                </a:rPr>
                <a:t>答案解析</a:t>
              </a:r>
            </a:p>
          </p:txBody>
        </p:sp>
      </p:grpSp>
      <p:sp>
        <p:nvSpPr>
          <p:cNvPr id="2" name="RemarkBack"/>
          <p:cNvSpPr/>
          <p:nvPr>
            <p:custDataLst>
              <p:tags r:id="rId16"/>
            </p:custDataLst>
          </p:nvPr>
        </p:nvSpPr>
        <p:spPr>
          <a:xfrm>
            <a:off x="12585700" y="12700"/>
            <a:ext cx="381508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markBlock"/>
          <p:cNvSpPr/>
          <p:nvPr>
            <p:custDataLst>
              <p:tags r:id="rId17"/>
            </p:custDataLst>
          </p:nvPr>
        </p:nvSpPr>
        <p:spPr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markTitleText"/>
          <p:cNvSpPr txBox="1"/>
          <p:nvPr>
            <p:custDataLst>
              <p:tags r:id="rId18"/>
            </p:custDataLst>
          </p:nvPr>
        </p:nvSpPr>
        <p:spPr>
          <a:xfrm>
            <a:off x="12827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答案解析</a:t>
            </a:r>
          </a:p>
        </p:txBody>
      </p:sp>
      <p:grpSp>
        <p:nvGrpSpPr>
          <p:cNvPr id="20" name="组合 19"/>
          <p:cNvGrpSpPr/>
          <p:nvPr>
            <p:custDataLst>
              <p:tags r:id="rId19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21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22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23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微软雅黑" panose="020B050302020402020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24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  <a:sym typeface="微软雅黑" panose="020B050302020402020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20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下列哪些是通用寄存器？</a:t>
            </a: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EAX	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3352800" y="34718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EFLAGS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3352800" y="41576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EIP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3352800" y="48434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ESP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5361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2219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49077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提交</a:t>
            </a:r>
          </a:p>
        </p:txBody>
      </p:sp>
      <p:sp>
        <p:nvSpPr>
          <p:cNvPr id="20" name="文本框 19"/>
          <p:cNvSpPr txBox="1"/>
          <p:nvPr>
            <p:custDataLst>
              <p:tags r:id="rId12"/>
            </p:custDataLst>
          </p:nvPr>
        </p:nvSpPr>
        <p:spPr>
          <a:xfrm>
            <a:off x="3352800" y="55292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FS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21" name="矩形 20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2638425" y="55935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sp>
        <p:nvSpPr>
          <p:cNvPr id="22" name="矩形 21"/>
          <p:cNvSpPr/>
          <p:nvPr>
            <p:custDataLst>
              <p:tags r:id="rId14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15"/>
            </p:custDataLst>
          </p:nvPr>
        </p:nvSpPr>
        <p:spPr>
          <a:xfrm>
            <a:off x="12661900" y="6326833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以上版本</a:t>
            </a:r>
          </a:p>
        </p:txBody>
      </p:sp>
      <p:sp>
        <p:nvSpPr>
          <p:cNvPr id="28" name="文本框 27"/>
          <p:cNvSpPr txBox="1"/>
          <p:nvPr>
            <p:custDataLst>
              <p:tags r:id="rId16"/>
            </p:custDataLst>
          </p:nvPr>
        </p:nvSpPr>
        <p:spPr>
          <a:xfrm>
            <a:off x="12827000" y="1270001"/>
            <a:ext cx="3332480" cy="1015663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lvl="0"/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EFLAGS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是标志寄存器</a:t>
            </a:r>
            <a:endParaRPr lang="en-US" altLang="zh-CN" sz="2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  <a:p>
            <a:pPr lvl="0"/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EIP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是指令指针寄存器</a:t>
            </a:r>
            <a:endParaRPr lang="en-US" altLang="zh-CN" sz="20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  <a:p>
            <a:pPr lvl="0"/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FS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是段寄存器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微软雅黑" panose="020B0503020204020204" charset="-122"/>
            </a:endParaRPr>
          </a:p>
        </p:txBody>
      </p:sp>
      <p:grpSp>
        <p:nvGrpSpPr>
          <p:cNvPr id="26" name="组合 25"/>
          <p:cNvGrpSpPr/>
          <p:nvPr>
            <p:custDataLst>
              <p:tags r:id="rId17"/>
            </p:custDataLst>
          </p:nvPr>
        </p:nvGrpSpPr>
        <p:grpSpPr>
          <a:xfrm>
            <a:off x="12585700" y="0"/>
            <a:ext cx="3815080" cy="647700"/>
            <a:chOff x="9537700" y="0"/>
            <a:chExt cx="3815080" cy="647700"/>
          </a:xfrm>
        </p:grpSpPr>
        <p:sp>
          <p:nvSpPr>
            <p:cNvPr id="23" name="RemarkBack"/>
            <p:cNvSpPr/>
            <p:nvPr>
              <p:custDataLst>
                <p:tags r:id="rId27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RemarkBlock"/>
            <p:cNvSpPr/>
            <p:nvPr>
              <p:custDataLst>
                <p:tags r:id="rId28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RemarkTitleText"/>
            <p:cNvSpPr txBox="1"/>
            <p:nvPr>
              <p:custDataLst>
                <p:tags r:id="rId29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微软雅黑" panose="020B0503020204020204" charset="-122"/>
                </a:rPr>
                <a:t>答案解析</a:t>
              </a:r>
            </a:p>
          </p:txBody>
        </p:sp>
      </p:grpSp>
      <p:sp>
        <p:nvSpPr>
          <p:cNvPr id="2" name="RemarkBack"/>
          <p:cNvSpPr/>
          <p:nvPr>
            <p:custDataLst>
              <p:tags r:id="rId18"/>
            </p:custDataLst>
          </p:nvPr>
        </p:nvSpPr>
        <p:spPr>
          <a:xfrm>
            <a:off x="12585700" y="12700"/>
            <a:ext cx="381508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RemarkBlock"/>
          <p:cNvSpPr/>
          <p:nvPr>
            <p:custDataLst>
              <p:tags r:id="rId19"/>
            </p:custDataLst>
          </p:nvPr>
        </p:nvSpPr>
        <p:spPr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RemarkTitleText"/>
          <p:cNvSpPr txBox="1"/>
          <p:nvPr>
            <p:custDataLst>
              <p:tags r:id="rId20"/>
            </p:custDataLst>
          </p:nvPr>
        </p:nvSpPr>
        <p:spPr>
          <a:xfrm>
            <a:off x="12827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微软雅黑" panose="020B0503020204020204" charset="-122"/>
              </a:rPr>
              <a:t>答案解析</a:t>
            </a:r>
          </a:p>
        </p:txBody>
      </p:sp>
      <p:grpSp>
        <p:nvGrpSpPr>
          <p:cNvPr id="18" name="组合 17"/>
          <p:cNvGrpSpPr/>
          <p:nvPr>
            <p:custDataLst>
              <p:tags r:id="rId21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23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ColorBlock"/>
            <p:cNvSpPr/>
            <p:nvPr>
              <p:custDataLst>
                <p:tags r:id="rId24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ypeText"/>
            <p:cNvSpPr txBox="1"/>
            <p:nvPr>
              <p:custDataLst>
                <p:tags r:id="rId25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微软雅黑" panose="020B0503020204020204" charset="-122"/>
                </a:rPr>
                <a:t>多选题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26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微软雅黑" panose="020B050302020402020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3" name="图片 2"/>
          <p:cNvPicPr/>
          <p:nvPr>
            <p:custDataLst>
              <p:tags r:id="rId22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IA-32</a:t>
            </a:r>
            <a:r>
              <a:rPr lang="zh-CN" altLang="en-US" dirty="0"/>
              <a:t>内存管理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IA-32</a:t>
            </a:r>
            <a:r>
              <a:rPr lang="zh-CN" altLang="en-US" dirty="0"/>
              <a:t>内存管理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dirty="0"/>
              <a:t>IA-32</a:t>
            </a:r>
            <a:r>
              <a:rPr lang="zh-CN" altLang="en-US" dirty="0"/>
              <a:t>保护模式的内存管理比实地址模式要复杂</a:t>
            </a:r>
            <a:endParaRPr lang="en-US" altLang="zh-CN" dirty="0"/>
          </a:p>
          <a:p>
            <a:pPr lvl="1">
              <a:lnSpc>
                <a:spcPct val="200000"/>
              </a:lnSpc>
            </a:pPr>
            <a:r>
              <a:rPr lang="zh-CN" altLang="en-US" dirty="0"/>
              <a:t>多任务</a:t>
            </a:r>
            <a:endParaRPr lang="en-US" altLang="zh-CN" dirty="0"/>
          </a:p>
          <a:p>
            <a:pPr lvl="1">
              <a:lnSpc>
                <a:spcPct val="200000"/>
              </a:lnSpc>
            </a:pPr>
            <a:r>
              <a:rPr lang="zh-CN" altLang="en-US" dirty="0"/>
              <a:t>多用户</a:t>
            </a:r>
            <a:endParaRPr lang="en-US" altLang="zh-CN" dirty="0"/>
          </a:p>
          <a:p>
            <a:pPr lvl="1">
              <a:lnSpc>
                <a:spcPct val="20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段模式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页模式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200000"/>
              </a:lnSpc>
            </a:pPr>
            <a:r>
              <a:rPr lang="zh-CN" altLang="en-US" dirty="0"/>
              <a:t>页模式也是基于段模式的，通常称为</a:t>
            </a:r>
            <a:r>
              <a:rPr lang="zh-CN" altLang="en-US" dirty="0">
                <a:solidFill>
                  <a:srgbClr val="FF0000"/>
                </a:solidFill>
              </a:rPr>
              <a:t>段页式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保护模式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每个程序有独立的</a:t>
            </a:r>
            <a:r>
              <a:rPr lang="en-US" altLang="zh-CN" dirty="0"/>
              <a:t>4GB</a:t>
            </a:r>
            <a:r>
              <a:rPr lang="zh-CN" altLang="en-US" dirty="0"/>
              <a:t>虚拟地址空间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数据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指令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数据 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 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指令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虚拟地址到物理地址的转换是透明的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段管理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一般保护模式的程序有</a:t>
            </a:r>
            <a:r>
              <a:rPr lang="en-US" altLang="zh-CN" dirty="0"/>
              <a:t>3</a:t>
            </a:r>
            <a:r>
              <a:rPr lang="zh-CN" altLang="en-US" dirty="0"/>
              <a:t>个段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代码段，</a:t>
            </a:r>
            <a:r>
              <a:rPr lang="en-US" altLang="zh-CN" dirty="0"/>
              <a:t>CS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数据段，</a:t>
            </a:r>
            <a:r>
              <a:rPr lang="en-US" altLang="zh-CN" dirty="0"/>
              <a:t>DS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堆栈段，</a:t>
            </a:r>
            <a:r>
              <a:rPr lang="en-US" altLang="zh-CN" dirty="0"/>
              <a:t>SS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段是一块内存空间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段管理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GDT</a:t>
            </a:r>
            <a:r>
              <a:rPr lang="zh-CN" altLang="en-US" dirty="0"/>
              <a:t>（</a:t>
            </a:r>
            <a:r>
              <a:rPr lang="en-US" altLang="zh-CN" dirty="0"/>
              <a:t>Global Descriptor Table</a:t>
            </a:r>
            <a:r>
              <a:rPr lang="zh-CN" altLang="en-US" dirty="0"/>
              <a:t>）全局描述符表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整个系统只有一个</a:t>
            </a:r>
            <a:r>
              <a:rPr lang="en-US" altLang="zh-CN" dirty="0"/>
              <a:t>GDT</a:t>
            </a:r>
            <a:r>
              <a:rPr lang="zh-CN" altLang="en-US" dirty="0"/>
              <a:t>（</a:t>
            </a:r>
            <a:r>
              <a:rPr lang="en-US" altLang="zh-CN" dirty="0"/>
              <a:t>64bit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Intel</a:t>
            </a:r>
            <a:r>
              <a:rPr lang="zh-CN" altLang="en-US" dirty="0"/>
              <a:t>提供了一个寄存器</a:t>
            </a:r>
            <a:r>
              <a:rPr lang="en-US" altLang="zh-CN" dirty="0">
                <a:solidFill>
                  <a:srgbClr val="FF0000"/>
                </a:solidFill>
              </a:rPr>
              <a:t>GDTR</a:t>
            </a:r>
            <a:r>
              <a:rPr lang="zh-CN" altLang="en-US" dirty="0"/>
              <a:t>用来存放</a:t>
            </a:r>
            <a:r>
              <a:rPr lang="en-US" altLang="zh-CN" dirty="0"/>
              <a:t>GDT</a:t>
            </a:r>
            <a:r>
              <a:rPr lang="zh-CN" altLang="en-US" dirty="0"/>
              <a:t>的入口地址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LDT</a:t>
            </a:r>
            <a:r>
              <a:rPr lang="zh-CN" altLang="en-US" dirty="0"/>
              <a:t>（</a:t>
            </a:r>
            <a:r>
              <a:rPr lang="en-US" altLang="zh-CN" dirty="0"/>
              <a:t>Local Descriptor Table</a:t>
            </a:r>
            <a:r>
              <a:rPr lang="zh-CN" altLang="en-US" dirty="0"/>
              <a:t>）局部描述符表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每个程序都有自己的</a:t>
            </a:r>
            <a:r>
              <a:rPr lang="en-US" altLang="zh-CN" dirty="0"/>
              <a:t>LDT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IA-32</a:t>
            </a:r>
            <a:r>
              <a:rPr lang="zh-CN" altLang="en-US" dirty="0"/>
              <a:t>为</a:t>
            </a:r>
            <a:r>
              <a:rPr lang="en-US" altLang="zh-CN" dirty="0"/>
              <a:t>LDT</a:t>
            </a:r>
            <a:r>
              <a:rPr lang="zh-CN" altLang="en-US" dirty="0"/>
              <a:t>的入口地址也提供了一个寄存器</a:t>
            </a:r>
            <a:r>
              <a:rPr lang="en-US" altLang="zh-CN" dirty="0">
                <a:solidFill>
                  <a:srgbClr val="FF0000"/>
                </a:solidFill>
              </a:rPr>
              <a:t>LDTR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因为在任何时刻只能有一个任务在运行，所以</a:t>
            </a:r>
            <a:r>
              <a:rPr lang="en-US" altLang="zh-CN" dirty="0"/>
              <a:t>LDTR</a:t>
            </a:r>
            <a:r>
              <a:rPr lang="zh-CN" altLang="en-US" dirty="0"/>
              <a:t>也只需要有一个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896233"/>
            <a:ext cx="10515600" cy="1085125"/>
          </a:xfrm>
        </p:spPr>
        <p:txBody>
          <a:bodyPr/>
          <a:lstStyle/>
          <a:p>
            <a:pPr algn="ctr"/>
            <a:r>
              <a:rPr lang="zh-CN" altLang="en-US" dirty="0"/>
              <a:t>平坦分段模式（全局描述）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395" y="2695575"/>
            <a:ext cx="5271135" cy="358838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910423" y="5546785"/>
            <a:ext cx="733245" cy="2760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9722" y="1856642"/>
            <a:ext cx="534797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单任务、全局描述符表（</a:t>
            </a:r>
            <a:r>
              <a:rPr lang="en-US" altLang="zh-CN" sz="2800" dirty="0"/>
              <a:t>GDT</a:t>
            </a:r>
            <a:r>
              <a:rPr lang="zh-CN" altLang="en-US" sz="2800" dirty="0"/>
              <a:t>）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838200" y="896233"/>
            <a:ext cx="10515600" cy="10851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zh-CN" altLang="en-US" dirty="0"/>
              <a:t>多段模式（局部描述）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946" y="2712160"/>
            <a:ext cx="4662920" cy="35789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9722" y="1974732"/>
            <a:ext cx="527304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多任务、局部描述符表（</a:t>
            </a:r>
            <a:r>
              <a:rPr lang="en-US" altLang="zh-CN" sz="2800" dirty="0"/>
              <a:t>LDT</a:t>
            </a:r>
            <a:r>
              <a:rPr lang="zh-CN" altLang="en-US" sz="2800" dirty="0"/>
              <a:t>）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4113" y="782003"/>
            <a:ext cx="7345362" cy="868363"/>
          </a:xfrm>
        </p:spPr>
        <p:txBody>
          <a:bodyPr/>
          <a:lstStyle/>
          <a:p>
            <a:r>
              <a:rPr lang="zh-CN" altLang="en-US" dirty="0"/>
              <a:t>分页机制（虚拟内存）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76655" y="1840230"/>
            <a:ext cx="9736455" cy="409257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段又被分割成内存页（</a:t>
            </a:r>
            <a:r>
              <a:rPr lang="en-US" altLang="zh-CN" dirty="0"/>
              <a:t>page</a:t>
            </a:r>
            <a:r>
              <a:rPr lang="zh-CN" altLang="en-US" dirty="0"/>
              <a:t>）（</a:t>
            </a:r>
            <a:r>
              <a:rPr lang="en-US" altLang="zh-CN" dirty="0">
                <a:solidFill>
                  <a:srgbClr val="FF0000"/>
                </a:solidFill>
              </a:rPr>
              <a:t> 4096</a:t>
            </a:r>
            <a:r>
              <a:rPr lang="zh-CN" altLang="en-US" dirty="0"/>
              <a:t>字节）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实现了运行程序的总内存远大于计算机的物理内存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提高内存的利用率，</a:t>
            </a:r>
            <a:r>
              <a:rPr lang="zh-CN" altLang="en-US" dirty="0">
                <a:solidFill>
                  <a:srgbClr val="FF0000"/>
                </a:solidFill>
              </a:rPr>
              <a:t>减少内存碎片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页交换，不使用的内存页被交换到硬盘上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虚拟内存空间大于实际的物理内存空间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页交换降低程序执行速度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4464" y="566251"/>
            <a:ext cx="7345362" cy="868363"/>
          </a:xfrm>
        </p:spPr>
        <p:txBody>
          <a:bodyPr/>
          <a:lstStyle/>
          <a:p>
            <a:pPr algn="ctr"/>
            <a:r>
              <a:rPr lang="zh-CN" altLang="en-US" dirty="0"/>
              <a:t>分页机制</a:t>
            </a:r>
          </a:p>
        </p:txBody>
      </p:sp>
      <p:sp>
        <p:nvSpPr>
          <p:cNvPr id="6" name="矩形 5"/>
          <p:cNvSpPr/>
          <p:nvPr/>
        </p:nvSpPr>
        <p:spPr>
          <a:xfrm>
            <a:off x="484505" y="1798955"/>
            <a:ext cx="10650220" cy="378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分页的任务是进行</a:t>
            </a:r>
            <a:r>
              <a:rPr lang="zh-CN" altLang="en-US" sz="2400" b="1" dirty="0"/>
              <a:t>硬盘到内存的地址转换</a:t>
            </a:r>
            <a:r>
              <a:rPr lang="zh-CN" altLang="en-US" sz="2400" dirty="0"/>
              <a:t>，需要唯一确定进程所有的页地址</a:t>
            </a:r>
          </a:p>
          <a:p>
            <a:pPr marL="285750" indent="-285750" fontAlgn="auto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ym typeface="+mn-ea"/>
              </a:rPr>
              <a:t>地址转换的起始点：</a:t>
            </a:r>
            <a:r>
              <a:rPr lang="zh-CN" altLang="en-US" sz="2400" dirty="0"/>
              <a:t>正在使用的页目录的地址，一般放在CPU的CR3寄存器中</a:t>
            </a:r>
            <a:endParaRPr lang="en-US" altLang="zh-CN" sz="2400" dirty="0"/>
          </a:p>
          <a:p>
            <a:pPr marL="285750" indent="-285750" fontAlgn="auto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每个进程都有其独立的虚拟地址空间（最大为</a:t>
            </a:r>
            <a:r>
              <a:rPr lang="en-US" altLang="zh-CN" sz="2400" dirty="0"/>
              <a:t>4G</a:t>
            </a:r>
            <a:r>
              <a:rPr lang="zh-CN" altLang="en-US" sz="2400" dirty="0"/>
              <a:t>，即</a:t>
            </a:r>
            <a:r>
              <a:rPr lang="en-US" altLang="zh-CN" sz="2400" dirty="0"/>
              <a:t>2^32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285750" indent="-285750" fontAlgn="auto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每一个32位的线性地址被划分三部分：页目录索引（10位），页表索引（10位），偏移（12位），以CR3为起点最终找到物理地址页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2176826" y="1000432"/>
            <a:ext cx="7345362" cy="8683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zh-CN" altLang="en-US" dirty="0"/>
              <a:t>分页机制</a:t>
            </a:r>
          </a:p>
        </p:txBody>
      </p:sp>
      <p:sp>
        <p:nvSpPr>
          <p:cNvPr id="3" name="矩形 2"/>
          <p:cNvSpPr/>
          <p:nvPr/>
        </p:nvSpPr>
        <p:spPr>
          <a:xfrm>
            <a:off x="336430" y="1688375"/>
            <a:ext cx="580595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第一步：在</a:t>
            </a:r>
            <a:r>
              <a:rPr lang="en-US" altLang="zh-CN" sz="2400" dirty="0"/>
              <a:t>CR3</a:t>
            </a:r>
            <a:r>
              <a:rPr lang="zh-CN" altLang="en-US" sz="2400" dirty="0"/>
              <a:t>装入进程的页目录地址</a:t>
            </a: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第二步：线性地址前十位加</a:t>
            </a:r>
            <a:r>
              <a:rPr lang="en-US" altLang="zh-CN" sz="2400" dirty="0"/>
              <a:t>CR3</a:t>
            </a:r>
            <a:r>
              <a:rPr lang="zh-CN" altLang="en-US" sz="2400" dirty="0"/>
              <a:t>，在页目录下找到对应的索引项即页表地址（</a:t>
            </a:r>
            <a:r>
              <a:rPr lang="en-US" altLang="zh-CN" sz="2400" dirty="0"/>
              <a:t>PDE</a:t>
            </a:r>
            <a:r>
              <a:rPr lang="zh-CN" altLang="en-US" sz="2400" dirty="0"/>
              <a:t>）。</a:t>
            </a: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第三步：根据线性地址中间十位加当前页表初始位，在页表下找到对应的索引项即页的起始地址（</a:t>
            </a:r>
            <a:r>
              <a:rPr lang="en-US" altLang="zh-CN" sz="2400" dirty="0"/>
              <a:t>PTE</a:t>
            </a:r>
            <a:r>
              <a:rPr lang="zh-CN" altLang="en-US" sz="2400" dirty="0"/>
              <a:t>）。</a:t>
            </a: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第四步：将页的起始地址与线性地址最后</a:t>
            </a:r>
            <a:r>
              <a:rPr lang="en-US" altLang="zh-CN" sz="2400" dirty="0"/>
              <a:t>12</a:t>
            </a:r>
            <a:r>
              <a:rPr lang="zh-CN" altLang="en-US" sz="2400" dirty="0"/>
              <a:t>位相加，得到物理地址（</a:t>
            </a:r>
            <a:r>
              <a:rPr lang="en-US" altLang="zh-CN" sz="2400" dirty="0"/>
              <a:t>PTT</a:t>
            </a:r>
            <a:r>
              <a:rPr lang="zh-CN" altLang="en-US" sz="2400" dirty="0"/>
              <a:t>）。</a:t>
            </a:r>
          </a:p>
        </p:txBody>
      </p:sp>
      <p:pic>
        <p:nvPicPr>
          <p:cNvPr id="4" name="内容占位符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771" y="1918939"/>
            <a:ext cx="5416564" cy="406242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通过虚拟地址读取一个内存数据，至少要访问多少次内存？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</a:p>
        </p:txBody>
      </p:sp>
      <p:sp>
        <p:nvSpPr>
          <p:cNvPr id="22" name="矩形 21"/>
          <p:cNvSpPr/>
          <p:nvPr>
            <p:custDataLst>
              <p:tags r:id="rId12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12661900" y="6326833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以上版本</a:t>
            </a:r>
          </a:p>
        </p:txBody>
      </p:sp>
      <p:sp>
        <p:nvSpPr>
          <p:cNvPr id="28" name="文本框 27"/>
          <p:cNvSpPr txBox="1"/>
          <p:nvPr>
            <p:custDataLst>
              <p:tags r:id="rId14"/>
            </p:custDataLst>
          </p:nvPr>
        </p:nvSpPr>
        <p:spPr>
          <a:xfrm>
            <a:off x="12827000" y="1270000"/>
            <a:ext cx="3332480" cy="1631216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从页目录中读取页表地址</a:t>
            </a:r>
            <a:endParaRPr lang="en-US" altLang="zh-CN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457200" indent="-457200">
              <a:buFontTx/>
              <a:buAutoNum type="arabicPeriod"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从页表地址读取页的地址</a:t>
            </a:r>
            <a:endParaRPr lang="en-US" altLang="zh-CN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457200" indent="-457200">
              <a:buFontTx/>
              <a:buAutoNum type="arabicPeriod"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从页中读取内存数据</a:t>
            </a:r>
            <a:endParaRPr lang="zh-CN" alt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26" name="组合 25"/>
          <p:cNvGrpSpPr/>
          <p:nvPr>
            <p:custDataLst>
              <p:tags r:id="rId15"/>
            </p:custDataLst>
          </p:nvPr>
        </p:nvGrpSpPr>
        <p:grpSpPr>
          <a:xfrm>
            <a:off x="12585700" y="0"/>
            <a:ext cx="3815080" cy="647700"/>
            <a:chOff x="9537700" y="0"/>
            <a:chExt cx="3815080" cy="647700"/>
          </a:xfrm>
        </p:grpSpPr>
        <p:sp>
          <p:nvSpPr>
            <p:cNvPr id="23" name="RemarkBack"/>
            <p:cNvSpPr/>
            <p:nvPr>
              <p:custDataLst>
                <p:tags r:id="rId25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RemarkBlock"/>
            <p:cNvSpPr/>
            <p:nvPr>
              <p:custDataLst>
                <p:tags r:id="rId26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RemarkTitleText"/>
            <p:cNvSpPr txBox="1"/>
            <p:nvPr>
              <p:custDataLst>
                <p:tags r:id="rId27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答案解析</a:t>
              </a:r>
            </a:p>
          </p:txBody>
        </p:sp>
      </p:grpSp>
      <p:sp>
        <p:nvSpPr>
          <p:cNvPr id="2" name="RemarkBack"/>
          <p:cNvSpPr/>
          <p:nvPr>
            <p:custDataLst>
              <p:tags r:id="rId16"/>
            </p:custDataLst>
          </p:nvPr>
        </p:nvSpPr>
        <p:spPr>
          <a:xfrm>
            <a:off x="12585700" y="12700"/>
            <a:ext cx="381508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markBlock"/>
          <p:cNvSpPr/>
          <p:nvPr>
            <p:custDataLst>
              <p:tags r:id="rId17"/>
            </p:custDataLst>
          </p:nvPr>
        </p:nvSpPr>
        <p:spPr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markTitleText"/>
          <p:cNvSpPr txBox="1"/>
          <p:nvPr>
            <p:custDataLst>
              <p:tags r:id="rId18"/>
            </p:custDataLst>
          </p:nvPr>
        </p:nvSpPr>
        <p:spPr>
          <a:xfrm>
            <a:off x="12827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答案解析</a:t>
            </a:r>
          </a:p>
        </p:txBody>
      </p:sp>
      <p:grpSp>
        <p:nvGrpSpPr>
          <p:cNvPr id="20" name="组合 19"/>
          <p:cNvGrpSpPr/>
          <p:nvPr>
            <p:custDataLst>
              <p:tags r:id="rId19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21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22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23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24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20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IA-32</a:t>
            </a:r>
            <a:r>
              <a:rPr lang="zh-CN" altLang="en-US" dirty="0"/>
              <a:t>微机的构成</a:t>
            </a:r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zh-CN" altLang="en-US" dirty="0"/>
              <a:t>主板是微型计算机的核心，它是一块印制电路板，用于安装计算机的CPU、功能支持芯片组、主存储器、输入输出接口、电源插口以及扩展槽。这些不同的组件通过总线相互连接，总线是印制在主板上的一组电线。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视频输出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视频适配器负责控制IBM兼容机上文本和图形的显示，由两部分构成：视频控制器和视频显示存储器（显存）。所有显示在监视器上的文本和图形都需先写入显存，然后由视频控制器传送到监视器上显示。视频控制器本身是一个具有特殊用途的微处理器，它能减轻CPU对视频显示硬件的控制工作。通过这种架构，视频适配器有效地协助处理图形和文本的显示任务，提高了计算机系统的整体性能。</a:t>
            </a:r>
          </a:p>
          <a:p>
            <a:pPr lvl="1" fontAlgn="auto">
              <a:lnSpc>
                <a:spcPct val="150000"/>
              </a:lnSpc>
              <a:spcBef>
                <a:spcPts val="1100"/>
              </a:spcBef>
            </a:pPr>
            <a:r>
              <a:rPr lang="zh-CN" altLang="en-US" dirty="0">
                <a:solidFill>
                  <a:schemeClr val="tx1"/>
                </a:solidFill>
              </a:rPr>
              <a:t>数据阴极射线管（CRT，Cathode-ray tube）视频监视器：光栅扫描显示图像</a:t>
            </a:r>
          </a:p>
          <a:p>
            <a:pPr lvl="1" fontAlgn="auto">
              <a:lnSpc>
                <a:spcPct val="150000"/>
              </a:lnSpc>
              <a:spcBef>
                <a:spcPts val="1100"/>
              </a:spcBef>
            </a:pPr>
            <a:r>
              <a:rPr lang="zh-CN" altLang="en-US" dirty="0">
                <a:solidFill>
                  <a:schemeClr val="tx1"/>
                </a:solidFill>
              </a:rPr>
              <a:t>数字液晶显示(LCD,LiquidCrystal Display)监视器：接收数字流显示图像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存储器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000" dirty="0"/>
              <a:t>ROM：只读存储器，是内容被永久烧录到芯片中而不能擦除的存储器。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EPROM：可擦写可编程只读存储器，只能使用紫外线低速擦除，可重新编程。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DRAM：动态随机访问存储器，是由于它价格低廉，因此计算机用它作为主存储器。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SRAM：静态随机访问存储器，也是一种RAM芯片，主要用于昂贵的高速缓存。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VRAM：视频随机访问存储器，专用于存储视频数据。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/>
              <a:t>    </a:t>
            </a:r>
            <a:r>
              <a:rPr lang="zh-CN" altLang="en-US" sz="2000" dirty="0"/>
              <a:t>CMOS RAM：互补金属氧化物半导体随机访问存储器，系统主板上用于存储系统设置信息，它由一块电池供电，因此其中的内容即使在计算机电源关闭之后仍可以保留。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输入输出接口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000" b="1" dirty="0"/>
              <a:t>通用串行总线</a:t>
            </a:r>
            <a:r>
              <a:rPr lang="zh-CN" altLang="en-US" sz="2000" dirty="0"/>
              <a:t>(USB,Universal Serial Bus) ：为计算机和其他支持USB的设备之间提供了智能、高速的连接。</a:t>
            </a:r>
          </a:p>
          <a:p>
            <a:pPr lvl="1">
              <a:lnSpc>
                <a:spcPct val="150000"/>
              </a:lnSpc>
            </a:pPr>
            <a:r>
              <a:rPr lang="zh-CN" altLang="en-US" sz="2000" b="1" dirty="0"/>
              <a:t>并口</a:t>
            </a:r>
            <a:r>
              <a:rPr lang="zh-CN" altLang="en-US" sz="2000" dirty="0"/>
              <a:t>：大多数打印机通常通过并行端口与计算机相连。</a:t>
            </a:r>
          </a:p>
          <a:p>
            <a:pPr lvl="1">
              <a:lnSpc>
                <a:spcPct val="150000"/>
              </a:lnSpc>
            </a:pPr>
            <a:r>
              <a:rPr lang="zh-CN" altLang="en-US" sz="2000" b="1" dirty="0"/>
              <a:t>IDE</a:t>
            </a:r>
            <a:r>
              <a:rPr lang="zh-CN" altLang="en-US" sz="2000" dirty="0"/>
              <a:t>：IDE接口通常被称为智能驱动设备接口或集成驱动设备接口。它用于连接计算机和大容量存储设备，如硬盘、DVD以及CD-ROM等。</a:t>
            </a:r>
          </a:p>
          <a:p>
            <a:pPr lvl="1">
              <a:lnSpc>
                <a:spcPct val="150000"/>
              </a:lnSpc>
            </a:pPr>
            <a:r>
              <a:rPr lang="zh-CN" altLang="en-US" sz="2000" b="1" dirty="0"/>
              <a:t>FireWire</a:t>
            </a:r>
            <a:r>
              <a:rPr lang="zh-CN" altLang="en-US" sz="2000" dirty="0"/>
              <a:t>：火线(FireWire)是一种高速外部总线标准，支持最高达800MB/s的数据传输速率。</a:t>
            </a:r>
          </a:p>
          <a:p>
            <a:pPr lvl="1">
              <a:lnSpc>
                <a:spcPct val="150000"/>
              </a:lnSpc>
            </a:pPr>
            <a:r>
              <a:rPr lang="zh-CN" altLang="en-US" sz="2000" b="1" dirty="0"/>
              <a:t>串口</a:t>
            </a:r>
            <a:r>
              <a:rPr lang="zh-CN" altLang="en-US" sz="2000" dirty="0"/>
              <a:t>：RS-232串行端口每次发送一个二进制位，这导致其速度较并口和USB接口慢，但是这样使数据进行较远距离的传送成为可能。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下面哪些是只读存储器？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ROM</a:t>
            </a: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EPROM</a:t>
            </a: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DRAM</a:t>
            </a: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SRAM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00FF0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00FF0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7F7F7F"/>
          </a:solidFill>
          <a:ln w="635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</a:p>
        </p:txBody>
      </p:sp>
      <p:sp>
        <p:nvSpPr>
          <p:cNvPr id="22" name="矩形 21"/>
          <p:cNvSpPr/>
          <p:nvPr>
            <p:custDataLst>
              <p:tags r:id="rId12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12661900" y="6326833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以上版本</a:t>
            </a:r>
          </a:p>
        </p:txBody>
      </p:sp>
      <p:sp>
        <p:nvSpPr>
          <p:cNvPr id="28" name="文本框 27"/>
          <p:cNvSpPr txBox="1"/>
          <p:nvPr>
            <p:custDataLst>
              <p:tags r:id="rId14"/>
            </p:custDataLst>
          </p:nvPr>
        </p:nvSpPr>
        <p:spPr>
          <a:xfrm>
            <a:off x="12827000" y="1270000"/>
            <a:ext cx="3332480" cy="2553335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内存在电脑中起着举足轻重的作用。 内存一般采用半导体存储单元，包括随机存储器（RAM），只读存储器（ROM），以及高速缓存（CACHE）。 </a:t>
            </a:r>
          </a:p>
          <a:p>
            <a:pPr marL="457200" indent="-457200">
              <a:buFontTx/>
              <a:buAutoNum type="arabicPeriod"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其中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ROM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是只读存储器。</a:t>
            </a:r>
          </a:p>
        </p:txBody>
      </p:sp>
      <p:grpSp>
        <p:nvGrpSpPr>
          <p:cNvPr id="26" name="组合 25"/>
          <p:cNvGrpSpPr/>
          <p:nvPr>
            <p:custDataLst>
              <p:tags r:id="rId15"/>
            </p:custDataLst>
          </p:nvPr>
        </p:nvGrpSpPr>
        <p:grpSpPr>
          <a:xfrm>
            <a:off x="12585700" y="0"/>
            <a:ext cx="3815080" cy="647700"/>
            <a:chOff x="9537700" y="0"/>
            <a:chExt cx="3815080" cy="647700"/>
          </a:xfrm>
        </p:grpSpPr>
        <p:sp>
          <p:nvSpPr>
            <p:cNvPr id="23" name="RemarkBack"/>
            <p:cNvSpPr/>
            <p:nvPr>
              <p:custDataLst>
                <p:tags r:id="rId25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RemarkBlock"/>
            <p:cNvSpPr/>
            <p:nvPr>
              <p:custDataLst>
                <p:tags r:id="rId26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RemarkTitleText"/>
            <p:cNvSpPr txBox="1"/>
            <p:nvPr>
              <p:custDataLst>
                <p:tags r:id="rId27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答案解析</a:t>
              </a:r>
            </a:p>
          </p:txBody>
        </p:sp>
      </p:grpSp>
      <p:sp>
        <p:nvSpPr>
          <p:cNvPr id="2" name="RemarkBack"/>
          <p:cNvSpPr/>
          <p:nvPr>
            <p:custDataLst>
              <p:tags r:id="rId16"/>
            </p:custDataLst>
          </p:nvPr>
        </p:nvSpPr>
        <p:spPr>
          <a:xfrm>
            <a:off x="12585700" y="12700"/>
            <a:ext cx="381508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markBlock"/>
          <p:cNvSpPr/>
          <p:nvPr>
            <p:custDataLst>
              <p:tags r:id="rId17"/>
            </p:custDataLst>
          </p:nvPr>
        </p:nvSpPr>
        <p:spPr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markTitleText"/>
          <p:cNvSpPr txBox="1"/>
          <p:nvPr>
            <p:custDataLst>
              <p:tags r:id="rId18"/>
            </p:custDataLst>
          </p:nvPr>
        </p:nvSpPr>
        <p:spPr>
          <a:xfrm>
            <a:off x="12827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答案解析</a:t>
            </a:r>
          </a:p>
        </p:txBody>
      </p:sp>
      <p:grpSp>
        <p:nvGrpSpPr>
          <p:cNvPr id="20" name="组合 19"/>
          <p:cNvGrpSpPr/>
          <p:nvPr>
            <p:custDataLst>
              <p:tags r:id="rId19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21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22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23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24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20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输入输出系统</a:t>
            </a: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ym typeface="+mn-ea"/>
              </a:rPr>
              <a:t>应用程序访问层次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000" b="1" dirty="0"/>
              <a:t>高级语言的功能函数</a:t>
            </a:r>
            <a:r>
              <a:rPr lang="zh-CN" altLang="en-US" sz="2000" dirty="0"/>
              <a:t>：诸如C++或Java之类的高级程序设计语言包含了执行输人输出的函数</a:t>
            </a:r>
          </a:p>
          <a:p>
            <a:pPr lvl="1">
              <a:lnSpc>
                <a:spcPct val="150000"/>
              </a:lnSpc>
            </a:pPr>
            <a:r>
              <a:rPr lang="zh-CN" altLang="en-US" sz="2000" b="1" dirty="0"/>
              <a:t>操作系统</a:t>
            </a:r>
            <a:r>
              <a:rPr lang="zh-CN" altLang="en-US" sz="2000" dirty="0"/>
              <a:t>：程序员可以通过API(应用编程接口，Appliacation Programming Interface)库调用操作系统的功能函数。</a:t>
            </a:r>
          </a:p>
          <a:p>
            <a:pPr lvl="1">
              <a:lnSpc>
                <a:spcPct val="150000"/>
              </a:lnSpc>
            </a:pPr>
            <a:r>
              <a:rPr lang="zh-CN" altLang="en-US" sz="2000" b="1" dirty="0"/>
              <a:t>BIOS(基本输入输出系统)</a:t>
            </a:r>
            <a:r>
              <a:rPr lang="zh-CN" altLang="en-US" sz="2000" dirty="0"/>
              <a:t>：是直接同硬件设备交互的子程序的集合。BIOS是由计算机制造商安装的，同计算机硬件相匹配。操作系统通常同BIOS通信。</a:t>
            </a:r>
          </a:p>
          <a:p>
            <a:pPr lvl="1">
              <a:lnSpc>
                <a:spcPct val="150000"/>
              </a:lnSpc>
            </a:pPr>
            <a:r>
              <a:rPr lang="zh-CN" altLang="en-US" sz="2000" b="1" dirty="0"/>
              <a:t>设备驱动程序</a:t>
            </a:r>
            <a:r>
              <a:rPr lang="zh-CN" altLang="en-US" sz="2000" dirty="0"/>
              <a:t>：设备驱动程序包含与设备通信的功能函数，类似于BIOS的工作方式。这种驱动程序为特定设备或设备类提供输入输出功能。以CDROM.SYS为例，它使MS-DOS能够读取CD-ROM驱动器。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ym typeface="+mn-ea"/>
              </a:rPr>
              <a:t>访问层次编程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335" y="1825625"/>
            <a:ext cx="6845300" cy="4351655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000" b="1" dirty="0"/>
              <a:t>层次3</a:t>
            </a:r>
            <a:r>
              <a:rPr lang="zh-CN" altLang="en-US" sz="2000" dirty="0"/>
              <a:t>：调用库函数执行通用的文本I/O和基于文件的I/O。 </a:t>
            </a:r>
          </a:p>
          <a:p>
            <a:pPr lvl="1">
              <a:lnSpc>
                <a:spcPct val="150000"/>
              </a:lnSpc>
            </a:pPr>
            <a:r>
              <a:rPr lang="zh-CN" altLang="en-US" sz="2000" b="1" dirty="0"/>
              <a:t>层次2</a:t>
            </a:r>
            <a:r>
              <a:rPr lang="zh-CN" altLang="en-US" sz="2000" dirty="0"/>
              <a:t>：调用操作系统函数执行文本1/O和基于文件的I/O。如果操作系统使用图形用户界面，会有一些与设备无关的方式显示图形的函数。 </a:t>
            </a:r>
          </a:p>
          <a:p>
            <a:pPr lvl="1">
              <a:lnSpc>
                <a:spcPct val="150000"/>
              </a:lnSpc>
            </a:pPr>
            <a:r>
              <a:rPr lang="zh-CN" altLang="en-US" sz="2000" b="1" dirty="0"/>
              <a:t>层次1</a:t>
            </a:r>
            <a:r>
              <a:rPr lang="zh-CN" altLang="en-US" sz="2000" dirty="0"/>
              <a:t>：调用BIOS功能控制与设备相关的特性，如颜色、图形、声音、键盘输入和底层磁盘O等。 </a:t>
            </a:r>
          </a:p>
          <a:p>
            <a:pPr lvl="1">
              <a:lnSpc>
                <a:spcPct val="150000"/>
              </a:lnSpc>
            </a:pPr>
            <a:r>
              <a:rPr lang="zh-CN" altLang="en-US" sz="2000" b="1" dirty="0"/>
              <a:t>层次0</a:t>
            </a:r>
            <a:r>
              <a:rPr lang="zh-CN" altLang="en-US" sz="2000" dirty="0"/>
              <a:t>：在硬件层次上接收和发送数据，能够完全控制特定的设备。</a:t>
            </a:r>
          </a:p>
        </p:txBody>
      </p:sp>
      <p:graphicFrame>
        <p:nvGraphicFramePr>
          <p:cNvPr id="4" name="对象 -2147482611"/>
          <p:cNvGraphicFramePr>
            <a:graphicFrameLocks noChangeAspect="1"/>
          </p:cNvGraphicFramePr>
          <p:nvPr/>
        </p:nvGraphicFramePr>
        <p:xfrm>
          <a:off x="7789545" y="2600325"/>
          <a:ext cx="3970655" cy="2705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r:id="rId3" imgW="4166870" imgH="3781425" progId="Visio.Drawing.15">
                  <p:embed/>
                </p:oleObj>
              </mc:Choice>
              <mc:Fallback>
                <p:oleObj r:id="rId3" imgW="4166870" imgH="3781425" progId="Visio.Drawing.15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rcRect b="24771"/>
                      <a:stretch>
                        <a:fillRect/>
                      </a:stretch>
                    </p:blipFill>
                    <p:spPr>
                      <a:xfrm>
                        <a:off x="7789545" y="2600325"/>
                        <a:ext cx="3970655" cy="27057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下面哪些是应用程序在编程时候的访问层次？</a:t>
            </a: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库函数</a:t>
            </a: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OS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函数</a:t>
            </a: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BIOS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功能</a:t>
            </a: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硬件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</a:p>
        </p:txBody>
      </p:sp>
      <p:sp>
        <p:nvSpPr>
          <p:cNvPr id="22" name="矩形 21"/>
          <p:cNvSpPr/>
          <p:nvPr>
            <p:custDataLst>
              <p:tags r:id="rId12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12661900" y="6326833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以上版本</a:t>
            </a:r>
          </a:p>
        </p:txBody>
      </p:sp>
      <p:sp>
        <p:nvSpPr>
          <p:cNvPr id="28" name="文本框 27"/>
          <p:cNvSpPr txBox="1"/>
          <p:nvPr>
            <p:custDataLst>
              <p:tags r:id="rId14"/>
            </p:custDataLst>
          </p:nvPr>
        </p:nvSpPr>
        <p:spPr>
          <a:xfrm>
            <a:off x="12827000" y="1270000"/>
            <a:ext cx="3332480" cy="3476625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层次3：调用库函数执行通用的文本I/O和基于文件的I/O。 </a:t>
            </a:r>
          </a:p>
          <a:p>
            <a:pPr marL="457200" indent="-457200">
              <a:buFontTx/>
              <a:buAutoNum type="arabicPeriod"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层次2：调用操作系统函数执行文本1/O和基于文件的I/O。 </a:t>
            </a:r>
          </a:p>
          <a:p>
            <a:pPr marL="457200" indent="-457200">
              <a:buFontTx/>
              <a:buAutoNum type="arabicPeriod"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层次1：调用BIOS功能控制与设备相关的特性。 </a:t>
            </a:r>
          </a:p>
          <a:p>
            <a:pPr marL="457200" indent="-457200">
              <a:buFontTx/>
              <a:buAutoNum type="arabicPeriod"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层次0：在硬件层次上接收和发送数据，能够完全控制特定的设备。</a:t>
            </a:r>
          </a:p>
        </p:txBody>
      </p:sp>
      <p:grpSp>
        <p:nvGrpSpPr>
          <p:cNvPr id="26" name="组合 25"/>
          <p:cNvGrpSpPr/>
          <p:nvPr>
            <p:custDataLst>
              <p:tags r:id="rId15"/>
            </p:custDataLst>
          </p:nvPr>
        </p:nvGrpSpPr>
        <p:grpSpPr>
          <a:xfrm>
            <a:off x="12585700" y="0"/>
            <a:ext cx="3815080" cy="647700"/>
            <a:chOff x="9537700" y="0"/>
            <a:chExt cx="3815080" cy="647700"/>
          </a:xfrm>
        </p:grpSpPr>
        <p:sp>
          <p:nvSpPr>
            <p:cNvPr id="23" name="RemarkBack"/>
            <p:cNvSpPr/>
            <p:nvPr>
              <p:custDataLst>
                <p:tags r:id="rId25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RemarkBlock"/>
            <p:cNvSpPr/>
            <p:nvPr>
              <p:custDataLst>
                <p:tags r:id="rId26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RemarkTitleText"/>
            <p:cNvSpPr txBox="1"/>
            <p:nvPr>
              <p:custDataLst>
                <p:tags r:id="rId27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答案解析</a:t>
              </a:r>
            </a:p>
          </p:txBody>
        </p:sp>
      </p:grpSp>
      <p:sp>
        <p:nvSpPr>
          <p:cNvPr id="2" name="RemarkBack"/>
          <p:cNvSpPr/>
          <p:nvPr>
            <p:custDataLst>
              <p:tags r:id="rId16"/>
            </p:custDataLst>
          </p:nvPr>
        </p:nvSpPr>
        <p:spPr>
          <a:xfrm>
            <a:off x="12585700" y="12700"/>
            <a:ext cx="381508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markBlock"/>
          <p:cNvSpPr/>
          <p:nvPr>
            <p:custDataLst>
              <p:tags r:id="rId17"/>
            </p:custDataLst>
          </p:nvPr>
        </p:nvSpPr>
        <p:spPr>
          <a:xfrm>
            <a:off x="12585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markTitleText"/>
          <p:cNvSpPr txBox="1"/>
          <p:nvPr>
            <p:custDataLst>
              <p:tags r:id="rId18"/>
            </p:custDataLst>
          </p:nvPr>
        </p:nvSpPr>
        <p:spPr>
          <a:xfrm>
            <a:off x="12827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答案解析</a:t>
            </a:r>
          </a:p>
        </p:txBody>
      </p:sp>
      <p:grpSp>
        <p:nvGrpSpPr>
          <p:cNvPr id="20" name="组合 19"/>
          <p:cNvGrpSpPr/>
          <p:nvPr>
            <p:custDataLst>
              <p:tags r:id="rId19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21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22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23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</a:p>
          </p:txBody>
        </p:sp>
        <p:sp>
          <p:nvSpPr>
            <p:cNvPr id="19" name="TipText"/>
            <p:cNvSpPr txBox="1"/>
            <p:nvPr>
              <p:custDataLst>
                <p:tags r:id="rId24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5" name="图片 4"/>
          <p:cNvPicPr/>
          <p:nvPr>
            <p:custDataLst>
              <p:tags r:id="rId20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本章知识点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计算机体系结构</a:t>
            </a:r>
            <a:endParaRPr lang="en-US" altLang="zh-CN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</a:rPr>
              <a:t>IA-32</a:t>
            </a:r>
            <a:r>
              <a:rPr lang="zh-CN" altLang="en-US" dirty="0">
                <a:latin typeface="宋体" panose="02010600030101010101" pitchFamily="2" charset="-122"/>
              </a:rPr>
              <a:t>处理器体系结构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</a:rPr>
              <a:t>IA-32</a:t>
            </a:r>
            <a:r>
              <a:rPr lang="zh-CN" altLang="en-US" dirty="0">
                <a:latin typeface="宋体" panose="02010600030101010101" pitchFamily="2" charset="-122"/>
              </a:rPr>
              <a:t>的内存管理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IA-32微机的构成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输入输出系统</a:t>
            </a:r>
          </a:p>
        </p:txBody>
      </p:sp>
    </p:spTree>
    <p:extLst>
      <p:ext uri="{BB962C8B-B14F-4D97-AF65-F5344CB8AC3E}">
        <p14:creationId xmlns:p14="http://schemas.microsoft.com/office/powerpoint/2010/main" val="19020200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 dirty="0">
                <a:solidFill>
                  <a:srgbClr val="7030A0"/>
                </a:solidFill>
              </a:rPr>
              <a:t>2</a:t>
            </a:r>
            <a:r>
              <a:rPr lang="zh-CN" altLang="en-US" sz="3600" b="1" dirty="0">
                <a:solidFill>
                  <a:srgbClr val="7030A0"/>
                </a:solidFill>
              </a:rPr>
              <a:t>章 </a:t>
            </a:r>
            <a:r>
              <a:rPr lang="en-US" altLang="zh-CN" sz="3600" b="1" dirty="0">
                <a:solidFill>
                  <a:srgbClr val="7030A0"/>
                </a:solidFill>
              </a:rPr>
              <a:t>IA-32</a:t>
            </a:r>
            <a:r>
              <a:rPr lang="zh-CN" altLang="en-US" sz="3600" b="1" dirty="0">
                <a:solidFill>
                  <a:srgbClr val="7030A0"/>
                </a:solidFill>
              </a:rPr>
              <a:t>处理器体系结构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/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</a:t>
            </a:r>
            <a:r>
              <a:rPr lang="en-US" altLang="zh-CN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ctr" defTabSz="914400"/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zwang@nankai.edu.cn</a:t>
            </a:r>
          </a:p>
        </p:txBody>
      </p:sp>
      <p:sp>
        <p:nvSpPr>
          <p:cNvPr id="4" name="Title 1"/>
          <p:cNvSpPr txBox="1"/>
          <p:nvPr/>
        </p:nvSpPr>
        <p:spPr bwMode="auto">
          <a:xfrm>
            <a:off x="0" y="5179843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810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NhZjYzODU1YzY4YWJjYzJkZTA2ZTMxYWE3OWZhYT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如果A大于B，A减B，不等于0，所以ZF为0，不产生进位或者借位，所以CF为0"/>
  <p:tag name="PROBLEMSCORE" val="10.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EIP指令指针寄存器，存储下一条要执行CPU指令的内存地址"/>
  <p:tag name="PROBLEMSCORE" val="10.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HASREMARK" val="True"/>
  <p:tag name="PROBLEMSCORE" val="10.0"/>
  <p:tag name="PROBLEMREMARK" val="EFLAGS是标志寄存器&#10;EIP是指令指针寄存器&#10;FS是段寄存器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SCORE" val="10.0"/>
  <p:tag name="PROBLEMREMARK" val="从页目录中读取页表地址&#10;从页表地址读取页的地址&#10;从页中读取内存数据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SCORE" val="10.0"/>
  <p:tag name="PROBLEMREMARK" val="从页目录中读取页表地址&#10;从页表地址读取页的地址&#10;从页中读取内存数据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SCORE" val="10.0"/>
  <p:tag name="PROBLEMREMARK" val="层次3：调用库函数执行通用的文本I/O和基于文件的I/O。 &#10;层次2：调用操作系统函数执行文本1/O和基于文件的I/O。 &#10;层次1：调用BIOS功能控制与设备相关的特性。 &#10;层次0：在硬件层次上接收和发送数据，能够完全控制特定的设备。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1_400TGp_globalcity_light_ani">
  <a:themeElements>
    <a:clrScheme name="400TGp_globalcity_light_ani 3">
      <a:dk1>
        <a:srgbClr val="080808"/>
      </a:dk1>
      <a:lt1>
        <a:srgbClr val="FFFFFF"/>
      </a:lt1>
      <a:dk2>
        <a:srgbClr val="A59A55"/>
      </a:dk2>
      <a:lt2>
        <a:srgbClr val="DDDDDD"/>
      </a:lt2>
      <a:accent1>
        <a:srgbClr val="4AB1E4"/>
      </a:accent1>
      <a:accent2>
        <a:srgbClr val="8F038F"/>
      </a:accent2>
      <a:accent3>
        <a:srgbClr val="FFFFFF"/>
      </a:accent3>
      <a:accent4>
        <a:srgbClr val="060606"/>
      </a:accent4>
      <a:accent5>
        <a:srgbClr val="B1D5EF"/>
      </a:accent5>
      <a:accent6>
        <a:srgbClr val="810281"/>
      </a:accent6>
      <a:hlink>
        <a:srgbClr val="F77A1D"/>
      </a:hlink>
      <a:folHlink>
        <a:srgbClr val="5BBE4E"/>
      </a:folHlink>
    </a:clrScheme>
    <a:fontScheme name="400TGp_globalcity_light_an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400TGp_globalcity_light_ani 1">
        <a:dk1>
          <a:srgbClr val="5F5F5F"/>
        </a:dk1>
        <a:lt1>
          <a:srgbClr val="FFFFFF"/>
        </a:lt1>
        <a:dk2>
          <a:srgbClr val="C36609"/>
        </a:dk2>
        <a:lt2>
          <a:srgbClr val="DDDDDD"/>
        </a:lt2>
        <a:accent1>
          <a:srgbClr val="D2B94E"/>
        </a:accent1>
        <a:accent2>
          <a:srgbClr val="2395B9"/>
        </a:accent2>
        <a:accent3>
          <a:srgbClr val="FFFFFF"/>
        </a:accent3>
        <a:accent4>
          <a:srgbClr val="505050"/>
        </a:accent4>
        <a:accent5>
          <a:srgbClr val="E5D9B2"/>
        </a:accent5>
        <a:accent6>
          <a:srgbClr val="1F87A7"/>
        </a:accent6>
        <a:hlink>
          <a:srgbClr val="5C984E"/>
        </a:hlink>
        <a:folHlink>
          <a:srgbClr val="B5C77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00TGp_globalcity_light_ani 2">
        <a:dk1>
          <a:srgbClr val="5F5F5F"/>
        </a:dk1>
        <a:lt1>
          <a:srgbClr val="FFFFFF"/>
        </a:lt1>
        <a:dk2>
          <a:srgbClr val="9FC591"/>
        </a:dk2>
        <a:lt2>
          <a:srgbClr val="DDDDDD"/>
        </a:lt2>
        <a:accent1>
          <a:srgbClr val="7B82B7"/>
        </a:accent1>
        <a:accent2>
          <a:srgbClr val="8D337C"/>
        </a:accent2>
        <a:accent3>
          <a:srgbClr val="FFFFFF"/>
        </a:accent3>
        <a:accent4>
          <a:srgbClr val="505050"/>
        </a:accent4>
        <a:accent5>
          <a:srgbClr val="BFC1D8"/>
        </a:accent5>
        <a:accent6>
          <a:srgbClr val="7F2D70"/>
        </a:accent6>
        <a:hlink>
          <a:srgbClr val="CC87E1"/>
        </a:hlink>
        <a:folHlink>
          <a:srgbClr val="76C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00TGp_globalcity_light_ani 3">
        <a:dk1>
          <a:srgbClr val="080808"/>
        </a:dk1>
        <a:lt1>
          <a:srgbClr val="FFFFFF"/>
        </a:lt1>
        <a:dk2>
          <a:srgbClr val="A59A55"/>
        </a:dk2>
        <a:lt2>
          <a:srgbClr val="DDDDDD"/>
        </a:lt2>
        <a:accent1>
          <a:srgbClr val="4AB1E4"/>
        </a:accent1>
        <a:accent2>
          <a:srgbClr val="8F038F"/>
        </a:accent2>
        <a:accent3>
          <a:srgbClr val="FFFFFF"/>
        </a:accent3>
        <a:accent4>
          <a:srgbClr val="060606"/>
        </a:accent4>
        <a:accent5>
          <a:srgbClr val="B1D5EF"/>
        </a:accent5>
        <a:accent6>
          <a:srgbClr val="810281"/>
        </a:accent6>
        <a:hlink>
          <a:srgbClr val="F77A1D"/>
        </a:hlink>
        <a:folHlink>
          <a:srgbClr val="5BBE4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400TGp_globalcity_light_ani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2914</Words>
  <Application>Microsoft Office PowerPoint</Application>
  <PresentationFormat>宽屏</PresentationFormat>
  <Paragraphs>368</Paragraphs>
  <Slides>61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2" baseType="lpstr">
      <vt:lpstr>DengXian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1_400TGp_globalcity_light_ani</vt:lpstr>
      <vt:lpstr>2_400TGp_globalcity_light_ani</vt:lpstr>
      <vt:lpstr>Microsoft Visio Drawing</vt:lpstr>
      <vt:lpstr>汇编语言与逆向技术 第2章 IA-32处理器体系结构</vt:lpstr>
      <vt:lpstr>本章知识点</vt:lpstr>
      <vt:lpstr>计算机体系结构</vt:lpstr>
      <vt:lpstr>计算机基本概念</vt:lpstr>
      <vt:lpstr>计算机基本结构</vt:lpstr>
      <vt:lpstr>计算机基本结构</vt:lpstr>
      <vt:lpstr>CPU</vt:lpstr>
      <vt:lpstr>CPU时钟</vt:lpstr>
      <vt:lpstr>内存存储单元</vt:lpstr>
      <vt:lpstr>总线（bus）</vt:lpstr>
      <vt:lpstr>PowerPoint 演示文稿</vt:lpstr>
      <vt:lpstr>指令执行周期</vt:lpstr>
      <vt:lpstr>PowerPoint 演示文稿</vt:lpstr>
      <vt:lpstr>PowerPoint 演示文稿</vt:lpstr>
      <vt:lpstr>PowerPoint 演示文稿</vt:lpstr>
      <vt:lpstr>IA-32处理器体系结构</vt:lpstr>
      <vt:lpstr>IA-32处理器体系结构</vt:lpstr>
      <vt:lpstr>工作模式</vt:lpstr>
      <vt:lpstr>实地址模式</vt:lpstr>
      <vt:lpstr>保护模式</vt:lpstr>
      <vt:lpstr>地址空间</vt:lpstr>
      <vt:lpstr>PowerPoint 演示文稿</vt:lpstr>
      <vt:lpstr>寄存器（Register）</vt:lpstr>
      <vt:lpstr>通用寄存器 8个32位通用寄存器 EAX EBX ECX EDX ESP EBP ESI EDI</vt:lpstr>
      <vt:lpstr>段寄存器</vt:lpstr>
      <vt:lpstr>EFLAGS寄存器</vt:lpstr>
      <vt:lpstr>零标志</vt:lpstr>
      <vt:lpstr>进位标志</vt:lpstr>
      <vt:lpstr>溢出标志</vt:lpstr>
      <vt:lpstr>符号标志</vt:lpstr>
      <vt:lpstr>奇偶标志</vt:lpstr>
      <vt:lpstr>辅助进位标志</vt:lpstr>
      <vt:lpstr>控制标志</vt:lpstr>
      <vt:lpstr>系统标志</vt:lpstr>
      <vt:lpstr>PowerPoint 演示文稿</vt:lpstr>
      <vt:lpstr>指令指针</vt:lpstr>
      <vt:lpstr>PowerPoint 演示文稿</vt:lpstr>
      <vt:lpstr>PowerPoint 演示文稿</vt:lpstr>
      <vt:lpstr>IA-32内存管理</vt:lpstr>
      <vt:lpstr>IA-32内存管理</vt:lpstr>
      <vt:lpstr>保护模式</vt:lpstr>
      <vt:lpstr>段管理</vt:lpstr>
      <vt:lpstr>段管理</vt:lpstr>
      <vt:lpstr>平坦分段模式（全局描述）</vt:lpstr>
      <vt:lpstr>PowerPoint 演示文稿</vt:lpstr>
      <vt:lpstr>分页机制（虚拟内存）</vt:lpstr>
      <vt:lpstr>分页机制</vt:lpstr>
      <vt:lpstr>PowerPoint 演示文稿</vt:lpstr>
      <vt:lpstr>PowerPoint 演示文稿</vt:lpstr>
      <vt:lpstr>IA-32微机的构成</vt:lpstr>
      <vt:lpstr>主板</vt:lpstr>
      <vt:lpstr>视频输出</vt:lpstr>
      <vt:lpstr>存储器</vt:lpstr>
      <vt:lpstr>输入输出接口</vt:lpstr>
      <vt:lpstr>PowerPoint 演示文稿</vt:lpstr>
      <vt:lpstr>输入输出系统</vt:lpstr>
      <vt:lpstr>应用程序访问层次</vt:lpstr>
      <vt:lpstr>访问层次编程</vt:lpstr>
      <vt:lpstr>PowerPoint 演示文稿</vt:lpstr>
      <vt:lpstr>本章知识点</vt:lpstr>
      <vt:lpstr>汇编语言与逆向技术 第2章 IA-32处理器体系结构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汇编与逆向技术基础  第2章 IA-32处理器体系结构</dc:title>
  <dc:creator>zwang</dc:creator>
  <cp:lastModifiedBy>志 王</cp:lastModifiedBy>
  <cp:revision>304</cp:revision>
  <dcterms:created xsi:type="dcterms:W3CDTF">2020-03-01T14:18:00Z</dcterms:created>
  <dcterms:modified xsi:type="dcterms:W3CDTF">2026-01-04T09:10:34Z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6F65C8DCC53845209F59674FFF58E48B_12</vt:lpwstr>
  </property>
  <property fmtid="{D5CDD505-2E9C-101B-9397-08002B2CF9AE}" pid="3" name="KSOProductBuildVer">
    <vt:lpwstr>2052-12.1.0.17857</vt:lpwstr>
  </property>
</Properties>
</file>