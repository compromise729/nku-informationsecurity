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22" r:id="rId2"/>
  </p:sldMasterIdLst>
  <p:notesMasterIdLst>
    <p:notesMasterId r:id="rId83"/>
  </p:notesMasterIdLst>
  <p:sldIdLst>
    <p:sldId id="831" r:id="rId3"/>
    <p:sldId id="356" r:id="rId4"/>
    <p:sldId id="542" r:id="rId5"/>
    <p:sldId id="543" r:id="rId6"/>
    <p:sldId id="544" r:id="rId7"/>
    <p:sldId id="545" r:id="rId8"/>
    <p:sldId id="546" r:id="rId9"/>
    <p:sldId id="547" r:id="rId10"/>
    <p:sldId id="549" r:id="rId11"/>
    <p:sldId id="548" r:id="rId12"/>
    <p:sldId id="266" r:id="rId13"/>
    <p:sldId id="480" r:id="rId14"/>
    <p:sldId id="481" r:id="rId15"/>
    <p:sldId id="482" r:id="rId16"/>
    <p:sldId id="483" r:id="rId17"/>
    <p:sldId id="484" r:id="rId18"/>
    <p:sldId id="486" r:id="rId19"/>
    <p:sldId id="487" r:id="rId20"/>
    <p:sldId id="488" r:id="rId21"/>
    <p:sldId id="489" r:id="rId22"/>
    <p:sldId id="490" r:id="rId23"/>
    <p:sldId id="491" r:id="rId24"/>
    <p:sldId id="492" r:id="rId25"/>
    <p:sldId id="493" r:id="rId26"/>
    <p:sldId id="494" r:id="rId27"/>
    <p:sldId id="505" r:id="rId28"/>
    <p:sldId id="496" r:id="rId29"/>
    <p:sldId id="497" r:id="rId30"/>
    <p:sldId id="498" r:id="rId31"/>
    <p:sldId id="539" r:id="rId32"/>
    <p:sldId id="499" r:id="rId33"/>
    <p:sldId id="507" r:id="rId34"/>
    <p:sldId id="500" r:id="rId35"/>
    <p:sldId id="501" r:id="rId36"/>
    <p:sldId id="541" r:id="rId37"/>
    <p:sldId id="502" r:id="rId38"/>
    <p:sldId id="503" r:id="rId39"/>
    <p:sldId id="504" r:id="rId40"/>
    <p:sldId id="495" r:id="rId41"/>
    <p:sldId id="538" r:id="rId42"/>
    <p:sldId id="537" r:id="rId43"/>
    <p:sldId id="506" r:id="rId44"/>
    <p:sldId id="477" r:id="rId45"/>
    <p:sldId id="508" r:id="rId46"/>
    <p:sldId id="509" r:id="rId47"/>
    <p:sldId id="510" r:id="rId48"/>
    <p:sldId id="511" r:id="rId49"/>
    <p:sldId id="512" r:id="rId50"/>
    <p:sldId id="515" r:id="rId51"/>
    <p:sldId id="513" r:id="rId52"/>
    <p:sldId id="514" r:id="rId53"/>
    <p:sldId id="550" r:id="rId54"/>
    <p:sldId id="551" r:id="rId55"/>
    <p:sldId id="552" r:id="rId56"/>
    <p:sldId id="553" r:id="rId57"/>
    <p:sldId id="516" r:id="rId58"/>
    <p:sldId id="479" r:id="rId59"/>
    <p:sldId id="517" r:id="rId60"/>
    <p:sldId id="518" r:id="rId61"/>
    <p:sldId id="519" r:id="rId62"/>
    <p:sldId id="520" r:id="rId63"/>
    <p:sldId id="521" r:id="rId64"/>
    <p:sldId id="522" r:id="rId65"/>
    <p:sldId id="523" r:id="rId66"/>
    <p:sldId id="524" r:id="rId67"/>
    <p:sldId id="554" r:id="rId68"/>
    <p:sldId id="476" r:id="rId69"/>
    <p:sldId id="526" r:id="rId70"/>
    <p:sldId id="527" r:id="rId71"/>
    <p:sldId id="528" r:id="rId72"/>
    <p:sldId id="529" r:id="rId73"/>
    <p:sldId id="530" r:id="rId74"/>
    <p:sldId id="531" r:id="rId75"/>
    <p:sldId id="532" r:id="rId76"/>
    <p:sldId id="533" r:id="rId77"/>
    <p:sldId id="534" r:id="rId78"/>
    <p:sldId id="536" r:id="rId79"/>
    <p:sldId id="535" r:id="rId80"/>
    <p:sldId id="540" r:id="rId81"/>
    <p:sldId id="832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42" autoAdjust="0"/>
    <p:restoredTop sz="80607" autoAdjust="0"/>
  </p:normalViewPr>
  <p:slideViewPr>
    <p:cSldViewPr snapToGrid="0" snapToObjects="1">
      <p:cViewPr varScale="1">
        <p:scale>
          <a:sx n="77" d="100"/>
          <a:sy n="77" d="100"/>
        </p:scale>
        <p:origin x="210" y="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77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9638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80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466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427493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Font typeface="Wingdings" charset="2"/>
              <a:buChar char="l"/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50000"/>
              </a:lnSpc>
              <a:buFont typeface="Wingdings" charset="2"/>
              <a:buChar char="l"/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150000"/>
              </a:lnSpc>
              <a:buFont typeface="Wingdings" charset="2"/>
              <a:buChar char="l"/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lnSpc>
                <a:spcPct val="150000"/>
              </a:lnSpc>
              <a:buFont typeface="Wingdings" charset="2"/>
              <a:buChar char="l"/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lnSpc>
                <a:spcPct val="150000"/>
              </a:lnSpc>
              <a:buFont typeface="Wingdings" charset="2"/>
              <a:buChar char="l"/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21689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78290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5774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62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0151" y="981076"/>
            <a:ext cx="9793816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4918" y="1989139"/>
            <a:ext cx="10587567" cy="409257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709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423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665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1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598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51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3762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32" descr="7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 descr="6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Rectangle 17"/>
          <p:cNvSpPr>
            <a:spLocks noChangeArrowheads="1"/>
          </p:cNvSpPr>
          <p:nvPr/>
        </p:nvSpPr>
        <p:spPr bwMode="gray">
          <a:xfrm>
            <a:off x="0" y="5638800"/>
            <a:ext cx="12192000" cy="1219200"/>
          </a:xfrm>
          <a:prstGeom prst="rect">
            <a:avLst/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3366FF">
                  <a:alpha val="60001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918" y="1989139"/>
            <a:ext cx="10587567" cy="409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1"/>
            <a:r>
              <a:rPr lang="zh-CN" altLang="en-US" dirty="0"/>
              <a:t>第三级</a:t>
            </a:r>
          </a:p>
          <a:p>
            <a:pPr lvl="2"/>
            <a:r>
              <a:rPr lang="zh-CN" altLang="en-US" dirty="0"/>
              <a:t>第四级</a:t>
            </a:r>
          </a:p>
          <a:p>
            <a:pPr lvl="3"/>
            <a:r>
              <a:rPr lang="zh-CN" altLang="en-US" dirty="0"/>
              <a:t>第五级</a:t>
            </a:r>
          </a:p>
        </p:txBody>
      </p:sp>
      <p:sp>
        <p:nvSpPr>
          <p:cNvPr id="1048" name="Rectangle 24"/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00151" y="981076"/>
            <a:ext cx="9793816" cy="86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pic>
        <p:nvPicPr>
          <p:cNvPr id="1053" name="Picture 29" descr="artplus_nature_naturalcity42_f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21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5" r:id="rId4"/>
    <p:sldLayoutId id="2147483716" r:id="rId5"/>
    <p:sldLayoutId id="2147483721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</p:bldLst>
  </p:timing>
  <p:txStyles>
    <p:titleStyle>
      <a:lvl1pPr algn="ctr" rtl="0" fontAlgn="base">
        <a:spcBef>
          <a:spcPct val="0"/>
        </a:spcBef>
        <a:spcAft>
          <a:spcPct val="0"/>
        </a:spcAft>
        <a:defRPr sz="4200" b="1" i="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charset="2"/>
        <a:buBlip>
          <a:blip r:embed="rId12"/>
        </a:buBlip>
        <a:defRPr sz="32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chemeClr val="tx2"/>
        </a:buClr>
        <a:buFont typeface="Wingdings" charset="2"/>
        <a:buBlip>
          <a:blip r:embed="rId12"/>
        </a:buBlip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Blip>
          <a:blip r:embed="rId12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Blip>
          <a:blip r:embed="rId12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Blip>
          <a:blip r:embed="rId13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2" descr="7">
            <a:extLst>
              <a:ext uri="{FF2B5EF4-FFF2-40B4-BE49-F238E27FC236}">
                <a16:creationId xmlns:a16="http://schemas.microsoft.com/office/drawing/2014/main" id="{CEBDDB6E-2A21-4381-855B-B3337AFD08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>
            <a:extLst>
              <a:ext uri="{FF2B5EF4-FFF2-40B4-BE49-F238E27FC236}">
                <a16:creationId xmlns:a16="http://schemas.microsoft.com/office/drawing/2014/main" id="{20AD60AE-866A-4FEF-82B1-A3B1BAC457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>
            <a:extLst>
              <a:ext uri="{FF2B5EF4-FFF2-40B4-BE49-F238E27FC236}">
                <a16:creationId xmlns:a16="http://schemas.microsoft.com/office/drawing/2014/main" id="{688ED48B-362A-451A-94A5-D0DD8D39A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>
            <a:extLst>
              <a:ext uri="{FF2B5EF4-FFF2-40B4-BE49-F238E27FC236}">
                <a16:creationId xmlns:a16="http://schemas.microsoft.com/office/drawing/2014/main" id="{B9DD5507-0B0D-4CCC-AFCE-B1D6749C7878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>
            <a:extLst>
              <a:ext uri="{FF2B5EF4-FFF2-40B4-BE49-F238E27FC236}">
                <a16:creationId xmlns:a16="http://schemas.microsoft.com/office/drawing/2014/main" id="{FEF1C948-9BF0-4CFD-89C0-CCA51DBF70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51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8" r:id="rId4"/>
    <p:sldLayoutId id="2147483729" r:id="rId5"/>
    <p:sldLayoutId id="2147483734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3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image" Target="../media/image13.tmp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image" Target="../media/image13.tmp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slideLayout" Target="../slideLayouts/slideLayout11.xml"/><Relationship Id="rId5" Type="http://schemas.openxmlformats.org/officeDocument/2006/relationships/tags" Target="../tags/tag28.xml"/><Relationship Id="rId10" Type="http://schemas.openxmlformats.org/officeDocument/2006/relationships/tags" Target="../tags/tag33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image" Target="../media/image13.tmp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image" Target="../media/image13.tmp"/><Relationship Id="rId10" Type="http://schemas.openxmlformats.org/officeDocument/2006/relationships/tags" Target="../tags/tag56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tags" Target="../tags/tag72.xml"/><Relationship Id="rId18" Type="http://schemas.openxmlformats.org/officeDocument/2006/relationships/tags" Target="../tags/tag77.xml"/><Relationship Id="rId3" Type="http://schemas.openxmlformats.org/officeDocument/2006/relationships/tags" Target="../tags/tag62.xml"/><Relationship Id="rId21" Type="http://schemas.openxmlformats.org/officeDocument/2006/relationships/image" Target="../media/image13.tmp"/><Relationship Id="rId7" Type="http://schemas.openxmlformats.org/officeDocument/2006/relationships/tags" Target="../tags/tag66.xml"/><Relationship Id="rId12" Type="http://schemas.openxmlformats.org/officeDocument/2006/relationships/tags" Target="../tags/tag71.xml"/><Relationship Id="rId17" Type="http://schemas.openxmlformats.org/officeDocument/2006/relationships/tags" Target="../tags/tag76.xml"/><Relationship Id="rId2" Type="http://schemas.openxmlformats.org/officeDocument/2006/relationships/tags" Target="../tags/tag61.xml"/><Relationship Id="rId16" Type="http://schemas.openxmlformats.org/officeDocument/2006/relationships/tags" Target="../tags/tag75.xml"/><Relationship Id="rId20" Type="http://schemas.openxmlformats.org/officeDocument/2006/relationships/slideLayout" Target="../slideLayouts/slideLayout1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tags" Target="../tags/tag70.xml"/><Relationship Id="rId5" Type="http://schemas.openxmlformats.org/officeDocument/2006/relationships/tags" Target="../tags/tag64.xml"/><Relationship Id="rId15" Type="http://schemas.openxmlformats.org/officeDocument/2006/relationships/tags" Target="../tags/tag74.xml"/><Relationship Id="rId10" Type="http://schemas.openxmlformats.org/officeDocument/2006/relationships/tags" Target="../tags/tag69.xml"/><Relationship Id="rId19" Type="http://schemas.openxmlformats.org/officeDocument/2006/relationships/tags" Target="../tags/tag78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tags" Target="../tags/tag7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tags" Target="../tags/tag91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5" Type="http://schemas.openxmlformats.org/officeDocument/2006/relationships/tags" Target="../tags/tag83.xml"/><Relationship Id="rId15" Type="http://schemas.openxmlformats.org/officeDocument/2006/relationships/image" Target="../media/image13.tmp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image" Target="../media/image13.tmp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slideLayout" Target="../slideLayouts/slideLayout11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3</a:t>
            </a:r>
            <a:r>
              <a:rPr lang="zh-CN" altLang="en-US" sz="3600" b="1" dirty="0">
                <a:solidFill>
                  <a:srgbClr val="7030A0"/>
                </a:solidFill>
              </a:rPr>
              <a:t>章 汇编语言基础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1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汇编语言的基本元素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定义数据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符号常量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汇编、链接和运行程序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57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E792A-9EA6-4161-B6F7-9E8E8591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Hello World</a:t>
            </a:r>
            <a:r>
              <a:rPr lang="zh-CN" altLang="en-US" dirty="0"/>
              <a:t>实验的问题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7E6BE2-D63A-4556-ACE8-323F7187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en-US" altLang="zh-CN" dirty="0" err="1"/>
              <a:t>cmd</a:t>
            </a:r>
            <a:r>
              <a:rPr lang="zh-CN" altLang="en-US" dirty="0"/>
              <a:t>命令行窗口</a:t>
            </a:r>
            <a:endParaRPr lang="en-US" altLang="zh-CN" dirty="0"/>
          </a:p>
          <a:p>
            <a:r>
              <a:rPr lang="zh-CN" altLang="en-US" dirty="0"/>
              <a:t>当前路径、相对路径、绝对路径</a:t>
            </a:r>
            <a:endParaRPr lang="en-US" altLang="zh-CN" dirty="0"/>
          </a:p>
          <a:p>
            <a:r>
              <a:rPr lang="zh-CN" altLang="en-US" dirty="0"/>
              <a:t>路径切换</a:t>
            </a:r>
            <a:endParaRPr lang="en-US" altLang="zh-CN" dirty="0"/>
          </a:p>
          <a:p>
            <a:r>
              <a:rPr lang="zh-CN" altLang="en-US" dirty="0"/>
              <a:t>查看目录中的文件列表</a:t>
            </a:r>
          </a:p>
        </p:txBody>
      </p:sp>
    </p:spTree>
    <p:extLst>
      <p:ext uri="{BB962C8B-B14F-4D97-AF65-F5344CB8AC3E}">
        <p14:creationId xmlns:p14="http://schemas.microsoft.com/office/powerpoint/2010/main" val="15896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7DC56-367E-475B-97AE-CA3CDECFF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en-US" altLang="zh-CN" dirty="0" err="1"/>
              <a:t>cmd</a:t>
            </a:r>
            <a:r>
              <a:rPr lang="zh-CN" altLang="en-US" dirty="0"/>
              <a:t>命令行窗口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EA662ED-DD35-4CA7-972B-FC92275FF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417" y="1965163"/>
            <a:ext cx="4306020" cy="4291522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05A814C-95BE-4BBE-B9E8-7BD7D259CAE9}"/>
              </a:ext>
            </a:extLst>
          </p:cNvPr>
          <p:cNvSpPr txBox="1">
            <a:spLocks/>
          </p:cNvSpPr>
          <p:nvPr/>
        </p:nvSpPr>
        <p:spPr bwMode="auto">
          <a:xfrm>
            <a:off x="5911321" y="1965163"/>
            <a:ext cx="5975879" cy="409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2"/>
              <a:buChar char="l"/>
              <a:defRPr sz="32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charset="2"/>
              <a:buChar char="l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zh-CN" altLang="en-US" dirty="0"/>
              <a:t>按</a:t>
            </a:r>
            <a:r>
              <a:rPr lang="en-US" altLang="zh-CN" dirty="0"/>
              <a:t>Windows</a:t>
            </a:r>
            <a:r>
              <a:rPr lang="zh-CN" altLang="en-US" dirty="0"/>
              <a:t>键</a:t>
            </a:r>
            <a:endParaRPr lang="en-US" altLang="zh-CN" dirty="0"/>
          </a:p>
          <a:p>
            <a:pPr defTabSz="914400"/>
            <a:r>
              <a:rPr lang="zh-CN" altLang="en-US" dirty="0"/>
              <a:t>输入</a:t>
            </a:r>
            <a:r>
              <a:rPr lang="en-US" altLang="zh-CN" dirty="0" err="1"/>
              <a:t>cmd</a:t>
            </a:r>
            <a:endParaRPr lang="en-US" altLang="zh-CN" dirty="0"/>
          </a:p>
          <a:p>
            <a:pPr defTabSz="914400"/>
            <a:r>
              <a:rPr lang="zh-CN" altLang="en-US" dirty="0"/>
              <a:t>最佳匹配里面</a:t>
            </a:r>
            <a:endParaRPr lang="en-US" altLang="zh-CN" dirty="0"/>
          </a:p>
          <a:p>
            <a:pPr lvl="1" defTabSz="914400"/>
            <a:r>
              <a:rPr lang="zh-CN" altLang="en-US" dirty="0"/>
              <a:t>“命令提示符”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590A0F5-C56D-4364-A683-4FE2963E19A5}"/>
              </a:ext>
            </a:extLst>
          </p:cNvPr>
          <p:cNvSpPr/>
          <p:nvPr/>
        </p:nvSpPr>
        <p:spPr>
          <a:xfrm>
            <a:off x="1341564" y="5903622"/>
            <a:ext cx="1101285" cy="4538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1D37F62-9816-47DC-882E-ED524503F16A}"/>
              </a:ext>
            </a:extLst>
          </p:cNvPr>
          <p:cNvSpPr/>
          <p:nvPr/>
        </p:nvSpPr>
        <p:spPr>
          <a:xfrm>
            <a:off x="1480614" y="2302686"/>
            <a:ext cx="1382726" cy="71416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224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F7D08-E784-4C88-9C85-413CFD49D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当前路径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A49341-A97F-4CFB-BFC7-96C833344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获得当前路径</a:t>
            </a:r>
            <a:endParaRPr lang="en-US" altLang="zh-CN" dirty="0"/>
          </a:p>
          <a:p>
            <a:pPr lvl="1"/>
            <a:r>
              <a:rPr lang="en-US" altLang="zh-CN" dirty="0"/>
              <a:t>cd</a:t>
            </a:r>
            <a:r>
              <a:rPr lang="zh-CN" altLang="en-US" dirty="0"/>
              <a:t>命令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8ED3D6-6223-40E0-B820-4EC819848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784" y="2145732"/>
            <a:ext cx="4191000" cy="2085975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F5FA89C8-111B-4E41-8519-B12582DE9944}"/>
              </a:ext>
            </a:extLst>
          </p:cNvPr>
          <p:cNvSpPr/>
          <p:nvPr/>
        </p:nvSpPr>
        <p:spPr>
          <a:xfrm>
            <a:off x="8191499" y="2320579"/>
            <a:ext cx="1101285" cy="4538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17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9CEB9-F162-462D-A971-A6AF79A22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绝对路径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8F7A38-C604-417C-BAB1-14A95B64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以盘符开始的路径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例如“</a:t>
            </a:r>
            <a:r>
              <a:rPr lang="en-US" altLang="zh-CN" dirty="0"/>
              <a:t>C:\Users\nkamg\Desktop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盘进入到</a:t>
            </a:r>
            <a:r>
              <a:rPr lang="en-US" altLang="zh-CN" dirty="0"/>
              <a:t>D</a:t>
            </a:r>
            <a:r>
              <a:rPr lang="zh-CN" altLang="en-US" dirty="0"/>
              <a:t>盘</a:t>
            </a:r>
            <a:endParaRPr lang="en-US" altLang="zh-CN" dirty="0"/>
          </a:p>
          <a:p>
            <a:pPr lvl="1"/>
            <a:r>
              <a:rPr lang="en-US" altLang="zh-CN" dirty="0"/>
              <a:t>d</a:t>
            </a:r>
            <a:r>
              <a:rPr lang="zh-CN" altLang="en-US" dirty="0"/>
              <a:t>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B7329C-ACA5-450C-893D-8A64773AC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038" y="2376721"/>
            <a:ext cx="5142286" cy="2302070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E966B9B1-7845-4747-9DA4-35602C0EB0B6}"/>
              </a:ext>
            </a:extLst>
          </p:cNvPr>
          <p:cNvSpPr/>
          <p:nvPr/>
        </p:nvSpPr>
        <p:spPr>
          <a:xfrm>
            <a:off x="9832612" y="2620930"/>
            <a:ext cx="1347096" cy="7162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31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F4F07-0BD9-43C4-838C-D1E6DBA0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CC2483-C0F5-4A7F-9242-471F87180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相对于当前的路径</a:t>
            </a:r>
            <a:endParaRPr lang="en-US" altLang="zh-CN" dirty="0"/>
          </a:p>
          <a:p>
            <a:r>
              <a:rPr lang="en-US" altLang="zh-CN" dirty="0"/>
              <a:t>“.” </a:t>
            </a:r>
            <a:r>
              <a:rPr lang="zh-CN" altLang="en-US" dirty="0"/>
              <a:t>表示的是当前路径</a:t>
            </a:r>
            <a:endParaRPr lang="en-US" altLang="zh-CN" dirty="0"/>
          </a:p>
          <a:p>
            <a:r>
              <a:rPr lang="en-US" altLang="zh-CN" dirty="0"/>
              <a:t>“..”</a:t>
            </a:r>
            <a:r>
              <a:rPr lang="zh-CN" altLang="en-US" dirty="0"/>
              <a:t>表示的是上一级路径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507D06-53EC-4B92-AC24-1DACEA660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099" y="2185744"/>
            <a:ext cx="4467225" cy="2019300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FFD96799-0186-40C7-8227-9A350A96E9DA}"/>
              </a:ext>
            </a:extLst>
          </p:cNvPr>
          <p:cNvSpPr/>
          <p:nvPr/>
        </p:nvSpPr>
        <p:spPr>
          <a:xfrm>
            <a:off x="9832612" y="2837246"/>
            <a:ext cx="1347096" cy="7162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51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DB1FA-F751-4919-9F03-434BBF7D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查看目录中的文件列表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7D285-A547-488C-BD56-A0F104CC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dir</a:t>
            </a:r>
            <a:r>
              <a:rPr lang="zh-CN" altLang="en-US" dirty="0"/>
              <a:t>命令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6A6602-7552-4C2E-BA20-43582921E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785" y="2180282"/>
            <a:ext cx="9034215" cy="412122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DEB7E595-F1A7-49AF-A3BC-907B96520066}"/>
              </a:ext>
            </a:extLst>
          </p:cNvPr>
          <p:cNvSpPr/>
          <p:nvPr/>
        </p:nvSpPr>
        <p:spPr>
          <a:xfrm>
            <a:off x="2904530" y="2530221"/>
            <a:ext cx="1347096" cy="7162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91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A780419-7E80-4348-B0A6-6DBD72CEFFA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2489" y="1591483"/>
            <a:ext cx="9753600" cy="341733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“\masm32\bin\ml /c /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Zd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/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coff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hello_console.asm”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\masm32\bin\ml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是一个相对地址还是绝对地址？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如何判断当前文件夹中是否有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hello_console.asm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文件？</a:t>
            </a:r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E63F672-A551-4B6B-8402-AFC401C4C00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68C6A7-18A7-4743-AB6F-AAB78EA618A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3F58270-44BB-4EB8-979B-07AA74A0D3E4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B0F6EA82-4109-4B09-AA1E-F7D0942D471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9F4B2A17-7959-4048-85D3-8FCD395B45C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98687089-4A18-43A5-87C0-F0F358E436C8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DD0DFDFC-4565-4998-B3D5-8D76000CC047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9AD7C80-8D0C-43E0-879A-0F57C9FE4F45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3272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B2F9F-AAC9-4E13-B367-1EC85303D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遇到的路径问题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D7DDC-0A9A-49B6-A187-7101C8BDF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918" y="1688788"/>
            <a:ext cx="10587567" cy="4745384"/>
          </a:xfrm>
        </p:spPr>
        <p:txBody>
          <a:bodyPr/>
          <a:lstStyle/>
          <a:p>
            <a:r>
              <a:rPr lang="zh-CN" altLang="en-US" dirty="0"/>
              <a:t>相对路径错误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\masm32\bin\ml </a:t>
            </a:r>
            <a:r>
              <a:rPr lang="en-US" altLang="zh-CN" dirty="0"/>
              <a:t>/c /</a:t>
            </a:r>
            <a:r>
              <a:rPr lang="en-US" altLang="zh-CN" dirty="0" err="1"/>
              <a:t>Zd</a:t>
            </a:r>
            <a:r>
              <a:rPr lang="en-US" altLang="zh-CN" dirty="0"/>
              <a:t> /</a:t>
            </a:r>
            <a:r>
              <a:rPr lang="en-US" altLang="zh-CN" dirty="0" err="1"/>
              <a:t>coff</a:t>
            </a:r>
            <a:r>
              <a:rPr lang="en-US" altLang="zh-CN" dirty="0"/>
              <a:t> hello_console.asm</a:t>
            </a:r>
          </a:p>
          <a:p>
            <a:r>
              <a:rPr lang="zh-CN" altLang="en-US" dirty="0"/>
              <a:t>当前路径没有需要的文件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hello_console.asm</a:t>
            </a:r>
          </a:p>
          <a:p>
            <a:r>
              <a:rPr lang="en-US" altLang="zh-CN" dirty="0" err="1"/>
              <a:t>asm</a:t>
            </a:r>
            <a:r>
              <a:rPr lang="zh-CN" altLang="en-US" dirty="0"/>
              <a:t>代码中</a:t>
            </a:r>
            <a:r>
              <a:rPr lang="en-US" altLang="zh-CN" dirty="0"/>
              <a:t>include</a:t>
            </a:r>
            <a:r>
              <a:rPr lang="zh-CN" altLang="en-US" dirty="0"/>
              <a:t>、</a:t>
            </a:r>
            <a:r>
              <a:rPr lang="en-US" altLang="zh-CN" dirty="0" err="1"/>
              <a:t>includelib</a:t>
            </a:r>
            <a:r>
              <a:rPr lang="zh-CN" altLang="en-US" dirty="0"/>
              <a:t>路径问题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include</a:t>
            </a:r>
            <a:r>
              <a:rPr lang="en-US" altLang="zh-CN" dirty="0"/>
              <a:t> \masm32\include\windows.inc </a:t>
            </a:r>
            <a:endParaRPr lang="zh-CN" altLang="zh-CN" dirty="0"/>
          </a:p>
          <a:p>
            <a:pPr lvl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305435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汇编语言的基本元素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76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F4774-0413-47FF-807C-324A34ED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汇编语言的基本元素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985916-8CD5-4E9F-ADEF-0FE87D80A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整数常量、整数表达式</a:t>
            </a:r>
            <a:endParaRPr lang="en-US" altLang="zh-CN" dirty="0"/>
          </a:p>
          <a:p>
            <a:r>
              <a:rPr lang="zh-CN" altLang="en-US" dirty="0"/>
              <a:t>实数常量</a:t>
            </a:r>
            <a:endParaRPr lang="en-US" altLang="zh-CN" dirty="0"/>
          </a:p>
          <a:p>
            <a:r>
              <a:rPr lang="zh-CN" altLang="en-US" dirty="0"/>
              <a:t>字符常量、字符串常量</a:t>
            </a:r>
            <a:endParaRPr lang="en-US" altLang="zh-CN" dirty="0"/>
          </a:p>
          <a:p>
            <a:r>
              <a:rPr lang="zh-CN" altLang="en-US" dirty="0"/>
              <a:t>保留字、标识符</a:t>
            </a:r>
            <a:endParaRPr lang="en-US" altLang="zh-CN" dirty="0"/>
          </a:p>
          <a:p>
            <a:r>
              <a:rPr lang="zh-CN" altLang="en-US" dirty="0"/>
              <a:t>指令、伪指令、</a:t>
            </a:r>
            <a:r>
              <a:rPr lang="en-US" altLang="zh-CN" dirty="0"/>
              <a:t>NOP</a:t>
            </a:r>
            <a:r>
              <a:rPr lang="zh-CN" altLang="en-US" dirty="0"/>
              <a:t>指令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113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97C5D-665B-47FA-B63F-676BD9D7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整数常量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C998D6-3DCD-4736-9DEC-6419A5FF3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[{+|-}]</a:t>
            </a:r>
            <a:r>
              <a:rPr lang="zh-CN" altLang="en-US" dirty="0"/>
              <a:t>数字</a:t>
            </a:r>
            <a:r>
              <a:rPr lang="en-US" altLang="zh-CN" dirty="0"/>
              <a:t>[</a:t>
            </a:r>
            <a:r>
              <a:rPr lang="zh-CN" altLang="en-US" dirty="0"/>
              <a:t>基数</a:t>
            </a:r>
            <a:r>
              <a:rPr lang="en-US" altLang="zh-CN" dirty="0"/>
              <a:t>]</a:t>
            </a:r>
          </a:p>
          <a:p>
            <a:r>
              <a:rPr lang="zh-CN" altLang="en-US" dirty="0"/>
              <a:t>基数</a:t>
            </a:r>
            <a:r>
              <a:rPr lang="zh-CN" altLang="en-US" dirty="0">
                <a:solidFill>
                  <a:srgbClr val="FF0000"/>
                </a:solidFill>
              </a:rPr>
              <a:t>后缀</a:t>
            </a:r>
            <a:r>
              <a:rPr lang="zh-CN" altLang="en-US" dirty="0"/>
              <a:t>（</a:t>
            </a:r>
            <a:r>
              <a:rPr lang="en-US" altLang="zh-CN" dirty="0"/>
              <a:t>Radix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h</a:t>
            </a:r>
            <a:r>
              <a:rPr lang="zh-CN" altLang="en-US" dirty="0"/>
              <a:t>十六进制、</a:t>
            </a:r>
            <a:r>
              <a:rPr lang="en-US" altLang="zh-CN" dirty="0"/>
              <a:t>q/o</a:t>
            </a:r>
            <a:r>
              <a:rPr lang="zh-CN" altLang="en-US" dirty="0"/>
              <a:t>八进制、</a:t>
            </a:r>
            <a:r>
              <a:rPr lang="en-US" altLang="zh-CN" dirty="0"/>
              <a:t>d</a:t>
            </a:r>
            <a:r>
              <a:rPr lang="zh-CN" altLang="en-US" dirty="0"/>
              <a:t>十进制、</a:t>
            </a:r>
            <a:r>
              <a:rPr lang="en-US" altLang="zh-CN" dirty="0"/>
              <a:t>b</a:t>
            </a:r>
            <a:r>
              <a:rPr lang="zh-CN" altLang="en-US" dirty="0"/>
              <a:t>二进制</a:t>
            </a:r>
            <a:endParaRPr lang="en-US" altLang="zh-CN" dirty="0"/>
          </a:p>
          <a:p>
            <a:r>
              <a:rPr lang="en-US" altLang="zh-CN" dirty="0"/>
              <a:t>r</a:t>
            </a:r>
            <a:r>
              <a:rPr lang="zh-CN" altLang="en-US" dirty="0"/>
              <a:t>编码实数</a:t>
            </a:r>
          </a:p>
        </p:txBody>
      </p:sp>
    </p:spTree>
    <p:extLst>
      <p:ext uri="{BB962C8B-B14F-4D97-AF65-F5344CB8AC3E}">
        <p14:creationId xmlns:p14="http://schemas.microsoft.com/office/powerpoint/2010/main" val="2219621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58A8F-9459-44D4-B18F-1D186288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整数常量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06E0D4-CC8B-414B-B87D-6D9A4D2E8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如果整数常量后面没有基数后缀，默认是十进制整数</a:t>
            </a:r>
            <a:endParaRPr lang="en-US" altLang="zh-CN" dirty="0"/>
          </a:p>
          <a:p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10d</a:t>
            </a:r>
            <a:r>
              <a:rPr lang="zh-CN" altLang="en-US" dirty="0"/>
              <a:t>、</a:t>
            </a:r>
            <a:r>
              <a:rPr lang="en-US" altLang="zh-CN" dirty="0"/>
              <a:t>10o</a:t>
            </a:r>
            <a:r>
              <a:rPr lang="zh-CN" altLang="en-US" dirty="0"/>
              <a:t>、</a:t>
            </a:r>
            <a:r>
              <a:rPr lang="en-US" altLang="zh-CN" dirty="0"/>
              <a:t>10h</a:t>
            </a:r>
            <a:r>
              <a:rPr lang="zh-CN" altLang="en-US" dirty="0"/>
              <a:t>、</a:t>
            </a:r>
            <a:r>
              <a:rPr lang="en-US" altLang="zh-CN" dirty="0"/>
              <a:t>10q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0A0h</a:t>
            </a:r>
            <a:r>
              <a:rPr lang="zh-CN" altLang="en-US" dirty="0"/>
              <a:t>，</a:t>
            </a:r>
            <a:r>
              <a:rPr lang="en-US" altLang="zh-CN" dirty="0"/>
              <a:t>10b</a:t>
            </a:r>
          </a:p>
          <a:p>
            <a:r>
              <a:rPr lang="zh-CN" altLang="en-US" dirty="0">
                <a:highlight>
                  <a:srgbClr val="FFFF00"/>
                </a:highlight>
              </a:rPr>
              <a:t>以字母开头的十六进制常量前面必须加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0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32208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8C0A607-E884-46D7-A12A-18A9A3744AB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FFh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是有效的整数常量吗？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49B6C9-49EF-4D0E-9D43-4CC7196D9E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301A4A-C3B4-4C10-BA3E-C302ADCB2A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A63309E-AFDC-4D99-AA6B-47F833C4708A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9A90F57-965E-4774-A93E-9FCCE0323D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1479080-E274-47D2-B036-1CF7D07DB55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C0C8FAA-3AF0-4AC7-A04A-1224D2AF1BA3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FD2E5AC-5A12-4502-A6C6-5B865C4DC7E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8166D915-005A-44BB-BA09-D0FD902B5A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D2D9FF99-1DB1-4FD2-A083-843C3541724C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60FA6F14-E284-4D4D-B385-20B8776A79C6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07462D0-BE6B-44A1-8DCB-46F1AE01D083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4356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02444-DCBC-4A95-834F-E7E85318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AF9036-A2F8-494E-AE68-371616E88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包含整数值和算数</a:t>
            </a:r>
            <a:r>
              <a:rPr lang="zh-CN" altLang="en-US" dirty="0">
                <a:solidFill>
                  <a:srgbClr val="FF0000"/>
                </a:solidFill>
              </a:rPr>
              <a:t>运算符</a:t>
            </a:r>
            <a:r>
              <a:rPr lang="zh-CN" altLang="en-US" dirty="0"/>
              <a:t>的数学表达式</a:t>
            </a:r>
            <a:endParaRPr lang="en-US" altLang="zh-CN" dirty="0"/>
          </a:p>
          <a:p>
            <a:r>
              <a:rPr lang="zh-CN" altLang="en-US" dirty="0"/>
              <a:t>表达式的结果不能超过</a:t>
            </a:r>
            <a:r>
              <a:rPr lang="en-US" altLang="zh-CN" dirty="0"/>
              <a:t>32bits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表示范围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MOD</a:t>
            </a:r>
            <a:r>
              <a:rPr lang="zh-CN" altLang="en-US" dirty="0"/>
              <a:t>：取余数运算</a:t>
            </a:r>
          </a:p>
        </p:txBody>
      </p:sp>
    </p:spTree>
    <p:extLst>
      <p:ext uri="{BB962C8B-B14F-4D97-AF65-F5344CB8AC3E}">
        <p14:creationId xmlns:p14="http://schemas.microsoft.com/office/powerpoint/2010/main" val="3496777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B83CD-EA17-4182-B231-7A363879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C9030D-76AF-44B9-8C7D-866EBF730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算术运算符的</a:t>
            </a:r>
            <a:r>
              <a:rPr lang="zh-CN" altLang="en-US" dirty="0">
                <a:solidFill>
                  <a:srgbClr val="FF0000"/>
                </a:solidFill>
              </a:rPr>
              <a:t>优先级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（）优先级</a:t>
            </a:r>
            <a:r>
              <a:rPr lang="en-US" altLang="zh-CN" dirty="0">
                <a:highlight>
                  <a:srgbClr val="FFFF00"/>
                </a:highlight>
              </a:rPr>
              <a:t>1</a:t>
            </a:r>
          </a:p>
          <a:p>
            <a:r>
              <a:rPr lang="zh-CN" altLang="en-US" dirty="0"/>
              <a:t>*、</a:t>
            </a:r>
            <a:r>
              <a:rPr lang="en-US" altLang="zh-CN" dirty="0"/>
              <a:t>/</a:t>
            </a:r>
            <a:r>
              <a:rPr lang="zh-CN" altLang="en-US" dirty="0"/>
              <a:t>、</a:t>
            </a:r>
            <a:r>
              <a:rPr lang="en-US" altLang="zh-CN" dirty="0"/>
              <a:t>MOD</a:t>
            </a:r>
            <a:r>
              <a:rPr lang="zh-CN" altLang="en-US" dirty="0"/>
              <a:t>，乘、除、取余，优先级</a:t>
            </a:r>
            <a:r>
              <a:rPr lang="en-US" altLang="zh-CN" dirty="0">
                <a:highlight>
                  <a:srgbClr val="FFFF00"/>
                </a:highlight>
              </a:rPr>
              <a:t>2</a:t>
            </a:r>
          </a:p>
          <a:p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-</a:t>
            </a:r>
            <a:r>
              <a:rPr lang="zh-CN" altLang="en-US" dirty="0"/>
              <a:t>，加减，优先级</a:t>
            </a:r>
            <a:r>
              <a:rPr lang="en-US" altLang="zh-CN" dirty="0">
                <a:highlight>
                  <a:srgbClr val="FFFF00"/>
                </a:highlight>
              </a:rPr>
              <a:t>3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7477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979F3AD-2905-444B-8303-35E36056ABF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表达式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12 - 2 MOD 5 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的计算结果是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0679A4F-D05B-4505-B8A1-81B129608D5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1FF6C7-5F78-44AE-93A3-DE77C333BB3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141EF6A-A3F2-41DF-9A72-35A80432AFC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13E05DBE-292E-4E32-A58C-C9839FD08F6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73798880-D833-4423-9177-2C53E8AC81D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3979193F-94D2-4885-8823-8E03074CD2A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5C866505-05B8-4E9A-86CE-D7910FDCCAFB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75E3017-FAEF-4C59-8516-AF4EF0AD7237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576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E3876-11C8-4B30-8AAC-AB4AE19F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实数常量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FFC8B3-A882-4CF0-AD93-2FEA022D5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十进制实数</a:t>
            </a:r>
            <a:endParaRPr lang="en-US" altLang="zh-CN" dirty="0"/>
          </a:p>
          <a:p>
            <a:r>
              <a:rPr lang="zh-CN" altLang="en-US" dirty="0"/>
              <a:t>编码（十六进制）实数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5514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21E3D-F602-4C86-8A3F-B04F911D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十进制实数常量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D014ED-0FB6-4FCB-818F-9C0D711AB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-1.11E-5</a:t>
            </a:r>
            <a:r>
              <a:rPr lang="zh-CN" altLang="en-US" dirty="0"/>
              <a:t>、</a:t>
            </a:r>
            <a:r>
              <a:rPr lang="en-US" altLang="zh-CN" dirty="0"/>
              <a:t>2.</a:t>
            </a:r>
            <a:r>
              <a:rPr lang="zh-CN" altLang="en-US" dirty="0"/>
              <a:t>、</a:t>
            </a:r>
            <a:r>
              <a:rPr lang="en-US" altLang="zh-CN" dirty="0"/>
              <a:t>+3.0</a:t>
            </a:r>
            <a:r>
              <a:rPr lang="zh-CN" altLang="en-US" dirty="0"/>
              <a:t>、</a:t>
            </a:r>
            <a:r>
              <a:rPr lang="en-US" altLang="zh-CN" dirty="0"/>
              <a:t>2.E5</a:t>
            </a:r>
          </a:p>
          <a:p>
            <a:r>
              <a:rPr lang="zh-CN" altLang="en-US" dirty="0"/>
              <a:t>十进制实数常量由</a:t>
            </a:r>
            <a:r>
              <a:rPr lang="zh-CN" altLang="en-US" dirty="0">
                <a:highlight>
                  <a:srgbClr val="FFFF00"/>
                </a:highlight>
              </a:rPr>
              <a:t>符号</a:t>
            </a:r>
            <a:r>
              <a:rPr lang="en-US" altLang="zh-CN" dirty="0"/>
              <a:t>sign</a:t>
            </a:r>
            <a:r>
              <a:rPr lang="zh-CN" altLang="en-US" dirty="0"/>
              <a:t>、</a:t>
            </a:r>
            <a:r>
              <a:rPr lang="zh-CN" altLang="en-US" dirty="0">
                <a:highlight>
                  <a:srgbClr val="FFFF00"/>
                </a:highlight>
              </a:rPr>
              <a:t>整数</a:t>
            </a:r>
            <a:r>
              <a:rPr lang="zh-CN" altLang="en-US" dirty="0"/>
              <a:t>、</a:t>
            </a:r>
            <a:r>
              <a:rPr lang="zh-CN" altLang="en-US" dirty="0">
                <a:highlight>
                  <a:srgbClr val="FFFF00"/>
                </a:highlight>
              </a:rPr>
              <a:t>小数点</a:t>
            </a:r>
            <a:r>
              <a:rPr lang="zh-CN" altLang="en-US" dirty="0"/>
              <a:t>、</a:t>
            </a:r>
            <a:r>
              <a:rPr lang="zh-CN" altLang="en-US" dirty="0">
                <a:highlight>
                  <a:srgbClr val="FFFF00"/>
                </a:highlight>
              </a:rPr>
              <a:t>小数</a:t>
            </a:r>
            <a:r>
              <a:rPr lang="zh-CN" altLang="en-US" dirty="0"/>
              <a:t>和</a:t>
            </a:r>
            <a:r>
              <a:rPr lang="zh-CN" altLang="en-US" dirty="0">
                <a:highlight>
                  <a:srgbClr val="FFFF00"/>
                </a:highlight>
              </a:rPr>
              <a:t>指数</a:t>
            </a:r>
            <a:r>
              <a:rPr lang="zh-CN" altLang="en-US" dirty="0"/>
              <a:t>组成</a:t>
            </a:r>
            <a:endParaRPr lang="en-US" altLang="zh-CN" dirty="0"/>
          </a:p>
          <a:p>
            <a:r>
              <a:rPr lang="en-US" altLang="zh-CN" dirty="0"/>
              <a:t>[sign]</a:t>
            </a:r>
            <a:r>
              <a:rPr lang="en-US" altLang="zh-CN" dirty="0">
                <a:solidFill>
                  <a:srgbClr val="FF0000"/>
                </a:solidFill>
              </a:rPr>
              <a:t>integer.</a:t>
            </a:r>
            <a:r>
              <a:rPr lang="en-US" altLang="zh-CN" dirty="0"/>
              <a:t>[integer][exponent]</a:t>
            </a:r>
          </a:p>
          <a:p>
            <a:r>
              <a:rPr lang="zh-CN" altLang="en-US" dirty="0"/>
              <a:t>至少要有</a:t>
            </a:r>
            <a:r>
              <a:rPr lang="zh-CN" altLang="en-US" dirty="0">
                <a:solidFill>
                  <a:srgbClr val="FF0000"/>
                </a:solidFill>
              </a:rPr>
              <a:t>一个数字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一个小数点</a:t>
            </a:r>
          </a:p>
        </p:txBody>
      </p:sp>
    </p:spTree>
    <p:extLst>
      <p:ext uri="{BB962C8B-B14F-4D97-AF65-F5344CB8AC3E}">
        <p14:creationId xmlns:p14="http://schemas.microsoft.com/office/powerpoint/2010/main" val="2410200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151395-B524-42C1-B404-82E02E0FB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编码实数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3F643-0163-403D-AE0B-2C0AED22D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编码实数是以十六进制数表示一个实数，遵循</a:t>
            </a:r>
            <a:r>
              <a:rPr lang="en-US" altLang="zh-CN" dirty="0">
                <a:solidFill>
                  <a:srgbClr val="FF0000"/>
                </a:solidFill>
              </a:rPr>
              <a:t>IEEE</a:t>
            </a:r>
            <a:r>
              <a:rPr lang="zh-CN" altLang="en-US" dirty="0">
                <a:solidFill>
                  <a:srgbClr val="FF0000"/>
                </a:solidFill>
              </a:rPr>
              <a:t>浮点数格式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《Intel</a:t>
            </a:r>
            <a:r>
              <a:rPr lang="zh-CN" altLang="en-US" dirty="0"/>
              <a:t>汇编语言程序设计</a:t>
            </a:r>
            <a:r>
              <a:rPr lang="en-US" altLang="zh-CN" dirty="0"/>
              <a:t>》</a:t>
            </a:r>
            <a:r>
              <a:rPr lang="zh-CN" altLang="en-US" dirty="0"/>
              <a:t>第五版，第</a:t>
            </a:r>
            <a:r>
              <a:rPr lang="en-US" altLang="zh-CN" dirty="0"/>
              <a:t>17</a:t>
            </a:r>
            <a:r>
              <a:rPr lang="zh-CN" altLang="en-US" dirty="0"/>
              <a:t>章“浮点处理和指令编码”</a:t>
            </a:r>
          </a:p>
        </p:txBody>
      </p:sp>
    </p:spTree>
    <p:extLst>
      <p:ext uri="{BB962C8B-B14F-4D97-AF65-F5344CB8AC3E}">
        <p14:creationId xmlns:p14="http://schemas.microsoft.com/office/powerpoint/2010/main" val="2168353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22FFF-FE95-4F69-A2F4-3D0F4AB9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字符常量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18AFF-B470-4F13-BCFB-C00F591D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单引号</a:t>
            </a:r>
            <a:r>
              <a:rPr lang="zh-CN" altLang="en-US" dirty="0"/>
              <a:t>或者</a:t>
            </a:r>
            <a:r>
              <a:rPr lang="zh-CN" altLang="en-US" dirty="0">
                <a:solidFill>
                  <a:srgbClr val="FF0000"/>
                </a:solidFill>
              </a:rPr>
              <a:t>双引号</a:t>
            </a:r>
            <a:r>
              <a:rPr lang="zh-CN" altLang="en-US" dirty="0"/>
              <a:t>括起来的单个字符。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汇编器会将其转化为</a:t>
            </a:r>
            <a:r>
              <a:rPr lang="en-US" altLang="zh-CN" dirty="0"/>
              <a:t>ASCII</a:t>
            </a:r>
            <a:r>
              <a:rPr lang="zh-CN" altLang="en-US" dirty="0"/>
              <a:t>编码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‘A’</a:t>
            </a:r>
            <a:r>
              <a:rPr lang="zh-CN" altLang="en-US" dirty="0"/>
              <a:t>、“</a:t>
            </a:r>
            <a:r>
              <a:rPr lang="en-US" altLang="zh-CN" dirty="0"/>
              <a:t>B”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7579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E8A02-3803-4C43-B62F-1D529454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字符串常量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E25AF-5F2D-490B-87CE-9191699E9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zh-CN" altLang="en-US" dirty="0">
                <a:solidFill>
                  <a:srgbClr val="FF0000"/>
                </a:solidFill>
              </a:rPr>
              <a:t>单引号</a:t>
            </a:r>
            <a:r>
              <a:rPr lang="zh-CN" altLang="en-US" dirty="0"/>
              <a:t>或者</a:t>
            </a:r>
            <a:r>
              <a:rPr lang="zh-CN" altLang="en-US" dirty="0">
                <a:solidFill>
                  <a:srgbClr val="FF0000"/>
                </a:solidFill>
              </a:rPr>
              <a:t>双引号</a:t>
            </a:r>
            <a:r>
              <a:rPr lang="zh-CN" altLang="en-US" dirty="0"/>
              <a:t>括起来的一串字符</a:t>
            </a:r>
            <a:endParaRPr lang="en-US" altLang="zh-CN" dirty="0"/>
          </a:p>
          <a:p>
            <a:r>
              <a:rPr lang="en-US" altLang="zh-CN" dirty="0"/>
              <a:t>‘ABC’</a:t>
            </a:r>
            <a:r>
              <a:rPr lang="zh-CN" altLang="en-US" dirty="0"/>
              <a:t>、“</a:t>
            </a:r>
            <a:r>
              <a:rPr lang="en-US" altLang="zh-CN" dirty="0" err="1"/>
              <a:t>abc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/>
              <a:t>嵌套引号</a:t>
            </a:r>
            <a:endParaRPr lang="en-US" altLang="zh-CN" dirty="0"/>
          </a:p>
          <a:p>
            <a:r>
              <a:rPr lang="en-US" altLang="zh-CN" dirty="0">
                <a:highlight>
                  <a:srgbClr val="FFFF00"/>
                </a:highlight>
              </a:rPr>
              <a:t>“</a:t>
            </a:r>
            <a:r>
              <a:rPr lang="en-US" altLang="zh-CN" dirty="0"/>
              <a:t>print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FFFF00"/>
                </a:highlight>
              </a:rPr>
              <a:t>‘</a:t>
            </a:r>
            <a:r>
              <a:rPr lang="en-US" altLang="zh-CN" dirty="0"/>
              <a:t>Hello</a:t>
            </a:r>
            <a:r>
              <a:rPr lang="zh-CN" altLang="en-US" dirty="0"/>
              <a:t> </a:t>
            </a:r>
            <a:r>
              <a:rPr lang="en-US" altLang="zh-CN" dirty="0"/>
              <a:t>World</a:t>
            </a:r>
            <a:r>
              <a:rPr lang="en-US" altLang="zh-CN" dirty="0">
                <a:highlight>
                  <a:srgbClr val="FFFF00"/>
                </a:highlight>
              </a:rPr>
              <a:t>’ </a:t>
            </a:r>
            <a:r>
              <a:rPr lang="en-US" altLang="zh-CN" dirty="0"/>
              <a:t>on the terminal window</a:t>
            </a:r>
            <a:r>
              <a:rPr lang="en-US" altLang="zh-CN" dirty="0">
                <a:highlight>
                  <a:srgbClr val="FFFF00"/>
                </a:highlight>
              </a:rPr>
              <a:t>”</a:t>
            </a:r>
          </a:p>
          <a:p>
            <a:r>
              <a:rPr lang="en-US" altLang="zh-CN" dirty="0">
                <a:highlight>
                  <a:srgbClr val="FFFF00"/>
                </a:highlight>
              </a:rPr>
              <a:t>‘</a:t>
            </a:r>
            <a:r>
              <a:rPr lang="en-US" altLang="zh-CN" dirty="0"/>
              <a:t>print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FFFF00"/>
                </a:highlight>
              </a:rPr>
              <a:t>“</a:t>
            </a:r>
            <a:r>
              <a:rPr lang="en-US" altLang="zh-CN" dirty="0"/>
              <a:t>Hello</a:t>
            </a:r>
            <a:r>
              <a:rPr lang="zh-CN" altLang="en-US" dirty="0"/>
              <a:t> </a:t>
            </a:r>
            <a:r>
              <a:rPr lang="en-US" altLang="zh-CN" dirty="0"/>
              <a:t>World</a:t>
            </a:r>
            <a:r>
              <a:rPr lang="en-US" altLang="zh-CN" dirty="0">
                <a:highlight>
                  <a:srgbClr val="FFFF00"/>
                </a:highlight>
              </a:rPr>
              <a:t>” </a:t>
            </a:r>
            <a:r>
              <a:rPr lang="en-US" altLang="zh-CN" dirty="0"/>
              <a:t>on the terminal window</a:t>
            </a:r>
            <a:r>
              <a:rPr lang="en-US" altLang="zh-CN" dirty="0">
                <a:highlight>
                  <a:srgbClr val="FFFF00"/>
                </a:highlight>
              </a:rPr>
              <a:t>’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0394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9A11E-A4BB-488E-8661-93B13D16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保留字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DED621-0646-408C-9724-58F53E8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</a:rPr>
              <a:t>指令助记符</a:t>
            </a:r>
            <a:r>
              <a:rPr lang="zh-CN" altLang="en-US" dirty="0"/>
              <a:t>：</a:t>
            </a:r>
            <a:r>
              <a:rPr lang="en-US" altLang="zh-CN" dirty="0"/>
              <a:t>MOV</a:t>
            </a:r>
            <a:r>
              <a:rPr lang="zh-CN" altLang="en-US" dirty="0"/>
              <a:t>、</a:t>
            </a:r>
            <a:r>
              <a:rPr lang="en-US" altLang="zh-CN" dirty="0"/>
              <a:t>ADD</a:t>
            </a:r>
          </a:p>
          <a:p>
            <a:r>
              <a:rPr lang="zh-CN" altLang="en-US" dirty="0">
                <a:highlight>
                  <a:srgbClr val="FFFF00"/>
                </a:highlight>
              </a:rPr>
              <a:t>伪指令</a:t>
            </a:r>
            <a:r>
              <a:rPr lang="zh-CN" altLang="en-US" dirty="0"/>
              <a:t>：</a:t>
            </a:r>
            <a:r>
              <a:rPr lang="en-US" altLang="zh-CN" dirty="0"/>
              <a:t>INCLUDE</a:t>
            </a:r>
            <a:r>
              <a:rPr lang="zh-CN" altLang="en-US" dirty="0"/>
              <a:t>、</a:t>
            </a:r>
            <a:r>
              <a:rPr lang="en-US" altLang="zh-CN" dirty="0"/>
              <a:t>PROC</a:t>
            </a:r>
          </a:p>
          <a:p>
            <a:r>
              <a:rPr lang="zh-CN" altLang="en-US" dirty="0">
                <a:highlight>
                  <a:srgbClr val="FFFF00"/>
                </a:highlight>
              </a:rPr>
              <a:t>属性</a:t>
            </a:r>
            <a:r>
              <a:rPr lang="zh-CN" altLang="en-US" dirty="0"/>
              <a:t>：</a:t>
            </a:r>
            <a:r>
              <a:rPr lang="en-US" altLang="zh-CN" dirty="0"/>
              <a:t>BYTE</a:t>
            </a:r>
            <a:r>
              <a:rPr lang="zh-CN" altLang="en-US" dirty="0"/>
              <a:t>、</a:t>
            </a:r>
            <a:r>
              <a:rPr lang="en-US" altLang="zh-CN" dirty="0"/>
              <a:t>WORD</a:t>
            </a:r>
          </a:p>
          <a:p>
            <a:r>
              <a:rPr lang="zh-CN" altLang="en-US" dirty="0">
                <a:highlight>
                  <a:srgbClr val="FFFF00"/>
                </a:highlight>
              </a:rPr>
              <a:t>预定义符号</a:t>
            </a:r>
            <a:r>
              <a:rPr lang="zh-CN" altLang="en-US" dirty="0"/>
              <a:t>：</a:t>
            </a:r>
            <a:r>
              <a:rPr lang="en-US" altLang="zh-CN" dirty="0"/>
              <a:t>$</a:t>
            </a:r>
            <a:r>
              <a:rPr lang="zh-CN" altLang="en-US" dirty="0"/>
              <a:t>、？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参考</a:t>
            </a:r>
            <a:r>
              <a:rPr lang="en-US" altLang="zh-CN" dirty="0"/>
              <a:t>《Intel</a:t>
            </a:r>
            <a:r>
              <a:rPr lang="zh-CN" altLang="en-US" dirty="0"/>
              <a:t>汇编语言程序设计</a:t>
            </a:r>
            <a:r>
              <a:rPr lang="en-US" altLang="zh-CN" dirty="0"/>
              <a:t>》</a:t>
            </a:r>
            <a:r>
              <a:rPr lang="zh-CN" altLang="en-US" dirty="0"/>
              <a:t>第五版 附录</a:t>
            </a:r>
            <a:r>
              <a:rPr lang="en-US" altLang="zh-CN" dirty="0"/>
              <a:t>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4242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2FCA6-BAD5-45B2-98AB-0598BA92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标识符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95A9F-1D40-4B04-BE02-69A3E7664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889" y="1668628"/>
            <a:ext cx="9931585" cy="4092575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标识符是程序员选择用来标识变量、常量、过程、代码的标号</a:t>
            </a:r>
            <a:endParaRPr lang="en-US" altLang="zh-CN" dirty="0"/>
          </a:p>
          <a:p>
            <a:pPr lvl="1"/>
            <a:r>
              <a:rPr lang="zh-CN" altLang="en-US" dirty="0"/>
              <a:t>包含</a:t>
            </a:r>
            <a:r>
              <a:rPr lang="en-US" altLang="zh-CN" dirty="0"/>
              <a:t>1~247</a:t>
            </a:r>
            <a:r>
              <a:rPr lang="zh-CN" altLang="en-US" dirty="0"/>
              <a:t>个字符</a:t>
            </a:r>
            <a:endParaRPr lang="en-US" altLang="zh-CN" dirty="0"/>
          </a:p>
          <a:p>
            <a:pPr lvl="1"/>
            <a:r>
              <a:rPr lang="zh-CN" altLang="en-US" dirty="0">
                <a:highlight>
                  <a:srgbClr val="FFFF00"/>
                </a:highlight>
              </a:rPr>
              <a:t>大小写不敏感</a:t>
            </a:r>
            <a:r>
              <a:rPr lang="zh-CN" altLang="en-US" dirty="0"/>
              <a:t>（</a:t>
            </a:r>
            <a:r>
              <a:rPr lang="en-US" altLang="zh-CN" dirty="0"/>
              <a:t>MASM</a:t>
            </a:r>
            <a:r>
              <a:rPr lang="zh-CN" altLang="en-US" dirty="0"/>
              <a:t>默认）</a:t>
            </a:r>
            <a:endParaRPr lang="en-US" altLang="zh-CN" dirty="0"/>
          </a:p>
          <a:p>
            <a:pPr lvl="1"/>
            <a:r>
              <a:rPr lang="zh-CN" altLang="en-US" dirty="0"/>
              <a:t>第一个字符必须是字母、下划线、</a:t>
            </a:r>
            <a:r>
              <a:rPr lang="en-US" altLang="zh-CN" dirty="0"/>
              <a:t>@</a:t>
            </a:r>
            <a:r>
              <a:rPr lang="zh-CN" altLang="en-US" dirty="0"/>
              <a:t>、？或</a:t>
            </a:r>
            <a:r>
              <a:rPr lang="en-US" altLang="zh-CN" dirty="0"/>
              <a:t>$</a:t>
            </a:r>
          </a:p>
          <a:p>
            <a:pPr lvl="1"/>
            <a:r>
              <a:rPr lang="zh-CN" altLang="en-US" dirty="0">
                <a:highlight>
                  <a:srgbClr val="FFFF00"/>
                </a:highlight>
              </a:rPr>
              <a:t>第一个字符不能是数字</a:t>
            </a:r>
            <a:r>
              <a:rPr lang="zh-CN" altLang="en-US" dirty="0"/>
              <a:t>（对比十六进制整数）</a:t>
            </a:r>
            <a:endParaRPr lang="en-US" altLang="zh-CN" dirty="0"/>
          </a:p>
          <a:p>
            <a:pPr lvl="1"/>
            <a:r>
              <a:rPr lang="zh-CN" altLang="en-US" dirty="0"/>
              <a:t>标识符的名字不能与汇编器的保留字相同。</a:t>
            </a:r>
          </a:p>
        </p:txBody>
      </p:sp>
    </p:spTree>
    <p:extLst>
      <p:ext uri="{BB962C8B-B14F-4D97-AF65-F5344CB8AC3E}">
        <p14:creationId xmlns:p14="http://schemas.microsoft.com/office/powerpoint/2010/main" val="887799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E12189D-301B-4B08-BE04-BF06BD15FF1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判断题：标识符可以用数字开头。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A233A2-8913-4F73-BDB0-197D258B2D3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C14DDE-3204-43A7-BCF8-DBB41B5DB2D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D54690E-7EE1-4F9C-9E3D-CC737AB6D63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FB294EE-DB98-4314-BC08-BFD4F440440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D116B3A-E048-44F7-AD74-B82A648999F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80DECC1-443D-4F5F-90FF-5F45371B468B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38313F8F-ACDC-400E-A75C-F6466CF29D0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AE59D95-EB1E-48F8-AEBE-EC6BEA33AA02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D4F569A6-A4DC-4322-BAC7-5E04EFE71BE7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A5AE59B9-8638-4281-8E77-EDC2A77D2310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4B866E0-D84C-42EB-8D65-31E75E69B22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0381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116C3-F3C5-4E8D-BCFD-46AA43E3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CBEDEB-EE8D-46B9-BEAA-232F94EFC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汇编语言中的指令是一条汇编语句</a:t>
            </a:r>
            <a:endParaRPr lang="en-US" altLang="zh-CN" dirty="0"/>
          </a:p>
          <a:p>
            <a:r>
              <a:rPr lang="zh-CN" altLang="en-US" dirty="0"/>
              <a:t>汇编器把</a:t>
            </a:r>
            <a:r>
              <a:rPr lang="zh-CN" altLang="en-US" dirty="0">
                <a:highlight>
                  <a:srgbClr val="FFFF00"/>
                </a:highlight>
              </a:rPr>
              <a:t>汇编指令</a:t>
            </a:r>
            <a:r>
              <a:rPr lang="zh-CN" altLang="en-US" dirty="0"/>
              <a:t>翻译成对应的</a:t>
            </a:r>
            <a:r>
              <a:rPr lang="zh-CN" altLang="en-US" dirty="0">
                <a:highlight>
                  <a:srgbClr val="FFFF00"/>
                </a:highlight>
              </a:rPr>
              <a:t>机器指令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标号 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指令助记符 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操作数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注释</a:t>
            </a:r>
          </a:p>
        </p:txBody>
      </p:sp>
    </p:spTree>
    <p:extLst>
      <p:ext uri="{BB962C8B-B14F-4D97-AF65-F5344CB8AC3E}">
        <p14:creationId xmlns:p14="http://schemas.microsoft.com/office/powerpoint/2010/main" val="3132814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856A5-D5BF-49B5-91F1-54E2B7B7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84E97-2FB3-4D29-B3D9-643036725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标号是充当指令或数据</a:t>
            </a:r>
            <a:r>
              <a:rPr lang="zh-CN" altLang="en-US" dirty="0">
                <a:solidFill>
                  <a:srgbClr val="FF0000"/>
                </a:solidFill>
              </a:rPr>
              <a:t>位置标记</a:t>
            </a:r>
            <a:r>
              <a:rPr lang="zh-CN" altLang="en-US" dirty="0"/>
              <a:t>的标识符</a:t>
            </a:r>
            <a:endParaRPr lang="en-US" altLang="zh-CN" dirty="0"/>
          </a:p>
          <a:p>
            <a:r>
              <a:rPr lang="zh-CN" altLang="en-US" dirty="0"/>
              <a:t>数据</a:t>
            </a:r>
            <a:r>
              <a:rPr lang="zh-CN" altLang="en-US" dirty="0">
                <a:highlight>
                  <a:srgbClr val="FFFF00"/>
                </a:highlight>
              </a:rPr>
              <a:t>标号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zh-CN" altLang="en-US" dirty="0"/>
              <a:t>标识变量的</a:t>
            </a:r>
            <a:r>
              <a:rPr lang="zh-CN" altLang="en-US" dirty="0">
                <a:highlight>
                  <a:srgbClr val="FFFF00"/>
                </a:highlight>
              </a:rPr>
              <a:t>地址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/>
              <a:t>代码</a:t>
            </a:r>
            <a:r>
              <a:rPr lang="zh-CN" altLang="en-US" dirty="0">
                <a:highlight>
                  <a:srgbClr val="FFFF00"/>
                </a:highlight>
              </a:rPr>
              <a:t>标号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zh-CN" altLang="en-US" dirty="0"/>
              <a:t>标识代码的</a:t>
            </a:r>
            <a:r>
              <a:rPr lang="zh-CN" altLang="en-US" dirty="0">
                <a:highlight>
                  <a:srgbClr val="FFFF00"/>
                </a:highlight>
              </a:rPr>
              <a:t>地址</a:t>
            </a:r>
          </a:p>
        </p:txBody>
      </p:sp>
    </p:spTree>
    <p:extLst>
      <p:ext uri="{BB962C8B-B14F-4D97-AF65-F5344CB8AC3E}">
        <p14:creationId xmlns:p14="http://schemas.microsoft.com/office/powerpoint/2010/main" val="560815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A4DD4-EE6A-4C14-9226-96F9DC6C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BE89CC-CC57-4DCA-B78D-3D7476127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标识变量的地址，方便变量的</a:t>
            </a:r>
            <a:r>
              <a:rPr lang="zh-CN" altLang="en-US" dirty="0">
                <a:solidFill>
                  <a:srgbClr val="FF0000"/>
                </a:solidFill>
              </a:rPr>
              <a:t>引用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highlight>
                  <a:srgbClr val="FFFF00"/>
                </a:highlight>
              </a:rPr>
              <a:t>count</a:t>
            </a:r>
            <a:r>
              <a:rPr lang="en-US" altLang="zh-CN" dirty="0"/>
              <a:t> DWORD 100</a:t>
            </a:r>
          </a:p>
          <a:p>
            <a:r>
              <a:rPr lang="en-US" altLang="zh-CN" dirty="0">
                <a:highlight>
                  <a:srgbClr val="FFFF00"/>
                </a:highlight>
              </a:rPr>
              <a:t>array</a:t>
            </a:r>
            <a:r>
              <a:rPr lang="en-US" altLang="zh-CN" dirty="0"/>
              <a:t> DWORD 100, 101, 102, 103</a:t>
            </a:r>
          </a:p>
          <a:p>
            <a:r>
              <a:rPr lang="zh-CN" altLang="en-US" dirty="0"/>
              <a:t>相对</a:t>
            </a:r>
            <a:r>
              <a:rPr lang="en-US" altLang="zh-CN" dirty="0"/>
              <a:t>.data</a:t>
            </a:r>
            <a:r>
              <a:rPr lang="zh-CN" altLang="en-US" dirty="0"/>
              <a:t>数据段在内存起始地址的</a:t>
            </a:r>
            <a:r>
              <a:rPr lang="zh-CN" altLang="en-US" dirty="0">
                <a:solidFill>
                  <a:srgbClr val="FF0000"/>
                </a:solidFill>
              </a:rPr>
              <a:t>偏移</a:t>
            </a:r>
          </a:p>
        </p:txBody>
      </p:sp>
    </p:spTree>
    <p:extLst>
      <p:ext uri="{BB962C8B-B14F-4D97-AF65-F5344CB8AC3E}">
        <p14:creationId xmlns:p14="http://schemas.microsoft.com/office/powerpoint/2010/main" val="2099254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16BDC-41EF-46BF-B2BD-8C30A5B6D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OFFSET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AFC75F-D394-498A-84B7-170FF6C34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获取数据标号的</a:t>
            </a:r>
            <a:r>
              <a:rPr lang="zh-CN" altLang="en-US" dirty="0">
                <a:solidFill>
                  <a:srgbClr val="FF0000"/>
                </a:solidFill>
              </a:rPr>
              <a:t>内存偏移地址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.data</a:t>
            </a:r>
          </a:p>
          <a:p>
            <a:pPr marL="45720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str_hello</a:t>
            </a:r>
            <a:r>
              <a:rPr lang="en-US" altLang="zh-CN" dirty="0"/>
              <a:t> BYTE “Hello World</a:t>
            </a:r>
            <a:r>
              <a:rPr lang="zh-CN" altLang="en-US" dirty="0"/>
              <a:t>！</a:t>
            </a:r>
            <a:r>
              <a:rPr lang="en-US" altLang="zh-CN" dirty="0"/>
              <a:t>”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</a:p>
          <a:p>
            <a:pPr marL="457200" lvl="1" indent="0">
              <a:buNone/>
            </a:pPr>
            <a:r>
              <a:rPr lang="en-US" altLang="zh-CN" dirty="0"/>
              <a:t>.code</a:t>
            </a:r>
          </a:p>
          <a:p>
            <a:pPr marL="457200" lvl="1" indent="0">
              <a:buNone/>
            </a:pPr>
            <a:r>
              <a:rPr lang="en-US" altLang="zh-CN" dirty="0"/>
              <a:t>    mov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OFFSET</a:t>
            </a:r>
            <a:r>
              <a:rPr lang="en-US" altLang="zh-CN" dirty="0"/>
              <a:t> </a:t>
            </a:r>
            <a:r>
              <a:rPr lang="en-US" altLang="zh-CN" dirty="0" err="1"/>
              <a:t>str_hello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6826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FDC815-5F3B-4385-8BF9-AF49370B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代码标号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B1E67B-E92F-4303-B6FA-8DED85EC8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标识代码的地址，必须以冒号（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/>
              <a:t>）结尾</a:t>
            </a:r>
            <a:endParaRPr lang="en-US" altLang="zh-CN" dirty="0"/>
          </a:p>
          <a:p>
            <a:r>
              <a:rPr lang="zh-CN" altLang="en-US" dirty="0"/>
              <a:t>通常作为</a:t>
            </a:r>
            <a:r>
              <a:rPr lang="zh-CN" altLang="en-US" dirty="0">
                <a:highlight>
                  <a:srgbClr val="FFFF00"/>
                </a:highlight>
              </a:rPr>
              <a:t>跳转、循环指令的目标地址</a:t>
            </a:r>
            <a:endParaRPr lang="en-US" altLang="zh-CN" dirty="0">
              <a:highlight>
                <a:srgbClr val="FFFF00"/>
              </a:highlight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target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mov </a:t>
            </a:r>
            <a:r>
              <a:rPr lang="en-US" altLang="zh-CN" dirty="0" err="1"/>
              <a:t>eax</a:t>
            </a:r>
            <a:r>
              <a:rPr lang="zh-CN" altLang="en-US" dirty="0"/>
              <a:t>，</a:t>
            </a:r>
            <a:r>
              <a:rPr lang="en-US" altLang="zh-CN" dirty="0"/>
              <a:t>100h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…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 err="1"/>
              <a:t>jmp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target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97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C7A6E5-5A64-4B7D-A0CE-ED84FBA2634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10030" y="635001"/>
            <a:ext cx="824357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判断题：代码标号后面有冒号，数据标号后面没有冒号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AE8A4F-E52A-4B04-BA16-6C808D69D8E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69FD2F-C3CE-42B3-B683-11965BE376A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F8BE024-F566-4AEE-9DED-EA73FE87A074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9B4EC41-0498-460D-8994-2AF945EF808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4439CC9-2F8D-4A77-9D3A-13DBBC56F8D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21F819D-BEDB-41BB-8C2D-42CFB65EB22B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3ECFCD5E-2DA3-44AF-B13F-90E2B9F9BCC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830EE1CC-0C30-4C40-B9D4-6E084F009CF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588B55E2-1ECF-4BA8-A9F3-76392E1947AF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96132866-AD16-4643-841D-0C89FBE7CA96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14CC2FC-79B6-4BA9-B005-E1E4AEA201E7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0884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2259C-5F36-424A-9871-2254797D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指令助记符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0D221D-9DDF-469C-94AA-B77DD84A4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指令助记符（</a:t>
            </a:r>
            <a:r>
              <a:rPr lang="en-US" altLang="zh-CN" dirty="0"/>
              <a:t>instruction mnemonic</a:t>
            </a:r>
            <a:r>
              <a:rPr lang="zh-CN" altLang="en-US" dirty="0"/>
              <a:t>）是一个简短的单词，用于表示一条指令。</a:t>
            </a:r>
            <a:endParaRPr lang="en-US" altLang="zh-CN" dirty="0"/>
          </a:p>
          <a:p>
            <a:pPr lvl="1"/>
            <a:r>
              <a:rPr lang="en-US" altLang="zh-CN" dirty="0"/>
              <a:t>mov</a:t>
            </a:r>
            <a:r>
              <a:rPr lang="zh-CN" altLang="en-US" dirty="0"/>
              <a:t>、</a:t>
            </a:r>
            <a:r>
              <a:rPr lang="en-US" altLang="zh-CN" dirty="0"/>
              <a:t>add</a:t>
            </a:r>
            <a:r>
              <a:rPr lang="zh-CN" altLang="en-US" dirty="0"/>
              <a:t>、</a:t>
            </a:r>
            <a:r>
              <a:rPr lang="en-US" altLang="zh-CN" dirty="0"/>
              <a:t>sub</a:t>
            </a:r>
            <a:r>
              <a:rPr lang="zh-CN" altLang="en-US" dirty="0"/>
              <a:t>、</a:t>
            </a:r>
            <a:r>
              <a:rPr lang="en-US" altLang="zh-CN" dirty="0" err="1"/>
              <a:t>mul</a:t>
            </a:r>
            <a:r>
              <a:rPr lang="zh-CN" altLang="en-US" dirty="0"/>
              <a:t>、</a:t>
            </a:r>
            <a:r>
              <a:rPr lang="en-US" altLang="zh-CN" dirty="0" err="1"/>
              <a:t>jmp</a:t>
            </a:r>
            <a:r>
              <a:rPr lang="zh-CN" altLang="en-US" dirty="0"/>
              <a:t>、</a:t>
            </a:r>
            <a:r>
              <a:rPr lang="en-US" altLang="zh-CN" dirty="0"/>
              <a:t>call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5409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D73F8-F60C-48A0-9BC4-16D3137C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40A7D2-9D3F-4AE6-80E4-7D190CBF4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操作数是指令的操作对象</a:t>
            </a:r>
            <a:endParaRPr lang="en-US" altLang="zh-CN" dirty="0"/>
          </a:p>
          <a:p>
            <a:pPr lvl="1"/>
            <a:r>
              <a:rPr lang="zh-CN" altLang="en-US" dirty="0">
                <a:highlight>
                  <a:srgbClr val="FFFF00"/>
                </a:highlight>
              </a:rPr>
              <a:t>寄存器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zh-CN" altLang="en-US" dirty="0">
                <a:highlight>
                  <a:srgbClr val="FFFF00"/>
                </a:highlight>
              </a:rPr>
              <a:t>内存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zh-CN" altLang="en-US" dirty="0">
                <a:highlight>
                  <a:srgbClr val="FFFF00"/>
                </a:highlight>
              </a:rPr>
              <a:t>常量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I/O</a:t>
            </a:r>
            <a:r>
              <a:rPr lang="zh-CN" altLang="en-US" dirty="0">
                <a:highlight>
                  <a:srgbClr val="FFFF00"/>
                </a:highlight>
              </a:rPr>
              <a:t>端口</a:t>
            </a:r>
            <a:endParaRPr lang="en-US" altLang="zh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71301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BC59F7E-367C-41F8-834F-E639F97401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指令可以直接访问的操作数类型有？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E24BCF-39B5-4948-A9D5-23FA72AECD5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3AD70F-429E-453A-9521-93CD2BED9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6E020E-1293-4EA1-9A22-252D4D1F736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I/O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接口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A3812E-509A-45F6-BC0D-30B56DA73EE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硬盘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4BF214-565B-45A8-BFFA-A71A443B884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189533-7241-4533-9B24-C2253428D7C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5361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BDE3B0-126C-4CCB-9D1D-A06FA77D5FB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DD0D20-F0F9-4B9B-BB5B-32D54C7F506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49077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B09D09D-8BEE-4FC8-9C79-1783F326D77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35963B-87BD-4FE6-AC06-C537C32C3F3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352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常量（立即数）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9B94A5-0F37-4BAC-905F-D749CDA8D960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2638425" y="55935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C456B28-F486-433C-9235-F5D6DEE55197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55E77315-86FF-4E00-9A46-C31D4DD55D6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67B60984-BC1D-4C89-B14F-AADE78441BED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8B5AB44-B218-4EF3-A8F4-7736A2B33DB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9BD15592-9687-45B0-B172-528F642CA913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BC8D31A-1882-406B-B6BB-1272AB348045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88892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6988F-59D4-4A63-A053-5783D83D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E12FE7-3F84-410D-ACC8-57D84D5F4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inc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eax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 err="1"/>
              <a:t>eax</a:t>
            </a:r>
            <a:r>
              <a:rPr lang="zh-CN" altLang="en-US" dirty="0"/>
              <a:t>寄存器的值加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mov </a:t>
            </a:r>
            <a:r>
              <a:rPr lang="en-US" altLang="zh-CN" dirty="0">
                <a:solidFill>
                  <a:srgbClr val="FF0000"/>
                </a:solidFill>
              </a:rPr>
              <a:t>count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rgbClr val="FF0000"/>
                </a:solidFill>
              </a:rPr>
              <a:t>ebx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mov</a:t>
            </a:r>
            <a:r>
              <a:rPr lang="zh-CN" altLang="en-US" dirty="0"/>
              <a:t>指令有两个操作数：</a:t>
            </a:r>
            <a:r>
              <a:rPr lang="en-US" altLang="zh-CN" dirty="0">
                <a:solidFill>
                  <a:srgbClr val="FF0000"/>
                </a:solidFill>
              </a:rPr>
              <a:t>count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ebx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第一个操作数是目的操作数</a:t>
            </a:r>
            <a:endParaRPr lang="en-US" altLang="zh-CN" dirty="0"/>
          </a:p>
          <a:p>
            <a:pPr lvl="1"/>
            <a:r>
              <a:rPr lang="zh-CN" altLang="en-US" dirty="0"/>
              <a:t>第二个操作数是源操作数</a:t>
            </a:r>
          </a:p>
        </p:txBody>
      </p:sp>
    </p:spTree>
    <p:extLst>
      <p:ext uri="{BB962C8B-B14F-4D97-AF65-F5344CB8AC3E}">
        <p14:creationId xmlns:p14="http://schemas.microsoft.com/office/powerpoint/2010/main" val="29026815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EBEFCE-72DC-4AF4-9C09-0E2DA0A00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50408A-70CD-44C1-8D48-36D31E3BF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单行注释</a:t>
            </a:r>
            <a:endParaRPr lang="en-US" altLang="zh-CN" dirty="0"/>
          </a:p>
          <a:p>
            <a:pPr lvl="1"/>
            <a:r>
              <a:rPr lang="en-US" altLang="zh-CN" dirty="0"/>
              <a:t>mov count</a:t>
            </a:r>
            <a:r>
              <a:rPr lang="zh-CN" altLang="en-US" dirty="0"/>
              <a:t>，</a:t>
            </a:r>
            <a:r>
              <a:rPr lang="en-US" altLang="zh-CN" dirty="0" err="1"/>
              <a:t>ebx</a:t>
            </a:r>
            <a:r>
              <a:rPr lang="zh-CN" altLang="en-US" dirty="0">
                <a:solidFill>
                  <a:srgbClr val="FF0000"/>
                </a:solidFill>
              </a:rPr>
              <a:t>；</a:t>
            </a:r>
            <a:r>
              <a:rPr lang="en-US" altLang="zh-CN" dirty="0">
                <a:solidFill>
                  <a:srgbClr val="FF0000"/>
                </a:solidFill>
              </a:rPr>
              <a:t>save result to count</a:t>
            </a:r>
          </a:p>
          <a:p>
            <a:r>
              <a:rPr lang="zh-CN" altLang="en-US" dirty="0"/>
              <a:t>块注释</a:t>
            </a:r>
            <a:r>
              <a:rPr lang="en-US" altLang="zh-CN" dirty="0"/>
              <a:t>: COMMENT</a:t>
            </a:r>
            <a:r>
              <a:rPr lang="zh-CN" altLang="en-US" dirty="0"/>
              <a:t>伪指令和用户定义的符号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COMMENT </a:t>
            </a:r>
            <a:r>
              <a:rPr lang="zh-CN" altLang="en-US" dirty="0">
                <a:solidFill>
                  <a:srgbClr val="FF0000"/>
                </a:solidFill>
              </a:rPr>
              <a:t>！</a:t>
            </a:r>
            <a:endParaRPr lang="en-US" altLang="zh-CN" dirty="0">
              <a:solidFill>
                <a:srgbClr val="FF0000"/>
              </a:solidFill>
            </a:endParaRP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This is a comment</a:t>
            </a:r>
          </a:p>
          <a:p>
            <a:pPr marL="5143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!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36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9A945-33FF-4000-B3DA-D87C21030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212A59-11C0-4E5B-80A0-4036874BD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NOP</a:t>
            </a:r>
            <a:r>
              <a:rPr lang="zh-CN" altLang="en-US" dirty="0"/>
              <a:t>指令，空操作</a:t>
            </a:r>
            <a:endParaRPr lang="en-US" altLang="zh-CN" dirty="0"/>
          </a:p>
          <a:p>
            <a:pPr lvl="1"/>
            <a:r>
              <a:rPr lang="zh-CN" altLang="en-US" dirty="0"/>
              <a:t>用于</a:t>
            </a:r>
            <a:r>
              <a:rPr lang="zh-CN" altLang="en-US" dirty="0">
                <a:solidFill>
                  <a:srgbClr val="FF0000"/>
                </a:solidFill>
              </a:rPr>
              <a:t>计时</a:t>
            </a:r>
            <a:r>
              <a:rPr lang="zh-CN" altLang="en-US" dirty="0"/>
              <a:t>循环</a:t>
            </a:r>
            <a:endParaRPr lang="en-US" altLang="zh-CN" dirty="0"/>
          </a:p>
          <a:p>
            <a:r>
              <a:rPr lang="en-US" altLang="zh-CN" dirty="0"/>
              <a:t>NOP</a:t>
            </a:r>
            <a:r>
              <a:rPr lang="zh-CN" altLang="en-US" dirty="0"/>
              <a:t>指令占用</a:t>
            </a:r>
            <a:r>
              <a:rPr lang="en-US" altLang="zh-CN" dirty="0"/>
              <a:t>1</a:t>
            </a:r>
            <a:r>
              <a:rPr lang="zh-CN" altLang="en-US" dirty="0"/>
              <a:t>个字节的内存</a:t>
            </a:r>
            <a:endParaRPr lang="en-US" altLang="zh-CN" dirty="0"/>
          </a:p>
          <a:p>
            <a:pPr lvl="1"/>
            <a:r>
              <a:rPr lang="zh-CN" altLang="en-US" dirty="0"/>
              <a:t>用于后继指令的</a:t>
            </a:r>
            <a:r>
              <a:rPr lang="zh-CN" altLang="en-US" dirty="0">
                <a:solidFill>
                  <a:srgbClr val="FF0000"/>
                </a:solidFill>
              </a:rPr>
              <a:t>对齐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IA-32</a:t>
            </a:r>
            <a:r>
              <a:rPr lang="zh-CN" altLang="en-US" dirty="0"/>
              <a:t>处理器从偶数双字地址处加载代码和数据时更加快速</a:t>
            </a:r>
          </a:p>
        </p:txBody>
      </p:sp>
    </p:spTree>
    <p:extLst>
      <p:ext uri="{BB962C8B-B14F-4D97-AF65-F5344CB8AC3E}">
        <p14:creationId xmlns:p14="http://schemas.microsoft.com/office/powerpoint/2010/main" val="1976885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FB20B-AAB8-417C-B1E4-E9D4B84BF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5FB08A-C234-4222-932A-5065A0EF8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伪指令内嵌在汇编语言</a:t>
            </a:r>
            <a:r>
              <a:rPr lang="zh-CN" altLang="en-US" dirty="0">
                <a:solidFill>
                  <a:srgbClr val="FF0000"/>
                </a:solidFill>
              </a:rPr>
              <a:t>源代码</a:t>
            </a:r>
            <a:r>
              <a:rPr lang="zh-CN" altLang="en-US" dirty="0"/>
              <a:t>中，由</a:t>
            </a:r>
            <a:r>
              <a:rPr lang="zh-CN" altLang="en-US" dirty="0">
                <a:solidFill>
                  <a:srgbClr val="FF0000"/>
                </a:solidFill>
              </a:rPr>
              <a:t>汇编器</a:t>
            </a:r>
            <a:r>
              <a:rPr lang="zh-CN" altLang="en-US" dirty="0"/>
              <a:t>识别、执行相应动作的命令</a:t>
            </a:r>
            <a:endParaRPr lang="en-US" altLang="zh-CN" dirty="0"/>
          </a:p>
          <a:p>
            <a:r>
              <a:rPr lang="zh-CN" altLang="en-US" dirty="0"/>
              <a:t>用于定义</a:t>
            </a:r>
            <a:r>
              <a:rPr lang="zh-CN" altLang="en-US" dirty="0">
                <a:highlight>
                  <a:srgbClr val="FFFF00"/>
                </a:highlight>
              </a:rPr>
              <a:t>变量、段、过程、汇编器选项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参考</a:t>
            </a:r>
            <a:r>
              <a:rPr lang="en-US" altLang="zh-CN" dirty="0"/>
              <a:t>《Intel</a:t>
            </a:r>
            <a:r>
              <a:rPr lang="zh-CN" altLang="en-US" dirty="0"/>
              <a:t>汇编语言程序设计</a:t>
            </a:r>
            <a:r>
              <a:rPr lang="en-US" altLang="zh-CN" dirty="0"/>
              <a:t>》</a:t>
            </a:r>
            <a:r>
              <a:rPr lang="zh-CN" altLang="en-US" dirty="0"/>
              <a:t>第五版，附录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 MASM</a:t>
            </a:r>
            <a:r>
              <a:rPr lang="zh-CN" altLang="en-US" dirty="0"/>
              <a:t>的伪指令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3602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FE3E9-4E61-4931-899E-38E90219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49959C-FC89-4AD2-8044-0AF763FB2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定义变量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my_var</a:t>
            </a:r>
            <a:r>
              <a:rPr lang="en-US" altLang="zh-CN" dirty="0"/>
              <a:t> DWORD 100h</a:t>
            </a:r>
            <a:r>
              <a:rPr lang="zh-CN" altLang="en-US" dirty="0"/>
              <a:t>；</a:t>
            </a:r>
            <a:r>
              <a:rPr lang="en-US" altLang="zh-CN" dirty="0"/>
              <a:t>DWORD</a:t>
            </a:r>
            <a:r>
              <a:rPr lang="zh-CN" altLang="en-US" dirty="0">
                <a:solidFill>
                  <a:srgbClr val="FF0000"/>
                </a:solidFill>
              </a:rPr>
              <a:t>伪指令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mov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 err="1"/>
              <a:t>my_var</a:t>
            </a:r>
            <a:r>
              <a:rPr lang="en-US" altLang="zh-CN" dirty="0"/>
              <a:t> ;  mov</a:t>
            </a:r>
            <a:r>
              <a:rPr lang="zh-CN" altLang="en-US" dirty="0">
                <a:solidFill>
                  <a:srgbClr val="FF0000"/>
                </a:solidFill>
              </a:rPr>
              <a:t>指令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93417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1AE73-5E96-4B84-A5B3-233D0253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F8748A-9EA7-4216-99F8-178553005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定义段（</a:t>
            </a:r>
            <a:r>
              <a:rPr lang="en-US" altLang="zh-CN" dirty="0"/>
              <a:t>Segment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.data</a:t>
            </a:r>
            <a:r>
              <a:rPr lang="zh-CN" altLang="en-US" dirty="0"/>
              <a:t>、</a:t>
            </a:r>
            <a:r>
              <a:rPr lang="en-US" altLang="zh-CN" dirty="0"/>
              <a:t>.code</a:t>
            </a:r>
            <a:r>
              <a:rPr lang="zh-CN" altLang="en-US" dirty="0"/>
              <a:t>、</a:t>
            </a:r>
            <a:r>
              <a:rPr lang="en-US" altLang="zh-CN" dirty="0"/>
              <a:t>.stack</a:t>
            </a:r>
          </a:p>
          <a:p>
            <a:r>
              <a:rPr lang="zh-CN" altLang="en-US" dirty="0"/>
              <a:t>定义过程（</a:t>
            </a:r>
            <a:r>
              <a:rPr lang="en-US" altLang="zh-CN" dirty="0"/>
              <a:t>Procedure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PROC</a:t>
            </a:r>
            <a:r>
              <a:rPr lang="zh-CN" altLang="en-US" dirty="0"/>
              <a:t>、</a:t>
            </a:r>
            <a:r>
              <a:rPr lang="en-US" altLang="zh-CN" dirty="0"/>
              <a:t>ENDP</a:t>
            </a:r>
          </a:p>
          <a:p>
            <a:r>
              <a:rPr lang="zh-CN" altLang="en-US" dirty="0"/>
              <a:t>允许或禁止汇编器的某些特性</a:t>
            </a:r>
            <a:endParaRPr lang="en-US" altLang="zh-CN" dirty="0"/>
          </a:p>
          <a:p>
            <a:pPr lvl="1"/>
            <a:r>
              <a:rPr lang="en-US" altLang="zh-CN" dirty="0"/>
              <a:t>OPTION</a:t>
            </a:r>
            <a:r>
              <a:rPr lang="zh-CN" altLang="en-US" dirty="0"/>
              <a:t>、</a:t>
            </a:r>
            <a:r>
              <a:rPr lang="en-US" altLang="zh-CN" dirty="0"/>
              <a:t>.386</a:t>
            </a:r>
            <a:r>
              <a:rPr lang="zh-CN" altLang="en-US" dirty="0"/>
              <a:t>、</a:t>
            </a:r>
            <a:r>
              <a:rPr lang="en-US" altLang="zh-CN" dirty="0"/>
              <a:t>.MODEL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91908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8394E1-8A60-4165-93F0-7842928721A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判断题：伪指令是在程序运行时执行的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641B41-0878-439A-B85E-95D3BA27FB7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97AC74-B04A-4B71-A8E7-4E4805EF91F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3A72420-4D30-4563-88E2-5CD48A656CB5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75C0633-A75A-44A6-9BA1-7B78ECE2A5F0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0EC134C-5077-41D0-9D4C-8368E8D8627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6333DA1-9EE2-41F3-8034-1D67EE91FB9B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F6A00476-8992-44D5-A57F-9F29E08F586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BBA08E6A-257E-4AA8-B152-CA16482DE5B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769A60F8-C478-490B-968F-16DF8E0D804C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B5F4E59-D6A6-491D-BEE1-3D9C3CE9EE7F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E2C74A5-EC4C-46AA-91E1-1D0F28879810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728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定义数据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26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66119-8E42-4E3F-8B46-8C90D7F5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内部数据类型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BDC5A-C4E2-4951-BA2B-FD6626F3E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MASM</a:t>
            </a:r>
            <a:r>
              <a:rPr lang="zh-CN" altLang="en-US" dirty="0"/>
              <a:t>内部以数据位的个数定义了多种数据类型</a:t>
            </a:r>
            <a:endParaRPr lang="en-US" altLang="zh-CN" dirty="0"/>
          </a:p>
          <a:p>
            <a:pPr lvl="1"/>
            <a:r>
              <a:rPr lang="en-US" altLang="zh-CN" dirty="0"/>
              <a:t>BYTE</a:t>
            </a:r>
            <a:r>
              <a:rPr lang="zh-CN" altLang="en-US" dirty="0"/>
              <a:t>，</a:t>
            </a:r>
            <a:r>
              <a:rPr lang="en-US" altLang="zh-CN" dirty="0" err="1"/>
              <a:t>db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endParaRPr lang="en-US" altLang="zh-CN" dirty="0"/>
          </a:p>
          <a:p>
            <a:pPr lvl="1"/>
            <a:r>
              <a:rPr lang="en-US" altLang="zh-CN" dirty="0"/>
              <a:t>WORD</a:t>
            </a:r>
            <a:r>
              <a:rPr lang="zh-CN" altLang="en-US" dirty="0"/>
              <a:t>，</a:t>
            </a:r>
            <a:r>
              <a:rPr lang="en-US" altLang="zh-CN" dirty="0" err="1"/>
              <a:t>dw</a:t>
            </a:r>
            <a:r>
              <a:rPr lang="zh-CN" altLang="en-US" dirty="0"/>
              <a:t>，</a:t>
            </a:r>
            <a:r>
              <a:rPr lang="en-US" altLang="zh-CN" dirty="0"/>
              <a:t> 16</a:t>
            </a:r>
            <a:r>
              <a:rPr lang="zh-CN" altLang="en-US" dirty="0"/>
              <a:t>位</a:t>
            </a:r>
            <a:endParaRPr lang="en-US" altLang="zh-CN" dirty="0"/>
          </a:p>
          <a:p>
            <a:pPr lvl="1"/>
            <a:r>
              <a:rPr lang="en-US" altLang="zh-CN" dirty="0"/>
              <a:t>DWORD</a:t>
            </a:r>
            <a:r>
              <a:rPr lang="zh-CN" altLang="en-US" dirty="0"/>
              <a:t>，</a:t>
            </a:r>
            <a:r>
              <a:rPr lang="en-US" altLang="zh-CN" dirty="0"/>
              <a:t>dd</a:t>
            </a:r>
            <a:r>
              <a:rPr lang="zh-CN" altLang="en-US" dirty="0"/>
              <a:t>，</a:t>
            </a:r>
            <a:r>
              <a:rPr lang="en-US" altLang="zh-CN" dirty="0"/>
              <a:t> 32</a:t>
            </a:r>
            <a:r>
              <a:rPr lang="zh-CN" altLang="en-US" dirty="0"/>
              <a:t>位</a:t>
            </a:r>
            <a:endParaRPr lang="en-US" altLang="zh-CN" dirty="0"/>
          </a:p>
          <a:p>
            <a:pPr lvl="1"/>
            <a:r>
              <a:rPr lang="en-US" altLang="zh-CN" dirty="0"/>
              <a:t>QWORD </a:t>
            </a:r>
            <a:r>
              <a:rPr lang="zh-CN" altLang="en-US" dirty="0"/>
              <a:t>，</a:t>
            </a:r>
            <a:r>
              <a:rPr lang="en-US" altLang="zh-CN" dirty="0" err="1"/>
              <a:t>dq</a:t>
            </a:r>
            <a:r>
              <a:rPr lang="zh-CN" altLang="en-US"/>
              <a:t>，</a:t>
            </a:r>
            <a:r>
              <a:rPr lang="en-US" altLang="zh-CN"/>
              <a:t>64</a:t>
            </a:r>
            <a:r>
              <a:rPr lang="zh-CN" altLang="en-US"/>
              <a:t>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932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4D1378-9503-4D78-9A22-B60086A2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内部数据类型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A83962-F300-4C5D-B2CB-9071F478B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MASM</a:t>
            </a:r>
            <a:r>
              <a:rPr lang="zh-CN" altLang="en-US" dirty="0"/>
              <a:t>汇编器默认情况下，大小写不敏感</a:t>
            </a:r>
            <a:endParaRPr lang="en-US" altLang="zh-CN" dirty="0"/>
          </a:p>
          <a:p>
            <a:r>
              <a:rPr lang="en-US" altLang="zh-CN" dirty="0"/>
              <a:t>DWORD</a:t>
            </a:r>
          </a:p>
          <a:p>
            <a:pPr lvl="1"/>
            <a:r>
              <a:rPr lang="en-US" altLang="zh-CN" dirty="0" err="1"/>
              <a:t>Dword</a:t>
            </a:r>
            <a:endParaRPr lang="en-US" altLang="zh-CN" dirty="0"/>
          </a:p>
          <a:p>
            <a:pPr lvl="1"/>
            <a:r>
              <a:rPr lang="en-US" altLang="zh-CN" dirty="0" err="1"/>
              <a:t>dword</a:t>
            </a:r>
            <a:endParaRPr lang="en-US" altLang="zh-CN" dirty="0"/>
          </a:p>
          <a:p>
            <a:pPr lvl="1"/>
            <a:r>
              <a:rPr lang="en-US" altLang="zh-CN" dirty="0" err="1"/>
              <a:t>dWord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47293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B6516-C2ED-4B84-B468-C04925AB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数据定义语句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FD5591-5930-4271-BEF5-75BEBE207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为变量在内存中保留存储空间</a:t>
            </a:r>
            <a:endParaRPr lang="en-US" altLang="zh-CN" dirty="0"/>
          </a:p>
          <a:p>
            <a:r>
              <a:rPr lang="zh-CN" altLang="en-US" dirty="0"/>
              <a:t>为变量指定一个名字（</a:t>
            </a:r>
            <a:r>
              <a:rPr lang="zh-CN" altLang="en-US" dirty="0">
                <a:solidFill>
                  <a:srgbClr val="FF0000"/>
                </a:solidFill>
              </a:rPr>
              <a:t>数据标号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>
                <a:highlight>
                  <a:srgbClr val="FFFF00"/>
                </a:highlight>
              </a:rPr>
              <a:t>[</a:t>
            </a:r>
            <a:r>
              <a:rPr lang="zh-CN" altLang="en-US" dirty="0">
                <a:highlight>
                  <a:srgbClr val="FFFF00"/>
                </a:highlight>
              </a:rPr>
              <a:t>变量名</a:t>
            </a:r>
            <a:r>
              <a:rPr lang="en-US" altLang="zh-CN" dirty="0">
                <a:highlight>
                  <a:srgbClr val="FFFF00"/>
                </a:highlight>
              </a:rPr>
              <a:t>]  </a:t>
            </a:r>
            <a:r>
              <a:rPr lang="zh-CN" altLang="en-US" dirty="0">
                <a:highlight>
                  <a:srgbClr val="FFFF00"/>
                </a:highlight>
              </a:rPr>
              <a:t>数据定义伪指令 初始值</a:t>
            </a:r>
            <a:endParaRPr lang="en-US" altLang="zh-CN" dirty="0">
              <a:highlight>
                <a:srgbClr val="FFFF00"/>
              </a:highlight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76908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93D1B-347C-40C7-8901-13987C79A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数据定义伪指令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2A1D4B-A87B-4FF3-A429-C13ABFD12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BYTE</a:t>
            </a:r>
            <a:r>
              <a:rPr lang="zh-CN" altLang="en-US" dirty="0"/>
              <a:t>，</a:t>
            </a:r>
            <a:r>
              <a:rPr lang="en-US" altLang="zh-CN" dirty="0" err="1"/>
              <a:t>db</a:t>
            </a:r>
            <a:r>
              <a:rPr lang="zh-CN" altLang="en-US" dirty="0"/>
              <a:t>，</a:t>
            </a:r>
            <a:r>
              <a:rPr lang="en-US" altLang="zh-CN" dirty="0"/>
              <a:t>8 bits</a:t>
            </a:r>
          </a:p>
          <a:p>
            <a:r>
              <a:rPr lang="en-US" altLang="zh-CN" dirty="0"/>
              <a:t>WORD</a:t>
            </a:r>
            <a:r>
              <a:rPr lang="zh-CN" altLang="en-US" dirty="0"/>
              <a:t>，</a:t>
            </a:r>
            <a:r>
              <a:rPr lang="en-US" altLang="zh-CN" dirty="0" err="1"/>
              <a:t>dw</a:t>
            </a:r>
            <a:r>
              <a:rPr lang="zh-CN" altLang="en-US" dirty="0"/>
              <a:t>，</a:t>
            </a:r>
            <a:r>
              <a:rPr lang="en-US" altLang="zh-CN" dirty="0"/>
              <a:t> 16 bits</a:t>
            </a:r>
          </a:p>
          <a:p>
            <a:r>
              <a:rPr lang="en-US" altLang="zh-CN" dirty="0"/>
              <a:t>DWORD</a:t>
            </a:r>
            <a:r>
              <a:rPr lang="zh-CN" altLang="en-US" dirty="0"/>
              <a:t>，</a:t>
            </a:r>
            <a:r>
              <a:rPr lang="en-US" altLang="zh-CN" dirty="0"/>
              <a:t>dd</a:t>
            </a:r>
            <a:r>
              <a:rPr lang="zh-CN" altLang="en-US" dirty="0"/>
              <a:t>，</a:t>
            </a:r>
            <a:r>
              <a:rPr lang="en-US" altLang="zh-CN" dirty="0"/>
              <a:t> 32 bits</a:t>
            </a:r>
          </a:p>
          <a:p>
            <a:r>
              <a:rPr lang="en-US" altLang="zh-CN" dirty="0"/>
              <a:t>QWORD </a:t>
            </a:r>
            <a:r>
              <a:rPr lang="zh-CN" altLang="en-US" dirty="0"/>
              <a:t>，</a:t>
            </a:r>
            <a:r>
              <a:rPr lang="en-US" altLang="zh-CN" dirty="0" err="1"/>
              <a:t>dq</a:t>
            </a:r>
            <a:r>
              <a:rPr lang="zh-CN" altLang="en-US" dirty="0"/>
              <a:t>，</a:t>
            </a:r>
            <a:r>
              <a:rPr lang="en-US" altLang="zh-CN" dirty="0"/>
              <a:t>64 bits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97900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48B0D-31A4-49CA-A259-255F06E5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50295D-FA38-4732-8260-2A403DC32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数据定义语句中要指定初始值</a:t>
            </a:r>
            <a:endParaRPr lang="en-US" altLang="zh-CN" dirty="0"/>
          </a:p>
          <a:p>
            <a:r>
              <a:rPr lang="zh-CN" altLang="en-US" dirty="0"/>
              <a:t>多个初始值用逗号隔开</a:t>
            </a:r>
            <a:endParaRPr lang="en-US" altLang="zh-CN" dirty="0"/>
          </a:p>
          <a:p>
            <a:pPr lvl="1"/>
            <a:r>
              <a:rPr lang="en-US" altLang="zh-CN" dirty="0" err="1"/>
              <a:t>my_var</a:t>
            </a:r>
            <a:r>
              <a:rPr lang="en-US" altLang="zh-CN" dirty="0"/>
              <a:t> DWORD 0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dirty="0"/>
              <a:t>1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en-US" altLang="zh-CN" dirty="0"/>
              <a:t> 2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dirty="0"/>
              <a:t>3</a:t>
            </a:r>
          </a:p>
          <a:p>
            <a:r>
              <a:rPr lang="en-US" altLang="zh-CN" dirty="0"/>
              <a:t>0: </a:t>
            </a:r>
            <a:r>
              <a:rPr lang="zh-CN" altLang="en-US" dirty="0"/>
              <a:t>可以指定初始值为</a:t>
            </a:r>
            <a:r>
              <a:rPr lang="en-US" altLang="zh-CN" dirty="0"/>
              <a:t>0</a:t>
            </a:r>
          </a:p>
          <a:p>
            <a:r>
              <a:rPr lang="en-US" altLang="zh-CN" dirty="0">
                <a:highlight>
                  <a:srgbClr val="FFFF00"/>
                </a:highlight>
              </a:rPr>
              <a:t>?</a:t>
            </a:r>
            <a:r>
              <a:rPr lang="en-US" altLang="zh-CN" dirty="0"/>
              <a:t>:</a:t>
            </a:r>
            <a:r>
              <a:rPr lang="zh-CN" altLang="en-US" dirty="0"/>
              <a:t> 表示在程序</a:t>
            </a:r>
            <a:r>
              <a:rPr lang="zh-CN" altLang="en-US" dirty="0">
                <a:solidFill>
                  <a:srgbClr val="FF0000"/>
                </a:solidFill>
              </a:rPr>
              <a:t>运行的时候初始化</a:t>
            </a:r>
            <a:r>
              <a:rPr lang="zh-CN" altLang="en-US" dirty="0"/>
              <a:t>该变量</a:t>
            </a:r>
          </a:p>
        </p:txBody>
      </p:sp>
    </p:spTree>
    <p:extLst>
      <p:ext uri="{BB962C8B-B14F-4D97-AF65-F5344CB8AC3E}">
        <p14:creationId xmlns:p14="http://schemas.microsoft.com/office/powerpoint/2010/main" val="15808257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07451-BEF5-4A31-BDE4-D75CA05F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数据声明的位置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37D535-FF92-4211-A702-095A380C9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.data</a:t>
            </a:r>
            <a:r>
              <a:rPr lang="zh-CN" altLang="en-US" dirty="0"/>
              <a:t>段声明</a:t>
            </a:r>
            <a:r>
              <a:rPr lang="zh-CN" altLang="en-US" dirty="0">
                <a:solidFill>
                  <a:srgbClr val="FF0000"/>
                </a:solidFill>
              </a:rPr>
              <a:t>初始化</a:t>
            </a:r>
            <a:r>
              <a:rPr lang="zh-CN" altLang="en-US" dirty="0"/>
              <a:t>的变量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.data</a:t>
            </a:r>
          </a:p>
          <a:p>
            <a:pPr marL="457200" lvl="1" indent="0">
              <a:buNone/>
            </a:pPr>
            <a:r>
              <a:rPr lang="en-US" altLang="zh-CN" dirty="0"/>
              <a:t>    dw_var1 DWORD 0</a:t>
            </a:r>
          </a:p>
          <a:p>
            <a:r>
              <a:rPr lang="en-US" altLang="zh-CN" dirty="0"/>
              <a:t>.data?</a:t>
            </a:r>
            <a:r>
              <a:rPr lang="zh-CN" altLang="en-US" dirty="0"/>
              <a:t>段声明</a:t>
            </a:r>
            <a:r>
              <a:rPr lang="zh-CN" altLang="en-US" dirty="0">
                <a:solidFill>
                  <a:srgbClr val="FF0000"/>
                </a:solidFill>
              </a:rPr>
              <a:t>未初始化</a:t>
            </a:r>
            <a:r>
              <a:rPr lang="zh-CN" altLang="en-US" dirty="0"/>
              <a:t>的变量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.data?</a:t>
            </a:r>
          </a:p>
          <a:p>
            <a:pPr marL="457200" lvl="1" indent="0">
              <a:buNone/>
            </a:pPr>
            <a:r>
              <a:rPr lang="en-US" altLang="zh-CN" dirty="0"/>
              <a:t>    dw_var2 DWORD </a:t>
            </a:r>
            <a:r>
              <a:rPr lang="zh-CN" altLang="en-US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0969992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C7255-DB10-45DD-AF14-3033E5A94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定义字符串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4607CF-B6E0-4496-BEA2-57CA66FFD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 err="1"/>
              <a:t>str_hello</a:t>
            </a:r>
            <a:r>
              <a:rPr lang="en-US" altLang="zh-CN" dirty="0"/>
              <a:t> </a:t>
            </a:r>
            <a:r>
              <a:rPr lang="en-US" altLang="zh-CN" dirty="0">
                <a:highlight>
                  <a:srgbClr val="FFFF00"/>
                </a:highlight>
              </a:rPr>
              <a:t>BYTE</a:t>
            </a:r>
            <a:r>
              <a:rPr lang="en-US" altLang="zh-CN" dirty="0"/>
              <a:t> “Hello World!”, </a:t>
            </a:r>
            <a:r>
              <a:rPr lang="en-US" altLang="zh-CN" dirty="0">
                <a:solidFill>
                  <a:srgbClr val="FF0000"/>
                </a:solidFill>
              </a:rPr>
              <a:t>0Dh, 0Ah</a:t>
            </a:r>
            <a:r>
              <a:rPr lang="en-US" altLang="zh-CN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   BYTE “I love assembly language”,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   BYTE </a:t>
            </a:r>
            <a:r>
              <a:rPr lang="en-US" altLang="zh-CN" dirty="0">
                <a:solidFill>
                  <a:srgbClr val="FF0000"/>
                </a:solidFill>
              </a:rPr>
              <a:t>0Dh,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0Ah, 0</a:t>
            </a:r>
          </a:p>
          <a:p>
            <a:r>
              <a:rPr lang="en-US" altLang="zh-CN" dirty="0"/>
              <a:t>0Dh</a:t>
            </a:r>
            <a:r>
              <a:rPr lang="zh-CN" altLang="en-US" dirty="0"/>
              <a:t>和</a:t>
            </a:r>
            <a:r>
              <a:rPr lang="en-US" altLang="zh-CN" dirty="0"/>
              <a:t>0Ah</a:t>
            </a:r>
            <a:r>
              <a:rPr lang="zh-CN" altLang="en-US" dirty="0"/>
              <a:t>是</a:t>
            </a:r>
            <a:r>
              <a:rPr lang="en-US" altLang="zh-CN" dirty="0"/>
              <a:t>CR/LF</a:t>
            </a:r>
            <a:r>
              <a:rPr lang="zh-CN" altLang="en-US" dirty="0"/>
              <a:t>（回车、换行）的</a:t>
            </a:r>
            <a:r>
              <a:rPr lang="en-US" altLang="zh-CN" dirty="0"/>
              <a:t>ASCII</a:t>
            </a:r>
            <a:r>
              <a:rPr lang="zh-CN" altLang="en-US" dirty="0"/>
              <a:t>编码</a:t>
            </a:r>
            <a:endParaRPr lang="en-US" altLang="zh-CN" dirty="0"/>
          </a:p>
          <a:p>
            <a:r>
              <a:rPr lang="zh-CN" altLang="en-US" dirty="0"/>
              <a:t>字符串的结尾是</a:t>
            </a:r>
            <a:r>
              <a:rPr lang="en-US" altLang="zh-CN" dirty="0"/>
              <a:t>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88658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93B94-3B90-4925-B270-47B1EDA2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DUP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2EE97E-C700-4ABE-9DDF-655AAED7C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为字符串或者数组</a:t>
            </a:r>
            <a:r>
              <a:rPr lang="zh-CN" altLang="en-US" dirty="0">
                <a:solidFill>
                  <a:srgbClr val="FF0000"/>
                </a:solidFill>
              </a:rPr>
              <a:t>分配内存空间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BYTE </a:t>
            </a:r>
            <a:r>
              <a:rPr lang="en-US" altLang="zh-CN" dirty="0">
                <a:highlight>
                  <a:srgbClr val="FFFF00"/>
                </a:highlight>
              </a:rPr>
              <a:t>20 DUP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）；</a:t>
            </a:r>
            <a:r>
              <a:rPr lang="en-US" altLang="zh-CN" dirty="0"/>
              <a:t>20</a:t>
            </a:r>
            <a:r>
              <a:rPr lang="zh-CN" altLang="en-US" dirty="0"/>
              <a:t>个字节的内存空间</a:t>
            </a:r>
            <a:endParaRPr lang="en-US" altLang="zh-CN" dirty="0"/>
          </a:p>
          <a:p>
            <a:r>
              <a:rPr lang="en-US" altLang="zh-CN" dirty="0"/>
              <a:t>BYTE </a:t>
            </a:r>
            <a:r>
              <a:rPr lang="en-US" altLang="zh-CN" dirty="0">
                <a:highlight>
                  <a:srgbClr val="FFFF00"/>
                </a:highlight>
              </a:rPr>
              <a:t>4 DUP</a:t>
            </a:r>
            <a:r>
              <a:rPr lang="zh-CN" altLang="en-US" dirty="0"/>
              <a:t>（“</a:t>
            </a:r>
            <a:r>
              <a:rPr lang="en-US" altLang="zh-CN" dirty="0"/>
              <a:t>Hello</a:t>
            </a:r>
            <a:r>
              <a:rPr lang="zh-CN" altLang="en-US" dirty="0"/>
              <a:t>”）：</a:t>
            </a:r>
            <a:r>
              <a:rPr lang="en-US" altLang="zh-CN" dirty="0"/>
              <a:t>20</a:t>
            </a:r>
            <a:r>
              <a:rPr lang="zh-CN" altLang="en-US" dirty="0"/>
              <a:t>个字节，连续的</a:t>
            </a:r>
            <a:r>
              <a:rPr lang="en-US" altLang="zh-CN" dirty="0"/>
              <a:t>4</a:t>
            </a:r>
            <a:r>
              <a:rPr lang="zh-CN" altLang="en-US" dirty="0"/>
              <a:t>个“</a:t>
            </a:r>
            <a:r>
              <a:rPr lang="en-US" altLang="zh-CN" dirty="0"/>
              <a:t>Hello</a:t>
            </a:r>
            <a:r>
              <a:rPr lang="zh-CN" altLang="en-US" dirty="0"/>
              <a:t>”，每个“</a:t>
            </a:r>
            <a:r>
              <a:rPr lang="en-US" altLang="zh-CN" dirty="0"/>
              <a:t>Hello</a:t>
            </a:r>
            <a:r>
              <a:rPr lang="zh-CN" altLang="en-US" dirty="0"/>
              <a:t>”</a:t>
            </a:r>
            <a:r>
              <a:rPr lang="en-US" altLang="zh-CN" dirty="0"/>
              <a:t>5</a:t>
            </a:r>
            <a:r>
              <a:rPr lang="zh-CN" altLang="en-US" dirty="0"/>
              <a:t>字节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27204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93B94-3B90-4925-B270-47B1EDA2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en-US" altLang="zh-CN" dirty="0"/>
              <a:t>WORD</a:t>
            </a:r>
            <a:r>
              <a:rPr lang="zh-CN" altLang="en-US" dirty="0"/>
              <a:t>和</a:t>
            </a:r>
            <a:r>
              <a:rPr lang="en-US" altLang="zh-CN" dirty="0"/>
              <a:t>SWORD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2EE97E-C700-4ABE-9DDF-655AAED7C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在数据定义语句中如果使用</a:t>
            </a:r>
            <a:r>
              <a:rPr lang="en-US" altLang="zh-CN" dirty="0"/>
              <a:t>WORD</a:t>
            </a:r>
            <a:r>
              <a:rPr lang="zh-CN" altLang="en-US" dirty="0"/>
              <a:t>（用于定义字）和</a:t>
            </a:r>
            <a:r>
              <a:rPr lang="en-US" altLang="zh-CN" dirty="0"/>
              <a:t>SWORD</a:t>
            </a:r>
            <a:r>
              <a:rPr lang="zh-CN" altLang="en-US" dirty="0"/>
              <a:t>（用于定义有符号字）伪指令就可以为一个或多个</a:t>
            </a:r>
            <a:r>
              <a:rPr lang="en-US" altLang="zh-CN" dirty="0"/>
              <a:t>16</a:t>
            </a:r>
            <a:r>
              <a:rPr lang="zh-CN" altLang="en-US" dirty="0"/>
              <a:t>位整数分配存储空间</a:t>
            </a:r>
            <a:endParaRPr lang="en-US" altLang="zh-CN" dirty="0"/>
          </a:p>
          <a:p>
            <a:r>
              <a:rPr lang="en-US" altLang="zh-CN" dirty="0"/>
              <a:t>word1 WORD 65535 </a:t>
            </a:r>
            <a:r>
              <a:rPr lang="zh-CN" altLang="en-US" dirty="0"/>
              <a:t>；</a:t>
            </a:r>
            <a:r>
              <a:rPr lang="en-US" altLang="zh-CN" dirty="0"/>
              <a:t> </a:t>
            </a:r>
            <a:r>
              <a:rPr lang="zh-CN" altLang="en-US" dirty="0"/>
              <a:t>最大无符号字</a:t>
            </a:r>
            <a:endParaRPr lang="en-US" altLang="zh-CN" dirty="0"/>
          </a:p>
          <a:p>
            <a:r>
              <a:rPr lang="zh-CN" altLang="en-US" dirty="0"/>
              <a:t>字数组：可以通过显示指令初始化每个元素，或使用</a:t>
            </a:r>
            <a:r>
              <a:rPr lang="en-US" altLang="zh-CN" dirty="0"/>
              <a:t>DUP</a:t>
            </a:r>
            <a:r>
              <a:rPr lang="zh-CN" altLang="en-US" dirty="0"/>
              <a:t>操作符创建字数组。</a:t>
            </a:r>
          </a:p>
        </p:txBody>
      </p:sp>
    </p:spTree>
    <p:extLst>
      <p:ext uri="{BB962C8B-B14F-4D97-AF65-F5344CB8AC3E}">
        <p14:creationId xmlns:p14="http://schemas.microsoft.com/office/powerpoint/2010/main" val="15694811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93B94-3B90-4925-B270-47B1EDA2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en-US" altLang="zh-CN" dirty="0"/>
              <a:t>DWORD</a:t>
            </a:r>
            <a:r>
              <a:rPr lang="zh-CN" altLang="en-US" dirty="0"/>
              <a:t>和</a:t>
            </a:r>
            <a:r>
              <a:rPr lang="en-US" altLang="zh-CN" dirty="0"/>
              <a:t>SDWORD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2EE97E-C700-4ABE-9DDF-655AAED7C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在数据定义语句中使用</a:t>
            </a:r>
            <a:r>
              <a:rPr lang="en-US" altLang="zh-CN" dirty="0"/>
              <a:t>DWORD</a:t>
            </a:r>
            <a:r>
              <a:rPr lang="zh-CN" altLang="en-US" dirty="0"/>
              <a:t>（定义双字）和</a:t>
            </a:r>
            <a:r>
              <a:rPr lang="en-US" altLang="zh-CN" dirty="0"/>
              <a:t>SDWORD</a:t>
            </a:r>
            <a:r>
              <a:rPr lang="zh-CN" altLang="en-US" dirty="0"/>
              <a:t>（定义有符号双字）伪指令，可以为一个或多个</a:t>
            </a:r>
            <a:r>
              <a:rPr lang="en-US" altLang="zh-CN" dirty="0"/>
              <a:t>32</a:t>
            </a:r>
            <a:r>
              <a:rPr lang="zh-CN" altLang="en-US" dirty="0"/>
              <a:t>位的整数分配存储空间</a:t>
            </a:r>
            <a:endParaRPr lang="en-US" altLang="zh-CN" dirty="0"/>
          </a:p>
          <a:p>
            <a:r>
              <a:rPr lang="en-US" altLang="zh-CN" dirty="0"/>
              <a:t>val1 DOWRD 12345678h </a:t>
            </a:r>
            <a:r>
              <a:rPr lang="zh-CN" altLang="en-US" dirty="0"/>
              <a:t>；</a:t>
            </a:r>
            <a:r>
              <a:rPr lang="en-US" altLang="zh-CN" dirty="0"/>
              <a:t> </a:t>
            </a:r>
            <a:r>
              <a:rPr lang="zh-CN" altLang="en-US" dirty="0"/>
              <a:t>无符号数</a:t>
            </a:r>
            <a:endParaRPr lang="en-US" altLang="zh-CN" dirty="0"/>
          </a:p>
          <a:p>
            <a:r>
              <a:rPr lang="zh-CN" altLang="en-US" dirty="0"/>
              <a:t>双字数组：所谓双字数组，就是指可以通过显式地初始化数组每个元素，或使用</a:t>
            </a:r>
            <a:r>
              <a:rPr lang="en-US" altLang="zh-CN" dirty="0"/>
              <a:t>DUP</a:t>
            </a:r>
            <a:r>
              <a:rPr lang="zh-CN" altLang="en-US" dirty="0"/>
              <a:t>操作符来创建双字数组。</a:t>
            </a:r>
          </a:p>
        </p:txBody>
      </p:sp>
    </p:spTree>
    <p:extLst>
      <p:ext uri="{BB962C8B-B14F-4D97-AF65-F5344CB8AC3E}">
        <p14:creationId xmlns:p14="http://schemas.microsoft.com/office/powerpoint/2010/main" val="34388028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93B94-3B90-4925-B270-47B1EDA2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en-US" altLang="zh-CN" dirty="0"/>
              <a:t>QWORD</a:t>
            </a:r>
            <a:r>
              <a:rPr lang="zh-CN" altLang="en-US" dirty="0"/>
              <a:t>数据和</a:t>
            </a:r>
            <a:r>
              <a:rPr lang="en-US" altLang="zh-CN" dirty="0"/>
              <a:t>TBYTE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2EE97E-C700-4ABE-9DDF-655AAED7C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QWORD</a:t>
            </a:r>
            <a:r>
              <a:rPr lang="zh-CN" altLang="en-US" dirty="0"/>
              <a:t>（定义</a:t>
            </a:r>
            <a:r>
              <a:rPr lang="en-US" altLang="zh-CN" dirty="0"/>
              <a:t>8</a:t>
            </a:r>
            <a:r>
              <a:rPr lang="zh-CN" altLang="en-US" dirty="0"/>
              <a:t>字节）伪指令可以定义</a:t>
            </a:r>
            <a:r>
              <a:rPr lang="en-US" altLang="zh-CN" dirty="0"/>
              <a:t>64</a:t>
            </a:r>
            <a:r>
              <a:rPr lang="zh-CN" altLang="en-US" dirty="0"/>
              <a:t>位的数据。</a:t>
            </a:r>
            <a:endParaRPr lang="en-US" altLang="zh-CN" dirty="0"/>
          </a:p>
          <a:p>
            <a:r>
              <a:rPr lang="en-US" altLang="zh-CN" dirty="0"/>
              <a:t>val1	QWORD 1234567812345678h</a:t>
            </a:r>
          </a:p>
          <a:p>
            <a:r>
              <a:rPr lang="zh-CN" altLang="en-US" dirty="0"/>
              <a:t>使用</a:t>
            </a:r>
            <a:r>
              <a:rPr lang="en-US" altLang="zh-CN" dirty="0"/>
              <a:t>TBYTE</a:t>
            </a:r>
            <a:r>
              <a:rPr lang="zh-CN" altLang="en-US" dirty="0"/>
              <a:t>（定义</a:t>
            </a:r>
            <a:r>
              <a:rPr lang="en-US" altLang="zh-CN" dirty="0"/>
              <a:t>10</a:t>
            </a:r>
            <a:r>
              <a:rPr lang="zh-CN" altLang="en-US" dirty="0"/>
              <a:t>字节）伪指令可以定义</a:t>
            </a:r>
            <a:r>
              <a:rPr lang="en-US" altLang="zh-CN" dirty="0"/>
              <a:t>80</a:t>
            </a:r>
            <a:r>
              <a:rPr lang="zh-CN" altLang="en-US" dirty="0"/>
              <a:t>位的数据。</a:t>
            </a:r>
            <a:endParaRPr lang="en-US" altLang="zh-CN" dirty="0"/>
          </a:p>
          <a:p>
            <a:r>
              <a:rPr lang="en-US" altLang="zh-CN" dirty="0"/>
              <a:t>val1 TBYTE 1000000000123456789Ah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75597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93B94-3B90-4925-B270-47B1EDA2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定义实数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2EE97E-C700-4ABE-9DDF-655AAED7C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REAL4</a:t>
            </a:r>
            <a:r>
              <a:rPr lang="zh-CN" altLang="en-US" dirty="0"/>
              <a:t>定义</a:t>
            </a:r>
            <a:r>
              <a:rPr lang="en-US" altLang="zh-CN" dirty="0"/>
              <a:t>4</a:t>
            </a:r>
            <a:r>
              <a:rPr lang="zh-CN" altLang="en-US" dirty="0"/>
              <a:t>字节的单精度实数，</a:t>
            </a:r>
            <a:r>
              <a:rPr lang="en-US" altLang="zh-CN" dirty="0"/>
              <a:t>REAL8</a:t>
            </a:r>
            <a:r>
              <a:rPr lang="zh-CN" altLang="en-US" dirty="0"/>
              <a:t>定义</a:t>
            </a:r>
            <a:r>
              <a:rPr lang="en-US" altLang="zh-CN" dirty="0"/>
              <a:t>8</a:t>
            </a:r>
            <a:r>
              <a:rPr lang="zh-CN" altLang="en-US" dirty="0"/>
              <a:t>字节的双精度实数，</a:t>
            </a:r>
            <a:r>
              <a:rPr lang="en-US" altLang="zh-CN" dirty="0"/>
              <a:t>REAL10</a:t>
            </a:r>
            <a:r>
              <a:rPr lang="zh-CN" altLang="en-US" dirty="0"/>
              <a:t>定义</a:t>
            </a:r>
            <a:r>
              <a:rPr lang="en-US" altLang="zh-CN" dirty="0"/>
              <a:t>10</a:t>
            </a:r>
            <a:r>
              <a:rPr lang="zh-CN" altLang="en-US" dirty="0"/>
              <a:t>字节的扩展精读实数，对于每个伪指令，都要求一个或多个与其数据尺寸相匹配的实数常量初始值</a:t>
            </a: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A365D94-1A1A-C744-D69D-D66C45EFA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201027"/>
              </p:ext>
            </p:extLst>
          </p:nvPr>
        </p:nvGraphicFramePr>
        <p:xfrm>
          <a:off x="1119809" y="3813112"/>
          <a:ext cx="10233990" cy="22696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0191">
                  <a:extLst>
                    <a:ext uri="{9D8B030D-6E8A-4147-A177-3AD203B41FA5}">
                      <a16:colId xmlns:a16="http://schemas.microsoft.com/office/drawing/2014/main" val="2318955092"/>
                    </a:ext>
                  </a:extLst>
                </a:gridCol>
                <a:gridCol w="2842591">
                  <a:extLst>
                    <a:ext uri="{9D8B030D-6E8A-4147-A177-3AD203B41FA5}">
                      <a16:colId xmlns:a16="http://schemas.microsoft.com/office/drawing/2014/main" val="3615543779"/>
                    </a:ext>
                  </a:extLst>
                </a:gridCol>
                <a:gridCol w="4701208">
                  <a:extLst>
                    <a:ext uri="{9D8B030D-6E8A-4147-A177-3AD203B41FA5}">
                      <a16:colId xmlns:a16="http://schemas.microsoft.com/office/drawing/2014/main" val="1521891941"/>
                    </a:ext>
                  </a:extLst>
                </a:gridCol>
              </a:tblGrid>
              <a:tr h="567409">
                <a:tc>
                  <a:txBody>
                    <a:bodyPr/>
                    <a:lstStyle/>
                    <a:p>
                      <a:pPr algn="ctr"/>
                      <a:r>
                        <a:rPr lang="zh-CN" sz="2800" kern="100" dirty="0">
                          <a:effectLst/>
                        </a:rPr>
                        <a:t>数据类型</a:t>
                      </a:r>
                      <a:endParaRPr lang="zh-CN" sz="3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800" kern="100">
                          <a:effectLst/>
                        </a:rPr>
                        <a:t>有效数据位数</a:t>
                      </a:r>
                      <a:endParaRPr lang="zh-CN" sz="3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800" kern="100">
                          <a:effectLst/>
                        </a:rPr>
                        <a:t>表示范围</a:t>
                      </a:r>
                      <a:endParaRPr lang="zh-CN" sz="3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5587422"/>
                  </a:ext>
                </a:extLst>
              </a:tr>
              <a:tr h="567409">
                <a:tc>
                  <a:txBody>
                    <a:bodyPr/>
                    <a:lstStyle/>
                    <a:p>
                      <a:pPr algn="ctr"/>
                      <a:r>
                        <a:rPr lang="zh-CN" sz="2800" kern="100">
                          <a:effectLst/>
                        </a:rPr>
                        <a:t>单精度实数</a:t>
                      </a:r>
                      <a:endParaRPr lang="zh-CN" sz="3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6</a:t>
                      </a:r>
                      <a:endParaRPr lang="zh-CN" sz="3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>
                          <a:effectLst/>
                        </a:rPr>
                        <a:t>1.18</a:t>
                      </a:r>
                      <a:r>
                        <a:rPr lang="zh-CN" sz="2800" kern="100">
                          <a:effectLst/>
                        </a:rPr>
                        <a:t>×</a:t>
                      </a:r>
                      <a:r>
                        <a:rPr lang="en-US" sz="2800" kern="100">
                          <a:effectLst/>
                        </a:rPr>
                        <a:t>10</a:t>
                      </a:r>
                      <a:r>
                        <a:rPr lang="en-US" sz="2800" kern="100" baseline="30000">
                          <a:effectLst/>
                        </a:rPr>
                        <a:t>-38</a:t>
                      </a:r>
                      <a:r>
                        <a:rPr lang="en-US" sz="2800" kern="100">
                          <a:effectLst/>
                        </a:rPr>
                        <a:t>~3.40</a:t>
                      </a:r>
                      <a:r>
                        <a:rPr lang="zh-CN" sz="2800" kern="100">
                          <a:effectLst/>
                        </a:rPr>
                        <a:t>×</a:t>
                      </a:r>
                      <a:r>
                        <a:rPr lang="en-US" sz="2800" kern="100">
                          <a:effectLst/>
                        </a:rPr>
                        <a:t>10</a:t>
                      </a:r>
                      <a:r>
                        <a:rPr lang="en-US" sz="2800" kern="100" baseline="30000">
                          <a:effectLst/>
                        </a:rPr>
                        <a:t>38</a:t>
                      </a:r>
                      <a:endParaRPr lang="zh-CN" sz="3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84940508"/>
                  </a:ext>
                </a:extLst>
              </a:tr>
              <a:tr h="567409">
                <a:tc>
                  <a:txBody>
                    <a:bodyPr/>
                    <a:lstStyle/>
                    <a:p>
                      <a:pPr algn="ctr"/>
                      <a:r>
                        <a:rPr lang="zh-CN" sz="2800" kern="100">
                          <a:effectLst/>
                        </a:rPr>
                        <a:t>双精度实数</a:t>
                      </a:r>
                      <a:endParaRPr lang="zh-CN" sz="3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15</a:t>
                      </a:r>
                      <a:endParaRPr lang="zh-CN" sz="3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2.23</a:t>
                      </a:r>
                      <a:r>
                        <a:rPr lang="zh-CN" sz="2800" kern="100" dirty="0">
                          <a:effectLst/>
                        </a:rPr>
                        <a:t>×</a:t>
                      </a:r>
                      <a:r>
                        <a:rPr lang="en-US" sz="2800" kern="100" dirty="0">
                          <a:effectLst/>
                        </a:rPr>
                        <a:t>10</a:t>
                      </a:r>
                      <a:r>
                        <a:rPr lang="en-US" sz="2800" kern="100" baseline="30000" dirty="0">
                          <a:effectLst/>
                        </a:rPr>
                        <a:t>-308</a:t>
                      </a:r>
                      <a:r>
                        <a:rPr lang="en-US" sz="2800" kern="100" dirty="0">
                          <a:effectLst/>
                        </a:rPr>
                        <a:t>~1.79</a:t>
                      </a:r>
                      <a:r>
                        <a:rPr lang="zh-CN" sz="2800" kern="100" dirty="0">
                          <a:effectLst/>
                        </a:rPr>
                        <a:t>×</a:t>
                      </a:r>
                      <a:r>
                        <a:rPr lang="en-US" sz="2800" kern="100" dirty="0">
                          <a:effectLst/>
                        </a:rPr>
                        <a:t>10</a:t>
                      </a:r>
                      <a:r>
                        <a:rPr lang="en-US" sz="2800" kern="100" baseline="30000" dirty="0">
                          <a:effectLst/>
                        </a:rPr>
                        <a:t>308</a:t>
                      </a:r>
                      <a:endParaRPr lang="zh-CN" sz="3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390716"/>
                  </a:ext>
                </a:extLst>
              </a:tr>
              <a:tr h="567409">
                <a:tc>
                  <a:txBody>
                    <a:bodyPr/>
                    <a:lstStyle/>
                    <a:p>
                      <a:pPr algn="ctr"/>
                      <a:r>
                        <a:rPr lang="zh-CN" sz="2800" kern="100">
                          <a:effectLst/>
                        </a:rPr>
                        <a:t>扩展精度实数</a:t>
                      </a:r>
                      <a:endParaRPr lang="zh-CN" sz="3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>
                          <a:effectLst/>
                        </a:rPr>
                        <a:t>19</a:t>
                      </a:r>
                      <a:endParaRPr lang="zh-CN" sz="3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3.37</a:t>
                      </a:r>
                      <a:r>
                        <a:rPr lang="zh-CN" sz="2800" kern="100" dirty="0">
                          <a:effectLst/>
                        </a:rPr>
                        <a:t>×</a:t>
                      </a:r>
                      <a:r>
                        <a:rPr lang="en-US" sz="2800" kern="100" dirty="0">
                          <a:effectLst/>
                        </a:rPr>
                        <a:t>10</a:t>
                      </a:r>
                      <a:r>
                        <a:rPr lang="en-US" sz="2800" kern="100" baseline="30000" dirty="0">
                          <a:effectLst/>
                        </a:rPr>
                        <a:t>-4932</a:t>
                      </a:r>
                      <a:r>
                        <a:rPr lang="en-US" sz="2800" kern="100" dirty="0">
                          <a:effectLst/>
                        </a:rPr>
                        <a:t>~1.18</a:t>
                      </a:r>
                      <a:r>
                        <a:rPr lang="zh-CN" sz="2800" kern="100" dirty="0">
                          <a:effectLst/>
                        </a:rPr>
                        <a:t>×</a:t>
                      </a:r>
                      <a:r>
                        <a:rPr lang="en-US" sz="2800" kern="100" dirty="0">
                          <a:effectLst/>
                        </a:rPr>
                        <a:t>10</a:t>
                      </a:r>
                      <a:r>
                        <a:rPr lang="en-US" sz="2800" kern="100" baseline="30000" dirty="0">
                          <a:effectLst/>
                        </a:rPr>
                        <a:t>4932</a:t>
                      </a:r>
                      <a:endParaRPr lang="zh-CN" sz="3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5326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3399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A282051-CA25-4BE4-9D3C-E354F2C2BBA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10030" y="1099026"/>
            <a:ext cx="8765781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声明一个包含单词“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TEST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”重复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50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次的字符串变量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F9CCDB7-3944-4064-AE2D-3276D08684C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E1842-D76A-49DC-B20C-17874E71D6A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4BC6696-095A-4213-A6E1-B78A27E1ECB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1B63D8B4-3809-4719-8DD1-7A942974FB8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930FDCA8-4199-4A7C-90AE-A5BEE31BCBA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EFB0C5F1-3968-4657-87F8-8D206996E44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48C9A787-5673-4432-86CE-56BF4ECFC229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10CAE9C-8DB3-4939-87DC-E9DD5F7F54A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60502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符号常量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8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56362-8F62-46B8-A926-C7AD5CF58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符号常量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071BB-3F3A-4965-BDBF-2600EABE8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符号常量（或</a:t>
            </a:r>
            <a:r>
              <a:rPr lang="zh-CN" altLang="en-US" dirty="0">
                <a:solidFill>
                  <a:srgbClr val="FF0000"/>
                </a:solidFill>
              </a:rPr>
              <a:t>符号定义</a:t>
            </a:r>
            <a:r>
              <a:rPr lang="zh-CN" altLang="en-US" dirty="0"/>
              <a:t>），将标识符与整数表达式或文本联系起来</a:t>
            </a:r>
            <a:endParaRPr lang="en-US" altLang="zh-CN" dirty="0"/>
          </a:p>
          <a:p>
            <a:r>
              <a:rPr lang="zh-CN" altLang="en-US" dirty="0"/>
              <a:t>符号常量</a:t>
            </a:r>
            <a:r>
              <a:rPr lang="zh-CN" altLang="en-US" dirty="0">
                <a:solidFill>
                  <a:srgbClr val="FF0000"/>
                </a:solidFill>
              </a:rPr>
              <a:t>不占用存储空间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变量</a:t>
            </a:r>
            <a:r>
              <a:rPr lang="zh-CN" altLang="en-US" dirty="0">
                <a:solidFill>
                  <a:srgbClr val="FF0000"/>
                </a:solidFill>
              </a:rPr>
              <a:t>占用存储空间</a:t>
            </a:r>
          </a:p>
        </p:txBody>
      </p:sp>
    </p:spTree>
    <p:extLst>
      <p:ext uri="{BB962C8B-B14F-4D97-AF65-F5344CB8AC3E}">
        <p14:creationId xmlns:p14="http://schemas.microsoft.com/office/powerpoint/2010/main" val="37226561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2AFFB-41C7-4DEB-AF69-AE9B71B3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等号伪指令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C61C0-E940-403C-AE19-13596F80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等号伪指令，将符号名和整数表达式联系起来</a:t>
            </a:r>
            <a:endParaRPr lang="en-US" altLang="zh-CN" dirty="0"/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/>
              <a:t>COUNT </a:t>
            </a:r>
            <a:r>
              <a:rPr lang="en-US" altLang="zh-CN" b="1" dirty="0">
                <a:solidFill>
                  <a:srgbClr val="FF0000"/>
                </a:solidFill>
              </a:rPr>
              <a:t>=</a:t>
            </a:r>
            <a:r>
              <a:rPr lang="en-US" altLang="zh-CN" dirty="0"/>
              <a:t> 500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/>
              <a:t>mov </a:t>
            </a:r>
            <a:r>
              <a:rPr lang="en-US" altLang="zh-CN" dirty="0" err="1"/>
              <a:t>eax</a:t>
            </a:r>
            <a:r>
              <a:rPr lang="zh-CN" altLang="en-US" dirty="0"/>
              <a:t>， </a:t>
            </a:r>
            <a:r>
              <a:rPr lang="en-US" altLang="zh-CN" dirty="0"/>
              <a:t>COUNT</a:t>
            </a:r>
          </a:p>
          <a:p>
            <a:pPr marL="857250" lvl="1" indent="-457200">
              <a:lnSpc>
                <a:spcPct val="100000"/>
              </a:lnSpc>
            </a:pPr>
            <a:r>
              <a:rPr lang="zh-CN" altLang="en-US" dirty="0"/>
              <a:t>易于</a:t>
            </a:r>
            <a:r>
              <a:rPr lang="zh-CN" altLang="en-US" dirty="0">
                <a:solidFill>
                  <a:srgbClr val="FF0000"/>
                </a:solidFill>
              </a:rPr>
              <a:t>阅读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0000"/>
                </a:solidFill>
              </a:rPr>
              <a:t>维护</a:t>
            </a:r>
            <a:r>
              <a:rPr lang="zh-CN" altLang="en-US" dirty="0"/>
              <a:t>，减少程序修改时的查找与替换次数</a:t>
            </a:r>
          </a:p>
        </p:txBody>
      </p:sp>
    </p:spTree>
    <p:extLst>
      <p:ext uri="{BB962C8B-B14F-4D97-AF65-F5344CB8AC3E}">
        <p14:creationId xmlns:p14="http://schemas.microsoft.com/office/powerpoint/2010/main" val="41233116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3E978-1269-403A-ABC3-06B521E2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计算数组和字符串的大小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525F6-5F62-4ED8-BC07-5B35C4733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MASM</a:t>
            </a:r>
            <a:r>
              <a:rPr lang="zh-CN" altLang="en-US" dirty="0"/>
              <a:t>用</a:t>
            </a:r>
            <a:r>
              <a:rPr lang="en-US" altLang="zh-CN" dirty="0"/>
              <a:t>$</a:t>
            </a:r>
            <a:r>
              <a:rPr lang="zh-CN" altLang="en-US" dirty="0"/>
              <a:t>运算符存储当前语句的地址偏移值。</a:t>
            </a:r>
            <a:endParaRPr lang="en-US" altLang="zh-CN" dirty="0"/>
          </a:p>
          <a:p>
            <a:r>
              <a:rPr lang="en-US" altLang="zh-CN" dirty="0"/>
              <a:t>$</a:t>
            </a:r>
            <a:r>
              <a:rPr lang="zh-CN" altLang="en-US" dirty="0"/>
              <a:t>可以用来计算数组或字符串的大小</a:t>
            </a:r>
          </a:p>
        </p:txBody>
      </p:sp>
    </p:spTree>
    <p:extLst>
      <p:ext uri="{BB962C8B-B14F-4D97-AF65-F5344CB8AC3E}">
        <p14:creationId xmlns:p14="http://schemas.microsoft.com/office/powerpoint/2010/main" val="3293323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9E429-6CF9-4494-916D-9BDB2BD7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计算字符串大小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5FB636-2225-48E6-86A9-CD0F3D0B0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 err="1"/>
              <a:t>str_hello</a:t>
            </a:r>
            <a:r>
              <a:rPr lang="en-US" altLang="zh-CN" dirty="0"/>
              <a:t> BYTE “Hello World!”, </a:t>
            </a:r>
            <a:r>
              <a:rPr lang="en-US" altLang="zh-CN" dirty="0">
                <a:solidFill>
                  <a:srgbClr val="FF0000"/>
                </a:solidFill>
              </a:rPr>
              <a:t>0Dh, 0Ah</a:t>
            </a:r>
            <a:r>
              <a:rPr lang="en-US" altLang="zh-CN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   BYTE “I love assembly language”,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   BYTE </a:t>
            </a:r>
            <a:r>
              <a:rPr lang="en-US" altLang="zh-CN" dirty="0">
                <a:solidFill>
                  <a:srgbClr val="FF0000"/>
                </a:solidFill>
              </a:rPr>
              <a:t>0Dh,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0Ah, 0</a:t>
            </a:r>
          </a:p>
          <a:p>
            <a:r>
              <a:rPr lang="en-US" altLang="zh-CN" dirty="0" err="1"/>
              <a:t>str_size</a:t>
            </a:r>
            <a:r>
              <a:rPr lang="en-US" altLang="zh-CN" dirty="0"/>
              <a:t> = ($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 err="1"/>
              <a:t>str_hello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71930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B2D75-F7BE-4352-9E73-775F6DE6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计算数组大小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C76958-8BFE-4C85-8098-A5667A0C1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dw_array</a:t>
            </a:r>
            <a:r>
              <a:rPr lang="en-US" altLang="zh-CN" dirty="0"/>
              <a:t> DWORD 0, 1, 2, 3, 4</a:t>
            </a:r>
          </a:p>
          <a:p>
            <a:pPr marL="0" indent="0">
              <a:buNone/>
            </a:pPr>
            <a:r>
              <a:rPr lang="en-US" altLang="zh-CN" dirty="0" err="1"/>
              <a:t>array_size</a:t>
            </a:r>
            <a:r>
              <a:rPr lang="en-US" altLang="zh-CN" dirty="0"/>
              <a:t> = ($ - </a:t>
            </a:r>
            <a:r>
              <a:rPr lang="en-US" altLang="zh-CN" dirty="0" err="1"/>
              <a:t>dw_array</a:t>
            </a:r>
            <a:r>
              <a:rPr lang="en-US" altLang="zh-CN" dirty="0"/>
              <a:t>)/4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84495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49611-0DE7-4081-B86F-F24B6F4E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EQU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D015E-5DBC-4006-8F3F-0750D8025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EQU</a:t>
            </a:r>
            <a:r>
              <a:rPr lang="zh-CN" altLang="en-US" dirty="0"/>
              <a:t>伪指令将符号名与整数表达式或任意文本联系起来</a:t>
            </a:r>
            <a:endParaRPr lang="en-US" altLang="zh-CN" dirty="0"/>
          </a:p>
          <a:p>
            <a:pPr lvl="1"/>
            <a:r>
              <a:rPr lang="en-US" altLang="zh-CN" dirty="0"/>
              <a:t>name EQU expression</a:t>
            </a:r>
          </a:p>
          <a:p>
            <a:pPr lvl="1"/>
            <a:r>
              <a:rPr lang="en-US" altLang="zh-CN" dirty="0"/>
              <a:t>name EQU symbol</a:t>
            </a:r>
          </a:p>
          <a:p>
            <a:pPr lvl="1"/>
            <a:r>
              <a:rPr lang="en-US" altLang="zh-CN" dirty="0"/>
              <a:t>name EQU </a:t>
            </a:r>
            <a:r>
              <a:rPr lang="en-US" altLang="zh-CN" dirty="0">
                <a:highlight>
                  <a:srgbClr val="FFFF00"/>
                </a:highlight>
              </a:rPr>
              <a:t>&lt;text&gt;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776056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76811-CEFE-47BF-9D3C-64671F5A1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EQU 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B9FBA9-96EB-48A4-B060-812CB1710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PI </a:t>
            </a:r>
            <a:r>
              <a:rPr lang="en-US" altLang="zh-CN">
                <a:solidFill>
                  <a:srgbClr val="FF0000"/>
                </a:solidFill>
              </a:rPr>
              <a:t>EQU</a:t>
            </a:r>
            <a:r>
              <a:rPr lang="en-US" altLang="zh-CN"/>
              <a:t>  3.1415926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en-US" altLang="zh-CN" dirty="0" err="1"/>
              <a:t>press_key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EQU</a:t>
            </a:r>
            <a:r>
              <a:rPr lang="en-US" altLang="zh-CN" dirty="0"/>
              <a:t> &lt;“Press any key to continue…”, 0&gt; 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.data</a:t>
            </a:r>
          </a:p>
          <a:p>
            <a:pPr marL="0" indent="0">
              <a:buNone/>
            </a:pPr>
            <a:r>
              <a:rPr lang="en-US" altLang="zh-CN" dirty="0"/>
              <a:t>prompt BYTE </a:t>
            </a:r>
            <a:r>
              <a:rPr lang="en-US" altLang="zh-CN" dirty="0" err="1"/>
              <a:t>pressKey</a:t>
            </a:r>
            <a:r>
              <a:rPr lang="en-US" altLang="zh-CN" dirty="0"/>
              <a:t> ; </a:t>
            </a:r>
            <a:r>
              <a:rPr lang="zh-CN" altLang="en-US" dirty="0">
                <a:solidFill>
                  <a:srgbClr val="FF0000"/>
                </a:solidFill>
              </a:rPr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15541272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D688D-8D4C-45A3-BB98-593AD856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EQU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2299A5-2BA2-498E-9D88-937DE314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EQU</a:t>
            </a:r>
            <a:r>
              <a:rPr lang="zh-CN" altLang="en-US"/>
              <a:t>伪指令的符号名，不能</a:t>
            </a:r>
            <a:r>
              <a:rPr lang="zh-CN" altLang="en-US" dirty="0"/>
              <a:t>在程序中重定义</a:t>
            </a:r>
            <a:endParaRPr lang="en-US" altLang="zh-CN" dirty="0"/>
          </a:p>
          <a:p>
            <a:r>
              <a:rPr lang="zh-CN" altLang="en-US" dirty="0"/>
              <a:t>“</a:t>
            </a:r>
            <a:r>
              <a:rPr lang="en-US" altLang="zh-CN" dirty="0"/>
              <a:t>=</a:t>
            </a:r>
            <a:r>
              <a:rPr lang="zh-CN" altLang="en-US"/>
              <a:t>”伪指令的符号名，可以</a:t>
            </a:r>
            <a:r>
              <a:rPr lang="zh-CN" altLang="en-US" dirty="0"/>
              <a:t>在程序中重定义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24936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D688D-8D4C-45A3-BB98-593AD856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TEXTEQU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2299A5-2BA2-498E-9D88-937DE314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/>
              <a:t>TEXTEQU</a:t>
            </a:r>
            <a:r>
              <a:rPr lang="zh-CN" altLang="en-US" dirty="0"/>
              <a:t>伪指令与</a:t>
            </a:r>
            <a:r>
              <a:rPr lang="en-US" altLang="zh-CN" dirty="0"/>
              <a:t>EQU</a:t>
            </a:r>
            <a:r>
              <a:rPr lang="zh-CN" altLang="en-US" dirty="0"/>
              <a:t>非常相似，同样可以用来创建文本宏（</a:t>
            </a:r>
            <a:r>
              <a:rPr lang="en-US" altLang="zh-CN" dirty="0"/>
              <a:t>text macro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它有三种不同的使用格式：第一种格式会将文本赋值给符号；第二种格式则将已定义的文本宏内容赋值给符号；第三种格式将整数表达式常量赋值给符号。</a:t>
            </a:r>
            <a:endParaRPr lang="en-US" altLang="zh-CN" dirty="0"/>
          </a:p>
          <a:p>
            <a:r>
              <a:rPr lang="en-US" altLang="zh-CN" dirty="0"/>
              <a:t>name TEXTEQU &lt;text&gt;</a:t>
            </a:r>
          </a:p>
          <a:p>
            <a:r>
              <a:rPr lang="en-US" altLang="zh-CN" dirty="0"/>
              <a:t>name TEXTEQU </a:t>
            </a:r>
            <a:r>
              <a:rPr lang="en-US" altLang="zh-CN" dirty="0" err="1"/>
              <a:t>textmacro</a:t>
            </a:r>
            <a:endParaRPr lang="en-US" altLang="zh-CN" dirty="0"/>
          </a:p>
          <a:p>
            <a:r>
              <a:rPr lang="en-US" altLang="zh-CN" dirty="0"/>
              <a:t>name TEXTEQU %</a:t>
            </a:r>
            <a:r>
              <a:rPr lang="en-US" altLang="zh-CN" dirty="0" err="1"/>
              <a:t>constExpr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92133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汇编、链接和运行程序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27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B3D82-B903-4424-8C00-0341276CC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汇编、链接和运行程序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7AB5A3-ECC5-4B8E-8B66-933D0FD84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源文件</a:t>
            </a:r>
            <a:r>
              <a:rPr lang="zh-CN" altLang="en-US" dirty="0"/>
              <a:t>：用文本编辑器编写的</a:t>
            </a:r>
            <a:r>
              <a:rPr lang="en-US" altLang="zh-CN" dirty="0" err="1"/>
              <a:t>asm</a:t>
            </a:r>
            <a:r>
              <a:rPr lang="zh-CN" altLang="en-US" dirty="0"/>
              <a:t>文本文件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汇编</a:t>
            </a:r>
            <a:r>
              <a:rPr lang="zh-CN" altLang="en-US" dirty="0"/>
              <a:t>：汇编器把汇编源文件翻译成机器语言，生成</a:t>
            </a:r>
            <a:r>
              <a:rPr lang="zh-CN" altLang="en-US" dirty="0">
                <a:solidFill>
                  <a:srgbClr val="FF0000"/>
                </a:solidFill>
              </a:rPr>
              <a:t>目标文件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链接</a:t>
            </a:r>
            <a:r>
              <a:rPr lang="zh-CN" altLang="en-US" dirty="0"/>
              <a:t>：链接器从库中复制所需的过程，并将其同目标文件合并在一起生成</a:t>
            </a:r>
            <a:r>
              <a:rPr lang="zh-CN" altLang="en-US" dirty="0">
                <a:solidFill>
                  <a:srgbClr val="FF0000"/>
                </a:solidFill>
              </a:rPr>
              <a:t>可执行文件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53666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4508AC93-98F2-4BC7-9692-B89F2E477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113" y="738346"/>
            <a:ext cx="7345362" cy="868363"/>
          </a:xfrm>
        </p:spPr>
        <p:txBody>
          <a:bodyPr/>
          <a:lstStyle/>
          <a:p>
            <a:r>
              <a:rPr lang="en-US" altLang="zh-CN" dirty="0"/>
              <a:t>hello.asm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4457B3-30D7-49CF-9D53-5B0D10625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239" y="1813156"/>
            <a:ext cx="9120305" cy="40925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.386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.model flat, </a:t>
            </a:r>
            <a:r>
              <a:rPr lang="en-US" altLang="zh-CN" dirty="0" err="1"/>
              <a:t>stdcall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option </a:t>
            </a:r>
            <a:r>
              <a:rPr lang="en-US" altLang="zh-CN" dirty="0" err="1"/>
              <a:t>casemap</a:t>
            </a:r>
            <a:r>
              <a:rPr lang="en-US" altLang="zh-CN" dirty="0"/>
              <a:t> :none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include \masm32\include\windows.inc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include \masm32\include\kernel32.inc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include \masm32\include\masm32.inc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 err="1"/>
              <a:t>includelib</a:t>
            </a:r>
            <a:r>
              <a:rPr lang="en-US" altLang="zh-CN" dirty="0"/>
              <a:t> \masm32\lib\kernel32.lib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 err="1"/>
              <a:t>includelib</a:t>
            </a:r>
            <a:r>
              <a:rPr lang="en-US" altLang="zh-CN" dirty="0"/>
              <a:t> \masm32\lib\masm32.lib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51308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85389-4DBD-4AAD-B7F6-2DF8058F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hello.asm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888F2D-9CE6-49A5-B900-E0B509A80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.data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HelloWorld </a:t>
            </a:r>
            <a:r>
              <a:rPr lang="en-US" altLang="zh-CN" dirty="0" err="1"/>
              <a:t>db</a:t>
            </a:r>
            <a:r>
              <a:rPr lang="en-US" altLang="zh-CN" dirty="0"/>
              <a:t> "Hello World!", 0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.code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start: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invoke 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/>
              <a:t>addr</a:t>
            </a:r>
            <a:r>
              <a:rPr lang="en-US" altLang="zh-CN" dirty="0"/>
              <a:t> HelloWorld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invoke </a:t>
            </a:r>
            <a:r>
              <a:rPr lang="en-US" altLang="zh-CN" dirty="0" err="1"/>
              <a:t>ExitProcess</a:t>
            </a:r>
            <a:r>
              <a:rPr lang="en-US" altLang="zh-CN" dirty="0"/>
              <a:t>, 0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end start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9875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EDFEE-2ED4-4337-8236-EAC5C6EA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hello.asm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B3FB3-C158-49C7-AADD-B3903B41E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547179"/>
            <a:ext cx="7940675" cy="4092575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.386 </a:t>
            </a:r>
          </a:p>
          <a:p>
            <a:pPr lvl="1"/>
            <a:r>
              <a:rPr lang="zh-CN" altLang="en-US" dirty="0"/>
              <a:t>允许汇编</a:t>
            </a:r>
            <a:r>
              <a:rPr lang="en-US" altLang="zh-CN" dirty="0">
                <a:solidFill>
                  <a:srgbClr val="FF0000"/>
                </a:solidFill>
              </a:rPr>
              <a:t>80386</a:t>
            </a:r>
            <a:r>
              <a:rPr lang="zh-CN" altLang="en-US" dirty="0">
                <a:solidFill>
                  <a:srgbClr val="FF0000"/>
                </a:solidFill>
              </a:rPr>
              <a:t>处理器</a:t>
            </a:r>
            <a:r>
              <a:rPr lang="zh-CN" altLang="en-US" dirty="0"/>
              <a:t>的非特权指令，禁用其后处理器引入的汇编指令</a:t>
            </a:r>
            <a:endParaRPr lang="en-US" altLang="zh-CN" dirty="0"/>
          </a:p>
          <a:p>
            <a:r>
              <a:rPr lang="en-US" altLang="zh-CN" dirty="0"/>
              <a:t>.model </a:t>
            </a:r>
            <a:r>
              <a:rPr lang="zh-CN" altLang="en-US" dirty="0"/>
              <a:t>初始化程序的内存模式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flat</a:t>
            </a:r>
            <a:r>
              <a:rPr lang="zh-CN" altLang="en-US" dirty="0"/>
              <a:t>：平坦模式，</a:t>
            </a:r>
            <a:r>
              <a:rPr lang="en-US" altLang="zh-CN" dirty="0"/>
              <a:t>4GB</a:t>
            </a:r>
            <a:r>
              <a:rPr lang="zh-CN" altLang="en-US" dirty="0"/>
              <a:t>内存空间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stdcall</a:t>
            </a:r>
            <a:r>
              <a:rPr lang="en-US" altLang="zh-CN" dirty="0"/>
              <a:t> : </a:t>
            </a:r>
            <a:r>
              <a:rPr lang="zh-CN" altLang="en-US" dirty="0"/>
              <a:t>调用约定， </a:t>
            </a:r>
            <a:r>
              <a:rPr lang="en-US" altLang="zh-CN" dirty="0" err="1"/>
              <a:t>stdcall</a:t>
            </a:r>
            <a:r>
              <a:rPr lang="zh-CN" altLang="en-US" dirty="0"/>
              <a:t>是</a:t>
            </a:r>
            <a:r>
              <a:rPr lang="en-US" altLang="zh-CN" dirty="0">
                <a:solidFill>
                  <a:srgbClr val="FF0000"/>
                </a:solidFill>
              </a:rPr>
              <a:t>Win32 API</a:t>
            </a:r>
            <a:r>
              <a:rPr lang="zh-CN" altLang="en-US" dirty="0"/>
              <a:t>函数的调用约定</a:t>
            </a:r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08052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7FC07-AE31-4E19-9812-8DC2ABC9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hello.asm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97D66-3483-4243-AD37-94DB9BBD2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option </a:t>
            </a:r>
            <a:r>
              <a:rPr lang="en-US" altLang="zh-CN" dirty="0" err="1"/>
              <a:t>casemap</a:t>
            </a:r>
            <a:r>
              <a:rPr lang="en-US" altLang="zh-CN" dirty="0"/>
              <a:t>: none</a:t>
            </a:r>
          </a:p>
          <a:p>
            <a:pPr lvl="1"/>
            <a:r>
              <a:rPr lang="zh-CN" altLang="en-US" dirty="0"/>
              <a:t>大小写敏感</a:t>
            </a:r>
            <a:endParaRPr lang="en-US" altLang="zh-CN" dirty="0"/>
          </a:p>
          <a:p>
            <a:r>
              <a:rPr lang="en-US" altLang="zh-CN" dirty="0"/>
              <a:t>include …</a:t>
            </a:r>
            <a:r>
              <a:rPr lang="en-US" altLang="zh-CN" dirty="0" err="1"/>
              <a:t>inc</a:t>
            </a:r>
            <a:r>
              <a:rPr lang="en-US" altLang="zh-CN" dirty="0"/>
              <a:t> </a:t>
            </a:r>
            <a:r>
              <a:rPr lang="zh-CN" altLang="en-US" dirty="0"/>
              <a:t>函数的常量和声明</a:t>
            </a:r>
            <a:endParaRPr lang="en-US" altLang="zh-CN" dirty="0"/>
          </a:p>
          <a:p>
            <a:r>
              <a:rPr lang="en-US" altLang="zh-CN" dirty="0" err="1"/>
              <a:t>includelib</a:t>
            </a:r>
            <a:r>
              <a:rPr lang="en-US" altLang="zh-CN" dirty="0"/>
              <a:t> …lib </a:t>
            </a:r>
            <a:r>
              <a:rPr lang="zh-CN" altLang="en-US" dirty="0"/>
              <a:t>链接库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73911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84447-AE7C-409C-A88E-CB0DCF5F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hello.asm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F5A796-B1DC-42A5-A6DE-8FA9F6E5E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.DATA</a:t>
            </a:r>
          </a:p>
          <a:p>
            <a:pPr lvl="1"/>
            <a:r>
              <a:rPr lang="zh-CN" altLang="en-US" dirty="0"/>
              <a:t>定义已初始化数据段的开始</a:t>
            </a:r>
            <a:endParaRPr lang="en-US" altLang="zh-CN" dirty="0"/>
          </a:p>
          <a:p>
            <a:r>
              <a:rPr lang="en-US" altLang="zh-CN" dirty="0"/>
              <a:t>.CODE</a:t>
            </a:r>
          </a:p>
          <a:p>
            <a:pPr lvl="1"/>
            <a:r>
              <a:rPr lang="zh-CN" altLang="en-US" dirty="0"/>
              <a:t>定义代码段的开始</a:t>
            </a:r>
            <a:endParaRPr lang="en-US" altLang="zh-CN" dirty="0"/>
          </a:p>
          <a:p>
            <a:r>
              <a:rPr lang="en-US" altLang="zh-CN" dirty="0"/>
              <a:t>start</a:t>
            </a:r>
            <a:r>
              <a:rPr lang="zh-CN" altLang="en-US" dirty="0"/>
              <a:t>：，指令标号，标记指令地址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47939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ADDEC-3ED2-4E6C-A04D-29913322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hello.asm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833154-363C-41CF-A614-669FC3B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2042797"/>
            <a:ext cx="7940675" cy="4092575"/>
          </a:xfrm>
        </p:spPr>
        <p:txBody>
          <a:bodyPr/>
          <a:lstStyle/>
          <a:p>
            <a:r>
              <a:rPr lang="en-US" altLang="zh-CN" dirty="0" err="1">
                <a:solidFill>
                  <a:srgbClr val="FF0000"/>
                </a:solidFill>
              </a:rPr>
              <a:t>StdOut</a:t>
            </a:r>
            <a:r>
              <a:rPr lang="en-US" altLang="zh-CN" dirty="0"/>
              <a:t>, masm32.inc</a:t>
            </a:r>
            <a:r>
              <a:rPr lang="zh-CN" altLang="en-US" dirty="0"/>
              <a:t>中定义的函数，将内存数据输出到命令行窗口上</a:t>
            </a:r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ExitProcess</a:t>
            </a:r>
            <a:r>
              <a:rPr lang="zh-CN" altLang="en-US" dirty="0"/>
              <a:t>， </a:t>
            </a:r>
            <a:r>
              <a:rPr lang="en-US" altLang="zh-CN" dirty="0"/>
              <a:t>Kernel32.inc</a:t>
            </a:r>
            <a:r>
              <a:rPr lang="zh-CN" altLang="en-US" dirty="0"/>
              <a:t>中定义的函数，退出程序执行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97995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2BCFB-9E1F-449A-B20D-C200FAB3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hello.asm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CCB430-2C50-438B-8E47-E9E5C60E4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END start</a:t>
            </a:r>
          </a:p>
          <a:p>
            <a:pPr lvl="1"/>
            <a:r>
              <a:rPr lang="zh-CN" altLang="en-US" dirty="0"/>
              <a:t>标记</a:t>
            </a:r>
            <a:r>
              <a:rPr lang="zh-CN" altLang="en-US" dirty="0">
                <a:solidFill>
                  <a:srgbClr val="FF0000"/>
                </a:solidFill>
              </a:rPr>
              <a:t>模块的结束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指定</a:t>
            </a:r>
            <a:r>
              <a:rPr lang="zh-CN" altLang="en-US" dirty="0">
                <a:solidFill>
                  <a:srgbClr val="FF0000"/>
                </a:solidFill>
              </a:rPr>
              <a:t>程序的入口点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02049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FBC8A-D187-411E-A1ED-633B668A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5AC33-9184-434B-A729-BD0CF8CFB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\</a:t>
            </a:r>
            <a:r>
              <a:rPr lang="en-US" altLang="zh-CN" dirty="0" err="1"/>
              <a:t>masm</a:t>
            </a:r>
            <a:r>
              <a:rPr lang="en-US" altLang="zh-CN" dirty="0"/>
              <a:t>\bin\ml /c /</a:t>
            </a:r>
            <a:r>
              <a:rPr lang="en-US" altLang="zh-CN" dirty="0" err="1"/>
              <a:t>Zd</a:t>
            </a:r>
            <a:r>
              <a:rPr lang="en-US" altLang="zh-CN" dirty="0"/>
              <a:t> /</a:t>
            </a:r>
            <a:r>
              <a:rPr lang="en-US" altLang="zh-CN" dirty="0" err="1"/>
              <a:t>coff</a:t>
            </a:r>
            <a:r>
              <a:rPr lang="en-US" altLang="zh-CN" dirty="0"/>
              <a:t> hello.asm</a:t>
            </a:r>
          </a:p>
          <a:p>
            <a:r>
              <a:rPr lang="en-US" altLang="zh-CN" b="1" dirty="0"/>
              <a:t>ml </a:t>
            </a:r>
            <a:r>
              <a:rPr lang="zh-CN" altLang="en-US" dirty="0"/>
              <a:t>程序可以用来汇编并链接一个或多个</a:t>
            </a:r>
            <a:r>
              <a:rPr lang="zh-CN" altLang="en-US" dirty="0">
                <a:solidFill>
                  <a:srgbClr val="FF0000"/>
                </a:solidFill>
              </a:rPr>
              <a:t>汇编语言源文件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ml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命令行选项</a:t>
            </a:r>
            <a:r>
              <a:rPr lang="zh-CN" altLang="en-US" dirty="0"/>
              <a:t>是大小写敏感的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264579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90101-B60D-4D43-BA33-C0BF373F0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7A605-4FBC-47F5-AA0D-4848C41D4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592899"/>
            <a:ext cx="7940675" cy="4092575"/>
          </a:xfrm>
        </p:spPr>
        <p:txBody>
          <a:bodyPr/>
          <a:lstStyle/>
          <a:p>
            <a:r>
              <a:rPr lang="en-US" altLang="zh-CN" b="1" dirty="0"/>
              <a:t>/c  </a:t>
            </a:r>
            <a:r>
              <a:rPr lang="en-US" altLang="zh-CN" dirty="0"/>
              <a:t>Assemble without linking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只编译、不链接</a:t>
            </a:r>
            <a:endParaRPr lang="en-US" altLang="zh-CN" dirty="0"/>
          </a:p>
          <a:p>
            <a:r>
              <a:rPr lang="en-US" altLang="zh-CN" b="1" dirty="0"/>
              <a:t>/</a:t>
            </a:r>
            <a:r>
              <a:rPr lang="en-US" altLang="zh-CN" b="1" dirty="0" err="1"/>
              <a:t>Zd</a:t>
            </a:r>
            <a:r>
              <a:rPr lang="en-US" altLang="zh-CN" b="1" dirty="0"/>
              <a:t> </a:t>
            </a:r>
            <a:r>
              <a:rPr lang="en-US" altLang="zh-CN" dirty="0"/>
              <a:t>Add line number debug info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在目标文件中生成行号信息</a:t>
            </a:r>
            <a:endParaRPr lang="en-US" altLang="zh-CN" dirty="0"/>
          </a:p>
          <a:p>
            <a:r>
              <a:rPr lang="en-US" altLang="zh-CN" b="1" dirty="0"/>
              <a:t>/</a:t>
            </a:r>
            <a:r>
              <a:rPr lang="en-US" altLang="zh-CN" b="1" dirty="0" err="1"/>
              <a:t>coff</a:t>
            </a:r>
            <a:r>
              <a:rPr lang="en-US" altLang="zh-CN" b="1" dirty="0"/>
              <a:t> </a:t>
            </a:r>
            <a:r>
              <a:rPr lang="en-US" altLang="zh-CN" dirty="0"/>
              <a:t>generate COFF format object file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生成</a:t>
            </a:r>
            <a:r>
              <a:rPr lang="en-US" altLang="zh-CN" dirty="0"/>
              <a:t>Microsoft</a:t>
            </a:r>
            <a:r>
              <a:rPr lang="zh-CN" altLang="en-US" dirty="0"/>
              <a:t>公共目标文件格式（</a:t>
            </a:r>
            <a:r>
              <a:rPr lang="en-US" altLang="zh-CN" dirty="0"/>
              <a:t>common object file format</a:t>
            </a:r>
            <a:r>
              <a:rPr lang="zh-CN" altLang="en-US" dirty="0"/>
              <a:t>）的文件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34379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28144-96CB-4AAE-8F61-A08EECA1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9CAD79-8D7C-4E45-9317-FEF6305E9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\masm32\bin\Link /SUBSYSTEM:CONSOLE hello.obj</a:t>
            </a:r>
          </a:p>
          <a:p>
            <a:r>
              <a:rPr lang="en-US" altLang="zh-CN" dirty="0"/>
              <a:t>Link.exe</a:t>
            </a:r>
            <a:r>
              <a:rPr lang="zh-CN" altLang="en-US" dirty="0"/>
              <a:t> 链接器，将</a:t>
            </a:r>
            <a:r>
              <a:rPr lang="en-US" altLang="zh-CN" dirty="0"/>
              <a:t>obj</a:t>
            </a:r>
            <a:r>
              <a:rPr lang="zh-CN" altLang="en-US" dirty="0"/>
              <a:t>文件合并，生成可执行文件</a:t>
            </a:r>
            <a:endParaRPr lang="en-US" altLang="zh-CN" dirty="0"/>
          </a:p>
          <a:p>
            <a:r>
              <a:rPr lang="en-US" altLang="zh-CN" dirty="0"/>
              <a:t>/SUBSYSTEM:CONSOLE</a:t>
            </a:r>
            <a:r>
              <a:rPr lang="zh-CN" altLang="en-US" dirty="0"/>
              <a:t>，生成命令行程序</a:t>
            </a:r>
          </a:p>
        </p:txBody>
      </p:sp>
    </p:spTree>
    <p:extLst>
      <p:ext uri="{BB962C8B-B14F-4D97-AF65-F5344CB8AC3E}">
        <p14:creationId xmlns:p14="http://schemas.microsoft.com/office/powerpoint/2010/main" val="8886963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本章学习的知识点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汇编语言的基本元素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定义数据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符号常量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汇编、链接和运行程序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00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3</a:t>
            </a:r>
            <a:r>
              <a:rPr lang="zh-CN" altLang="en-US" sz="3600" b="1" dirty="0">
                <a:solidFill>
                  <a:srgbClr val="7030A0"/>
                </a:solidFill>
              </a:rPr>
              <a:t>章 汇编语言基础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</a:t>
            </a:r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05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ONYMOUSPOLLING" val="False"/>
  <p:tag name="RAINPROBLEMTYPE" val="MultipleChoice"/>
  <p:tag name="RAINPROBLEM" val="MultipleChoice"/>
  <p:tag name="PROBLEMSCORE" val="1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0.0"/>
  <p:tag name="PROBLEMBLANK" val="[{&quot;num&quot;:1,&quot;caseSensitive&quot;:false,&quot;fuzzyMatch&quot;:false,&quot;Score&quot;:10.0,&quot;answers&quot;:[&quot;10&quot;]}]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0.0"/>
  <p:tag name="PROBLEMBLANK" val="[{&quot;num&quot;:1,&quot;caseSensitive&quot;:false,&quot;fuzzyMatch&quot;:true,&quot;Score&quot;:10.0,&quot;answers&quot;:[&quot;BYTE 50 DUP（“TEST”）&quot;]}]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400TGp_globalcity_light_ani">
  <a:themeElements>
    <a:clrScheme name="400TGp_globalcity_light_ani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400TGp_globalcity_light_a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400TGp_globalcity_light_ani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00TGp_globalcity_light_ani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00TGp_globalcity_light_ani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1932</TotalTime>
  <Words>2564</Words>
  <Application>Microsoft Office PowerPoint</Application>
  <PresentationFormat>宽屏</PresentationFormat>
  <Paragraphs>426</Paragraphs>
  <Slides>80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80</vt:i4>
      </vt:variant>
    </vt:vector>
  </HeadingPairs>
  <TitlesOfParts>
    <vt:vector size="91" baseType="lpstr">
      <vt:lpstr>DengXian</vt:lpstr>
      <vt:lpstr>DengXian</vt:lpstr>
      <vt:lpstr>黑体</vt:lpstr>
      <vt:lpstr>宋体</vt:lpstr>
      <vt:lpstr>Microsoft Yahei</vt:lpstr>
      <vt:lpstr>Arial</vt:lpstr>
      <vt:lpstr>Calibri</vt:lpstr>
      <vt:lpstr>Times New Roman</vt:lpstr>
      <vt:lpstr>Wingdings</vt:lpstr>
      <vt:lpstr>1_400TGp_globalcity_light_ani</vt:lpstr>
      <vt:lpstr>2_400TGp_globalcity_light_ani</vt:lpstr>
      <vt:lpstr>汇编语言与逆向技术 第3章 汇编语言基础</vt:lpstr>
      <vt:lpstr>本章知识点</vt:lpstr>
      <vt:lpstr>Hello World实验的问题</vt:lpstr>
      <vt:lpstr>打开cmd命令行窗口</vt:lpstr>
      <vt:lpstr>当前路径</vt:lpstr>
      <vt:lpstr>绝对路径</vt:lpstr>
      <vt:lpstr>相对路径</vt:lpstr>
      <vt:lpstr>查看目录中的文件列表</vt:lpstr>
      <vt:lpstr>PowerPoint 演示文稿</vt:lpstr>
      <vt:lpstr>遇到的路径问题</vt:lpstr>
      <vt:lpstr>汇编语言的基本元素</vt:lpstr>
      <vt:lpstr>汇编语言的基本元素</vt:lpstr>
      <vt:lpstr>整数常量</vt:lpstr>
      <vt:lpstr>整数常量</vt:lpstr>
      <vt:lpstr>PowerPoint 演示文稿</vt:lpstr>
      <vt:lpstr>整数表达式</vt:lpstr>
      <vt:lpstr>整数表达式</vt:lpstr>
      <vt:lpstr>PowerPoint 演示文稿</vt:lpstr>
      <vt:lpstr>实数常量</vt:lpstr>
      <vt:lpstr>十进制实数常量</vt:lpstr>
      <vt:lpstr>编码实数</vt:lpstr>
      <vt:lpstr>字符常量</vt:lpstr>
      <vt:lpstr>字符串常量</vt:lpstr>
      <vt:lpstr>保留字</vt:lpstr>
      <vt:lpstr>标识符</vt:lpstr>
      <vt:lpstr>PowerPoint 演示文稿</vt:lpstr>
      <vt:lpstr>指令</vt:lpstr>
      <vt:lpstr>标号</vt:lpstr>
      <vt:lpstr>数据标号</vt:lpstr>
      <vt:lpstr>OFFSET</vt:lpstr>
      <vt:lpstr>代码标号</vt:lpstr>
      <vt:lpstr>PowerPoint 演示文稿</vt:lpstr>
      <vt:lpstr>指令助记符</vt:lpstr>
      <vt:lpstr>操作数</vt:lpstr>
      <vt:lpstr>PowerPoint 演示文稿</vt:lpstr>
      <vt:lpstr>操作数</vt:lpstr>
      <vt:lpstr>注释</vt:lpstr>
      <vt:lpstr>NOP指令</vt:lpstr>
      <vt:lpstr>伪指令</vt:lpstr>
      <vt:lpstr>伪指令</vt:lpstr>
      <vt:lpstr>伪指令</vt:lpstr>
      <vt:lpstr>PowerPoint 演示文稿</vt:lpstr>
      <vt:lpstr>定义数据</vt:lpstr>
      <vt:lpstr>内部数据类型</vt:lpstr>
      <vt:lpstr>内部数据类型</vt:lpstr>
      <vt:lpstr>数据定义语句</vt:lpstr>
      <vt:lpstr>数据定义伪指令</vt:lpstr>
      <vt:lpstr>初始值</vt:lpstr>
      <vt:lpstr>数据声明的位置</vt:lpstr>
      <vt:lpstr>定义字符串</vt:lpstr>
      <vt:lpstr>DUP伪指令</vt:lpstr>
      <vt:lpstr>定义WORD和SWORD数据</vt:lpstr>
      <vt:lpstr>定义DWORD和SDWORD数据</vt:lpstr>
      <vt:lpstr>定义QWORD数据和TBYTE数据</vt:lpstr>
      <vt:lpstr>定义实数</vt:lpstr>
      <vt:lpstr>PowerPoint 演示文稿</vt:lpstr>
      <vt:lpstr>符号常量</vt:lpstr>
      <vt:lpstr>符号常量</vt:lpstr>
      <vt:lpstr>等号伪指令</vt:lpstr>
      <vt:lpstr>计算数组和字符串的大小</vt:lpstr>
      <vt:lpstr>计算字符串大小</vt:lpstr>
      <vt:lpstr>计算数组大小</vt:lpstr>
      <vt:lpstr>EQU伪指令</vt:lpstr>
      <vt:lpstr>EQU 伪指令</vt:lpstr>
      <vt:lpstr>EQU伪指令</vt:lpstr>
      <vt:lpstr>TEXTEQU伪指令</vt:lpstr>
      <vt:lpstr>汇编、链接和运行程序</vt:lpstr>
      <vt:lpstr>汇编、链接和运行程序</vt:lpstr>
      <vt:lpstr>hello.asm</vt:lpstr>
      <vt:lpstr>hello.asm</vt:lpstr>
      <vt:lpstr>hello.asm</vt:lpstr>
      <vt:lpstr>hello.asm</vt:lpstr>
      <vt:lpstr>hello.asm</vt:lpstr>
      <vt:lpstr>hello.asm</vt:lpstr>
      <vt:lpstr>hello.asm</vt:lpstr>
      <vt:lpstr>编译</vt:lpstr>
      <vt:lpstr>编译</vt:lpstr>
      <vt:lpstr>链接</vt:lpstr>
      <vt:lpstr>本章学习的知识点</vt:lpstr>
      <vt:lpstr>汇编语言与逆向技术 第3章 汇编语言基础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第2章 IA-32处理器体系结构</dc:title>
  <dc:creator>zwang</dc:creator>
  <cp:lastModifiedBy>志 王</cp:lastModifiedBy>
  <cp:revision>189</cp:revision>
  <dcterms:created xsi:type="dcterms:W3CDTF">2020-03-01T14:18:02Z</dcterms:created>
  <dcterms:modified xsi:type="dcterms:W3CDTF">2026-01-04T09:11:02Z</dcterms:modified>
</cp:coreProperties>
</file>