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2" r:id="rId1"/>
  </p:sldMasterIdLst>
  <p:notesMasterIdLst>
    <p:notesMasterId r:id="rId87"/>
  </p:notesMasterIdLst>
  <p:sldIdLst>
    <p:sldId id="830" r:id="rId2"/>
    <p:sldId id="508" r:id="rId3"/>
    <p:sldId id="668" r:id="rId4"/>
    <p:sldId id="356" r:id="rId5"/>
    <p:sldId id="266" r:id="rId6"/>
    <p:sldId id="541" r:id="rId7"/>
    <p:sldId id="543" r:id="rId8"/>
    <p:sldId id="542" r:id="rId9"/>
    <p:sldId id="544" r:id="rId10"/>
    <p:sldId id="545" r:id="rId11"/>
    <p:sldId id="546" r:id="rId12"/>
    <p:sldId id="547" r:id="rId13"/>
    <p:sldId id="548" r:id="rId14"/>
    <p:sldId id="551" r:id="rId15"/>
    <p:sldId id="552" r:id="rId16"/>
    <p:sldId id="617" r:id="rId17"/>
    <p:sldId id="549" r:id="rId18"/>
    <p:sldId id="550" r:id="rId19"/>
    <p:sldId id="553" r:id="rId20"/>
    <p:sldId id="612" r:id="rId21"/>
    <p:sldId id="555" r:id="rId22"/>
    <p:sldId id="558" r:id="rId23"/>
    <p:sldId id="559" r:id="rId24"/>
    <p:sldId id="560" r:id="rId25"/>
    <p:sldId id="561" r:id="rId26"/>
    <p:sldId id="562" r:id="rId27"/>
    <p:sldId id="563" r:id="rId28"/>
    <p:sldId id="564" r:id="rId29"/>
    <p:sldId id="565" r:id="rId30"/>
    <p:sldId id="566" r:id="rId31"/>
    <p:sldId id="567" r:id="rId32"/>
    <p:sldId id="571" r:id="rId33"/>
    <p:sldId id="572" r:id="rId34"/>
    <p:sldId id="573" r:id="rId35"/>
    <p:sldId id="574" r:id="rId36"/>
    <p:sldId id="575" r:id="rId37"/>
    <p:sldId id="577" r:id="rId38"/>
    <p:sldId id="578" r:id="rId39"/>
    <p:sldId id="568" r:id="rId40"/>
    <p:sldId id="576" r:id="rId41"/>
    <p:sldId id="579" r:id="rId42"/>
    <p:sldId id="620" r:id="rId43"/>
    <p:sldId id="580" r:id="rId44"/>
    <p:sldId id="581" r:id="rId45"/>
    <p:sldId id="615" r:id="rId46"/>
    <p:sldId id="583" r:id="rId47"/>
    <p:sldId id="584" r:id="rId48"/>
    <p:sldId id="618" r:id="rId49"/>
    <p:sldId id="616" r:id="rId50"/>
    <p:sldId id="585" r:id="rId51"/>
    <p:sldId id="586" r:id="rId52"/>
    <p:sldId id="587" r:id="rId53"/>
    <p:sldId id="588" r:id="rId54"/>
    <p:sldId id="589" r:id="rId55"/>
    <p:sldId id="590" r:id="rId56"/>
    <p:sldId id="591" r:id="rId57"/>
    <p:sldId id="592" r:id="rId58"/>
    <p:sldId id="593" r:id="rId59"/>
    <p:sldId id="594" r:id="rId60"/>
    <p:sldId id="595" r:id="rId61"/>
    <p:sldId id="596" r:id="rId62"/>
    <p:sldId id="670" r:id="rId63"/>
    <p:sldId id="672" r:id="rId64"/>
    <p:sldId id="673" r:id="rId65"/>
    <p:sldId id="669" r:id="rId66"/>
    <p:sldId id="569" r:id="rId67"/>
    <p:sldId id="570" r:id="rId68"/>
    <p:sldId id="597" r:id="rId69"/>
    <p:sldId id="598" r:id="rId70"/>
    <p:sldId id="602" r:id="rId71"/>
    <p:sldId id="599" r:id="rId72"/>
    <p:sldId id="604" r:id="rId73"/>
    <p:sldId id="600" r:id="rId74"/>
    <p:sldId id="603" r:id="rId75"/>
    <p:sldId id="605" r:id="rId76"/>
    <p:sldId id="606" r:id="rId77"/>
    <p:sldId id="607" r:id="rId78"/>
    <p:sldId id="608" r:id="rId79"/>
    <p:sldId id="609" r:id="rId80"/>
    <p:sldId id="610" r:id="rId81"/>
    <p:sldId id="611" r:id="rId82"/>
    <p:sldId id="613" r:id="rId83"/>
    <p:sldId id="614" r:id="rId84"/>
    <p:sldId id="540" r:id="rId85"/>
    <p:sldId id="831" r:id="rId8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80607" autoAdjust="0"/>
  </p:normalViewPr>
  <p:slideViewPr>
    <p:cSldViewPr snapToGrid="0" snapToObjects="1">
      <p:cViewPr varScale="1">
        <p:scale>
          <a:sx n="77" d="100"/>
          <a:sy n="77" d="100"/>
        </p:scale>
        <p:origin x="453" y="2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12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48" d="100"/>
          <a:sy n="48" d="100"/>
        </p:scale>
        <p:origin x="218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B8E9B-9938-FE4B-AE28-1C6AC5DA2731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215D2-4FF9-AF41-91A8-41FD4B9A92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177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303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85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9638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044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00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273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19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1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03299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C764DE79-268F-4C1A-8933-263129D2AF90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32" descr="7">
            <a:extLst>
              <a:ext uri="{FF2B5EF4-FFF2-40B4-BE49-F238E27FC236}">
                <a16:creationId xmlns:a16="http://schemas.microsoft.com/office/drawing/2014/main" id="{22F9D828-182C-41CE-8E67-263E1A1F04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534" y="6165851"/>
            <a:ext cx="2785533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1" descr="6">
            <a:extLst>
              <a:ext uri="{FF2B5EF4-FFF2-40B4-BE49-F238E27FC236}">
                <a16:creationId xmlns:a16="http://schemas.microsoft.com/office/drawing/2014/main" id="{890F9D2E-2EBD-420A-82C9-D3D5161BAF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695700" cy="90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6" descr="2">
            <a:extLst>
              <a:ext uri="{FF2B5EF4-FFF2-40B4-BE49-F238E27FC236}">
                <a16:creationId xmlns:a16="http://schemas.microsoft.com/office/drawing/2014/main" id="{CC442270-7934-43B5-8BD8-62858C2E06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441326"/>
            <a:ext cx="4656667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4">
            <a:extLst>
              <a:ext uri="{FF2B5EF4-FFF2-40B4-BE49-F238E27FC236}">
                <a16:creationId xmlns:a16="http://schemas.microsoft.com/office/drawing/2014/main" id="{EC94665A-0A68-4C21-9146-4D32B5C24C20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1"/>
            <a:ext cx="12192000" cy="1484313"/>
          </a:xfrm>
          <a:prstGeom prst="rect">
            <a:avLst/>
          </a:prstGeom>
          <a:gradFill rotWithShape="1">
            <a:gsLst>
              <a:gs pos="0">
                <a:srgbClr val="3366FF">
                  <a:alpha val="60001"/>
                </a:srgbClr>
              </a:gs>
              <a:gs pos="100000">
                <a:srgbClr val="FFFFFF">
                  <a:alpha val="70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29" descr="artplus_nature_naturalcity42_f">
            <a:extLst>
              <a:ext uri="{FF2B5EF4-FFF2-40B4-BE49-F238E27FC236}">
                <a16:creationId xmlns:a16="http://schemas.microsoft.com/office/drawing/2014/main" id="{70E4302E-F428-473B-AE48-3082CA6A3B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417" y="6334126"/>
            <a:ext cx="1826683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00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6" r:id="rId3"/>
    <p:sldLayoutId id="2147483729" r:id="rId4"/>
    <p:sldLayoutId id="2147483734" r:id="rId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6.tm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10" Type="http://schemas.openxmlformats.org/officeDocument/2006/relationships/tags" Target="../tags/tag29.xml"/><Relationship Id="rId19" Type="http://schemas.openxmlformats.org/officeDocument/2006/relationships/image" Target="../media/image6.tmp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image" Target="../media/image6.tmp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18" Type="http://schemas.openxmlformats.org/officeDocument/2006/relationships/tags" Target="../tags/tag71.xml"/><Relationship Id="rId3" Type="http://schemas.openxmlformats.org/officeDocument/2006/relationships/tags" Target="../tags/tag56.xml"/><Relationship Id="rId21" Type="http://schemas.openxmlformats.org/officeDocument/2006/relationships/slideLayout" Target="../slideLayouts/slideLayout4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20" Type="http://schemas.openxmlformats.org/officeDocument/2006/relationships/tags" Target="../tags/tag73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19" Type="http://schemas.openxmlformats.org/officeDocument/2006/relationships/tags" Target="../tags/tag72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Relationship Id="rId22" Type="http://schemas.openxmlformats.org/officeDocument/2006/relationships/image" Target="../media/image6.tm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image" Target="../media/image6.tmp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78.xml"/><Relationship Id="rId10" Type="http://schemas.openxmlformats.org/officeDocument/2006/relationships/tags" Target="../tags/tag83.xml"/><Relationship Id="rId4" Type="http://schemas.openxmlformats.org/officeDocument/2006/relationships/tags" Target="../tags/tag77.xml"/><Relationship Id="rId9" Type="http://schemas.openxmlformats.org/officeDocument/2006/relationships/tags" Target="../tags/tag8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image" Target="../media/image6.tmp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88.xml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01.xml"/><Relationship Id="rId3" Type="http://schemas.openxmlformats.org/officeDocument/2006/relationships/tags" Target="../tags/tag96.xml"/><Relationship Id="rId7" Type="http://schemas.openxmlformats.org/officeDocument/2006/relationships/tags" Target="../tags/tag100.xml"/><Relationship Id="rId12" Type="http://schemas.openxmlformats.org/officeDocument/2006/relationships/image" Target="../media/image6.tmp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98.xml"/><Relationship Id="rId10" Type="http://schemas.openxmlformats.org/officeDocument/2006/relationships/tags" Target="../tags/tag103.xml"/><Relationship Id="rId4" Type="http://schemas.openxmlformats.org/officeDocument/2006/relationships/tags" Target="../tags/tag97.xml"/><Relationship Id="rId9" Type="http://schemas.openxmlformats.org/officeDocument/2006/relationships/tags" Target="../tags/tag10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image" Target="../media/image6.tmp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108.xml"/><Relationship Id="rId10" Type="http://schemas.openxmlformats.org/officeDocument/2006/relationships/tags" Target="../tags/tag113.xml"/><Relationship Id="rId4" Type="http://schemas.openxmlformats.org/officeDocument/2006/relationships/tags" Target="../tags/tag107.xml"/><Relationship Id="rId9" Type="http://schemas.openxmlformats.org/officeDocument/2006/relationships/tags" Target="../tags/tag1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13" Type="http://schemas.openxmlformats.org/officeDocument/2006/relationships/tags" Target="../tags/tag126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tags" Target="../tags/tag125.xml"/><Relationship Id="rId17" Type="http://schemas.openxmlformats.org/officeDocument/2006/relationships/tags" Target="../tags/tag130.xml"/><Relationship Id="rId2" Type="http://schemas.openxmlformats.org/officeDocument/2006/relationships/tags" Target="../tags/tag115.xml"/><Relationship Id="rId16" Type="http://schemas.openxmlformats.org/officeDocument/2006/relationships/tags" Target="../tags/tag129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5" Type="http://schemas.openxmlformats.org/officeDocument/2006/relationships/tags" Target="../tags/tag118.xml"/><Relationship Id="rId15" Type="http://schemas.openxmlformats.org/officeDocument/2006/relationships/tags" Target="../tags/tag128.xml"/><Relationship Id="rId10" Type="http://schemas.openxmlformats.org/officeDocument/2006/relationships/tags" Target="../tags/tag123.xml"/><Relationship Id="rId19" Type="http://schemas.openxmlformats.org/officeDocument/2006/relationships/image" Target="../media/image6.tmp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tags" Target="../tags/tag12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13" Type="http://schemas.openxmlformats.org/officeDocument/2006/relationships/tags" Target="../tags/tag143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tags" Target="../tags/tag142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tags" Target="../tags/tag141.xml"/><Relationship Id="rId5" Type="http://schemas.openxmlformats.org/officeDocument/2006/relationships/tags" Target="../tags/tag135.xml"/><Relationship Id="rId15" Type="http://schemas.openxmlformats.org/officeDocument/2006/relationships/image" Target="../media/image6.tmp"/><Relationship Id="rId10" Type="http://schemas.openxmlformats.org/officeDocument/2006/relationships/tags" Target="../tags/tag140.xml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4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12" Type="http://schemas.openxmlformats.org/officeDocument/2006/relationships/image" Target="../media/image6.tmp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148.xml"/><Relationship Id="rId10" Type="http://schemas.openxmlformats.org/officeDocument/2006/relationships/tags" Target="../tags/tag153.xml"/><Relationship Id="rId4" Type="http://schemas.openxmlformats.org/officeDocument/2006/relationships/tags" Target="../tags/tag147.xml"/><Relationship Id="rId9" Type="http://schemas.openxmlformats.org/officeDocument/2006/relationships/tags" Target="../tags/tag15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161.xml"/><Relationship Id="rId3" Type="http://schemas.openxmlformats.org/officeDocument/2006/relationships/tags" Target="../tags/tag156.xml"/><Relationship Id="rId7" Type="http://schemas.openxmlformats.org/officeDocument/2006/relationships/tags" Target="../tags/tag160.xml"/><Relationship Id="rId12" Type="http://schemas.openxmlformats.org/officeDocument/2006/relationships/image" Target="../media/image6.tmp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158.xml"/><Relationship Id="rId10" Type="http://schemas.openxmlformats.org/officeDocument/2006/relationships/tags" Target="../tags/tag163.xml"/><Relationship Id="rId4" Type="http://schemas.openxmlformats.org/officeDocument/2006/relationships/tags" Target="../tags/tag157.xml"/><Relationship Id="rId9" Type="http://schemas.openxmlformats.org/officeDocument/2006/relationships/tags" Target="../tags/tag16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12" Type="http://schemas.openxmlformats.org/officeDocument/2006/relationships/image" Target="../media/image6.tmp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168.xml"/><Relationship Id="rId10" Type="http://schemas.openxmlformats.org/officeDocument/2006/relationships/tags" Target="../tags/tag173.xml"/><Relationship Id="rId4" Type="http://schemas.openxmlformats.org/officeDocument/2006/relationships/tags" Target="../tags/tag167.xml"/><Relationship Id="rId9" Type="http://schemas.openxmlformats.org/officeDocument/2006/relationships/tags" Target="../tags/tag17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tags" Target="../tags/tag181.xml"/><Relationship Id="rId3" Type="http://schemas.openxmlformats.org/officeDocument/2006/relationships/tags" Target="../tags/tag176.xml"/><Relationship Id="rId7" Type="http://schemas.openxmlformats.org/officeDocument/2006/relationships/tags" Target="../tags/tag180.xml"/><Relationship Id="rId12" Type="http://schemas.openxmlformats.org/officeDocument/2006/relationships/image" Target="../media/image6.tmp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tags" Target="../tags/tag179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178.xml"/><Relationship Id="rId10" Type="http://schemas.openxmlformats.org/officeDocument/2006/relationships/tags" Target="../tags/tag183.xml"/><Relationship Id="rId4" Type="http://schemas.openxmlformats.org/officeDocument/2006/relationships/tags" Target="../tags/tag177.xml"/><Relationship Id="rId9" Type="http://schemas.openxmlformats.org/officeDocument/2006/relationships/tags" Target="../tags/tag18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13" Type="http://schemas.openxmlformats.org/officeDocument/2006/relationships/tags" Target="../tags/tag196.xml"/><Relationship Id="rId18" Type="http://schemas.openxmlformats.org/officeDocument/2006/relationships/tags" Target="../tags/tag201.xml"/><Relationship Id="rId3" Type="http://schemas.openxmlformats.org/officeDocument/2006/relationships/tags" Target="../tags/tag186.xml"/><Relationship Id="rId21" Type="http://schemas.openxmlformats.org/officeDocument/2006/relationships/slideLayout" Target="../slideLayouts/slideLayout4.xml"/><Relationship Id="rId7" Type="http://schemas.openxmlformats.org/officeDocument/2006/relationships/tags" Target="../tags/tag190.xml"/><Relationship Id="rId12" Type="http://schemas.openxmlformats.org/officeDocument/2006/relationships/tags" Target="../tags/tag195.xml"/><Relationship Id="rId17" Type="http://schemas.openxmlformats.org/officeDocument/2006/relationships/tags" Target="../tags/tag200.xml"/><Relationship Id="rId2" Type="http://schemas.openxmlformats.org/officeDocument/2006/relationships/tags" Target="../tags/tag185.xml"/><Relationship Id="rId16" Type="http://schemas.openxmlformats.org/officeDocument/2006/relationships/tags" Target="../tags/tag199.xml"/><Relationship Id="rId20" Type="http://schemas.openxmlformats.org/officeDocument/2006/relationships/tags" Target="../tags/tag203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11" Type="http://schemas.openxmlformats.org/officeDocument/2006/relationships/tags" Target="../tags/tag194.xml"/><Relationship Id="rId5" Type="http://schemas.openxmlformats.org/officeDocument/2006/relationships/tags" Target="../tags/tag188.xml"/><Relationship Id="rId15" Type="http://schemas.openxmlformats.org/officeDocument/2006/relationships/tags" Target="../tags/tag198.xml"/><Relationship Id="rId10" Type="http://schemas.openxmlformats.org/officeDocument/2006/relationships/tags" Target="../tags/tag193.xml"/><Relationship Id="rId19" Type="http://schemas.openxmlformats.org/officeDocument/2006/relationships/tags" Target="../tags/tag202.xml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4" Type="http://schemas.openxmlformats.org/officeDocument/2006/relationships/tags" Target="../tags/tag197.xml"/><Relationship Id="rId22" Type="http://schemas.openxmlformats.org/officeDocument/2006/relationships/image" Target="../media/image6.tmp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tags" Target="../tags/tag211.xml"/><Relationship Id="rId13" Type="http://schemas.openxmlformats.org/officeDocument/2006/relationships/tags" Target="../tags/tag216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206.xml"/><Relationship Id="rId7" Type="http://schemas.openxmlformats.org/officeDocument/2006/relationships/tags" Target="../tags/tag210.xml"/><Relationship Id="rId12" Type="http://schemas.openxmlformats.org/officeDocument/2006/relationships/tags" Target="../tags/tag215.xml"/><Relationship Id="rId17" Type="http://schemas.openxmlformats.org/officeDocument/2006/relationships/tags" Target="../tags/tag220.xml"/><Relationship Id="rId2" Type="http://schemas.openxmlformats.org/officeDocument/2006/relationships/tags" Target="../tags/tag205.xml"/><Relationship Id="rId16" Type="http://schemas.openxmlformats.org/officeDocument/2006/relationships/tags" Target="../tags/tag219.xml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11" Type="http://schemas.openxmlformats.org/officeDocument/2006/relationships/tags" Target="../tags/tag214.xml"/><Relationship Id="rId5" Type="http://schemas.openxmlformats.org/officeDocument/2006/relationships/tags" Target="../tags/tag208.xml"/><Relationship Id="rId15" Type="http://schemas.openxmlformats.org/officeDocument/2006/relationships/tags" Target="../tags/tag218.xml"/><Relationship Id="rId10" Type="http://schemas.openxmlformats.org/officeDocument/2006/relationships/tags" Target="../tags/tag213.xml"/><Relationship Id="rId19" Type="http://schemas.openxmlformats.org/officeDocument/2006/relationships/image" Target="../media/image6.tmp"/><Relationship Id="rId4" Type="http://schemas.openxmlformats.org/officeDocument/2006/relationships/tags" Target="../tags/tag207.xml"/><Relationship Id="rId9" Type="http://schemas.openxmlformats.org/officeDocument/2006/relationships/tags" Target="../tags/tag212.xml"/><Relationship Id="rId14" Type="http://schemas.openxmlformats.org/officeDocument/2006/relationships/tags" Target="../tags/tag21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4</a:t>
            </a:r>
            <a:r>
              <a:rPr lang="zh-CN" altLang="en-US" sz="3600" b="1" dirty="0">
                <a:solidFill>
                  <a:srgbClr val="7030A0"/>
                </a:solidFill>
              </a:rPr>
              <a:t>章 数据传送、寻址与算数运算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/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/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92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66119-8E42-4E3F-8B46-8C90D7F56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前章补充与复习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0BDC5A-C4E2-4951-BA2B-FD6626F3E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MASM</a:t>
            </a:r>
            <a:r>
              <a:rPr lang="zh-CN" altLang="en-US" dirty="0">
                <a:solidFill>
                  <a:srgbClr val="0070C0"/>
                </a:solidFill>
              </a:rPr>
              <a:t>内部以数据位的个数定义了多种数据类型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BYTE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dirty="0" err="1">
                <a:solidFill>
                  <a:srgbClr val="0070C0"/>
                </a:solidFill>
              </a:rPr>
              <a:t>db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dirty="0">
                <a:solidFill>
                  <a:srgbClr val="0070C0"/>
                </a:solidFill>
              </a:rPr>
              <a:t>8</a:t>
            </a:r>
            <a:r>
              <a:rPr lang="zh-CN" altLang="en-US" dirty="0">
                <a:solidFill>
                  <a:srgbClr val="0070C0"/>
                </a:solidFill>
              </a:rPr>
              <a:t>位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WORD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dirty="0" err="1">
                <a:solidFill>
                  <a:srgbClr val="0070C0"/>
                </a:solidFill>
              </a:rPr>
              <a:t>dw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dirty="0">
                <a:solidFill>
                  <a:srgbClr val="0070C0"/>
                </a:solidFill>
              </a:rPr>
              <a:t> 16</a:t>
            </a:r>
            <a:r>
              <a:rPr lang="zh-CN" altLang="en-US" dirty="0">
                <a:solidFill>
                  <a:srgbClr val="0070C0"/>
                </a:solidFill>
              </a:rPr>
              <a:t>位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DWORD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dirty="0">
                <a:solidFill>
                  <a:srgbClr val="0070C0"/>
                </a:solidFill>
              </a:rPr>
              <a:t>dd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dirty="0">
                <a:solidFill>
                  <a:srgbClr val="0070C0"/>
                </a:solidFill>
              </a:rPr>
              <a:t> 32</a:t>
            </a:r>
            <a:r>
              <a:rPr lang="zh-CN" altLang="en-US" dirty="0">
                <a:solidFill>
                  <a:srgbClr val="0070C0"/>
                </a:solidFill>
              </a:rPr>
              <a:t>位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QWORD 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dirty="0" err="1">
                <a:solidFill>
                  <a:srgbClr val="0070C0"/>
                </a:solidFill>
              </a:rPr>
              <a:t>dq</a:t>
            </a:r>
            <a:r>
              <a:rPr lang="zh-CN" altLang="en-US" dirty="0">
                <a:solidFill>
                  <a:srgbClr val="0070C0"/>
                </a:solidFill>
              </a:rPr>
              <a:t>，</a:t>
            </a:r>
            <a:r>
              <a:rPr lang="en-US" altLang="zh-CN" dirty="0">
                <a:solidFill>
                  <a:srgbClr val="0070C0"/>
                </a:solidFill>
              </a:rPr>
              <a:t>64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32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66119-8E42-4E3F-8B46-8C90D7F56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前章补充与复习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0BDC5A-C4E2-4951-BA2B-FD6626F3E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4" y="159528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./  </a:t>
            </a:r>
            <a:r>
              <a:rPr lang="zh-CN" altLang="en-US" dirty="0">
                <a:solidFill>
                  <a:srgbClr val="0070C0"/>
                </a:solidFill>
              </a:rPr>
              <a:t>与 </a:t>
            </a:r>
            <a:r>
              <a:rPr lang="en-US" altLang="zh-CN" dirty="0">
                <a:solidFill>
                  <a:srgbClr val="0070C0"/>
                </a:solidFill>
              </a:rPr>
              <a:t>.\    </a:t>
            </a:r>
            <a:r>
              <a:rPr lang="zh-CN" altLang="en-US" dirty="0">
                <a:solidFill>
                  <a:srgbClr val="0070C0"/>
                </a:solidFill>
              </a:rPr>
              <a:t>执行问题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dirty="0">
                <a:solidFill>
                  <a:srgbClr val="0070C0"/>
                </a:solidFill>
              </a:rPr>
              <a:t>控制台权限</a:t>
            </a:r>
            <a:r>
              <a:rPr lang="en-US" altLang="zh-CN" dirty="0">
                <a:solidFill>
                  <a:srgbClr val="0070C0"/>
                </a:solidFill>
              </a:rPr>
              <a:t>-&gt;  </a:t>
            </a:r>
            <a:r>
              <a:rPr lang="zh-CN" altLang="en-US" dirty="0">
                <a:solidFill>
                  <a:srgbClr val="0070C0"/>
                </a:solidFill>
              </a:rPr>
              <a:t>右键空白处</a:t>
            </a:r>
            <a:r>
              <a:rPr lang="en-US" altLang="zh-CN" dirty="0">
                <a:solidFill>
                  <a:srgbClr val="0070C0"/>
                </a:solidFill>
              </a:rPr>
              <a:t>-&gt;  </a:t>
            </a:r>
            <a:r>
              <a:rPr lang="zh-CN" altLang="en-US" dirty="0">
                <a:solidFill>
                  <a:srgbClr val="0070C0"/>
                </a:solidFill>
              </a:rPr>
              <a:t>在终端打开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Lib</a:t>
            </a:r>
            <a:r>
              <a:rPr lang="zh-CN" altLang="en-US" dirty="0">
                <a:solidFill>
                  <a:srgbClr val="0070C0"/>
                </a:solidFill>
              </a:rPr>
              <a:t>文件夹空白 </a:t>
            </a:r>
            <a:r>
              <a:rPr lang="en-US" altLang="zh-CN" dirty="0">
                <a:solidFill>
                  <a:srgbClr val="0070C0"/>
                </a:solidFill>
              </a:rPr>
              <a:t>-&gt; </a:t>
            </a:r>
            <a:r>
              <a:rPr lang="zh-CN" altLang="en-US" dirty="0">
                <a:solidFill>
                  <a:srgbClr val="0070C0"/>
                </a:solidFill>
              </a:rPr>
              <a:t>重新下载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0070C0"/>
                </a:solidFill>
              </a:rPr>
              <a:t>MASM</a:t>
            </a:r>
            <a:r>
              <a:rPr lang="zh-CN" altLang="en-US" dirty="0">
                <a:solidFill>
                  <a:srgbClr val="0070C0"/>
                </a:solidFill>
              </a:rPr>
              <a:t>编译 </a:t>
            </a:r>
            <a:r>
              <a:rPr lang="en-US" altLang="zh-CN" dirty="0">
                <a:solidFill>
                  <a:srgbClr val="0070C0"/>
                </a:solidFill>
              </a:rPr>
              <a:t>-&gt; project-&gt; console build all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Include  masm.inc  user32.inc   ||  </a:t>
            </a:r>
            <a:r>
              <a:rPr lang="en-US" altLang="zh-CN" dirty="0" err="1">
                <a:solidFill>
                  <a:srgbClr val="0070C0"/>
                </a:solidFill>
              </a:rPr>
              <a:t>includelib</a:t>
            </a:r>
            <a:r>
              <a:rPr lang="en-US" altLang="zh-CN" dirty="0">
                <a:solidFill>
                  <a:srgbClr val="0070C0"/>
                </a:solidFill>
              </a:rPr>
              <a:t>  masm.lib   user32.lib</a:t>
            </a:r>
          </a:p>
          <a:p>
            <a:r>
              <a:rPr lang="zh-CN" altLang="en-US" dirty="0">
                <a:solidFill>
                  <a:srgbClr val="0070C0"/>
                </a:solidFill>
              </a:rPr>
              <a:t>安装多个</a:t>
            </a:r>
            <a:r>
              <a:rPr lang="en-US" altLang="zh-CN" dirty="0">
                <a:solidFill>
                  <a:srgbClr val="0070C0"/>
                </a:solidFill>
              </a:rPr>
              <a:t>MASM</a:t>
            </a:r>
            <a:r>
              <a:rPr lang="zh-CN" altLang="en-US" dirty="0">
                <a:solidFill>
                  <a:srgbClr val="0070C0"/>
                </a:solidFill>
              </a:rPr>
              <a:t>导致路径混淆</a:t>
            </a:r>
          </a:p>
        </p:txBody>
      </p:sp>
    </p:spTree>
    <p:extLst>
      <p:ext uri="{BB962C8B-B14F-4D97-AF65-F5344CB8AC3E}">
        <p14:creationId xmlns:p14="http://schemas.microsoft.com/office/powerpoint/2010/main" val="269884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69D0-D159-47F9-957C-49963E18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B89F-D60A-42C3-84D9-4CFC30452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数据传送指令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简单算数运算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操作符和伪指令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算术运算</a:t>
            </a:r>
            <a:endParaRPr lang="en-US" altLang="zh-CN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257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数据传送指令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764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8E42C-1E6D-4BD3-A32D-8D481501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汇编语言与高级语言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4C4575-602C-4DD9-A2FF-B610F24D1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汇编语言与高级语言最根本的不同之处在于，程序员必须掌握</a:t>
            </a:r>
            <a:r>
              <a:rPr lang="zh-CN" altLang="en-US" dirty="0">
                <a:solidFill>
                  <a:srgbClr val="FF0000"/>
                </a:solidFill>
              </a:rPr>
              <a:t>内存中的数据存储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机器与系统相关的大量细节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汇编语言给了程序员极大的</a:t>
            </a:r>
            <a:r>
              <a:rPr lang="zh-CN" altLang="en-US" dirty="0">
                <a:solidFill>
                  <a:srgbClr val="FF0000"/>
                </a:solidFill>
              </a:rPr>
              <a:t>自由</a:t>
            </a:r>
            <a:r>
              <a:rPr lang="zh-CN" altLang="en-US" dirty="0"/>
              <a:t>，可以直接与机器对话，不需要依靠各种“翻译人员”</a:t>
            </a:r>
          </a:p>
        </p:txBody>
      </p:sp>
    </p:spTree>
    <p:extLst>
      <p:ext uri="{BB962C8B-B14F-4D97-AF65-F5344CB8AC3E}">
        <p14:creationId xmlns:p14="http://schemas.microsoft.com/office/powerpoint/2010/main" val="137213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44073-DB97-4745-8694-6ADE26017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9B4DCC-0B73-40C0-9132-2F6D351FA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一条汇编语句</a:t>
            </a:r>
            <a:endParaRPr lang="en-US" altLang="zh-CN" dirty="0"/>
          </a:p>
          <a:p>
            <a:pPr lvl="1"/>
            <a:r>
              <a:rPr lang="zh-CN" altLang="en-US" dirty="0"/>
              <a:t>标号（</a:t>
            </a:r>
            <a:r>
              <a:rPr lang="en-US" altLang="zh-CN" dirty="0"/>
              <a:t>identifier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指令助记符（</a:t>
            </a:r>
            <a:r>
              <a:rPr lang="zh-CN" altLang="en-US" dirty="0">
                <a:solidFill>
                  <a:srgbClr val="FF0000"/>
                </a:solidFill>
              </a:rPr>
              <a:t>操作码</a:t>
            </a:r>
            <a:r>
              <a:rPr lang="en-US" altLang="zh-CN" dirty="0">
                <a:solidFill>
                  <a:srgbClr val="FF0000"/>
                </a:solidFill>
              </a:rPr>
              <a:t>opcode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操作数（</a:t>
            </a:r>
            <a:r>
              <a:rPr lang="en-US" altLang="zh-CN" dirty="0">
                <a:solidFill>
                  <a:srgbClr val="FF0000"/>
                </a:solidFill>
              </a:rPr>
              <a:t>oprand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注释（</a:t>
            </a:r>
            <a:r>
              <a:rPr lang="en-US" altLang="zh-CN" dirty="0"/>
              <a:t>comment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162551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A17579-3F5B-4FE2-903C-59EF6227A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操作数类型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350D22-498F-42A2-937F-A6B405538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立即数（</a:t>
            </a:r>
            <a:r>
              <a:rPr lang="en-US" altLang="zh-CN" dirty="0"/>
              <a:t>immediate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mov </a:t>
            </a:r>
            <a:r>
              <a:rPr lang="en-US" altLang="zh-CN" dirty="0" err="1"/>
              <a:t>eax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10h</a:t>
            </a:r>
          </a:p>
          <a:p>
            <a:r>
              <a:rPr lang="zh-CN" altLang="en-US" dirty="0"/>
              <a:t>寄存器（</a:t>
            </a:r>
            <a:r>
              <a:rPr lang="en-US" altLang="zh-CN" dirty="0"/>
              <a:t>register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 err="1"/>
              <a:t>inc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eax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内存（</a:t>
            </a:r>
            <a:r>
              <a:rPr lang="en-US" altLang="zh-CN" dirty="0"/>
              <a:t>memory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mov </a:t>
            </a:r>
            <a:r>
              <a:rPr lang="en-US" altLang="zh-CN" dirty="0" err="1"/>
              <a:t>eax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[ebp+8]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23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D0D4E-6FC5-4479-8A9D-E3740077E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zh-CN" altLang="en-US" dirty="0"/>
              <a:t>寄存器操作数的简写符号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051BFD-3B97-4AE2-B0B2-BAF3BA80E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r8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位通用寄存器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r16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位通用寄存器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r32</a:t>
            </a:r>
            <a:r>
              <a:rPr lang="zh-CN" altLang="en-US" dirty="0"/>
              <a:t>，</a:t>
            </a:r>
            <a:r>
              <a:rPr lang="en-US" altLang="zh-CN" dirty="0"/>
              <a:t>32</a:t>
            </a:r>
            <a:r>
              <a:rPr lang="zh-CN" altLang="en-US" dirty="0"/>
              <a:t>位通用寄存器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reg</a:t>
            </a:r>
            <a:r>
              <a:rPr lang="zh-CN" altLang="en-US" dirty="0"/>
              <a:t>，任意的通用寄存器</a:t>
            </a:r>
            <a:endParaRPr lang="en-US" altLang="zh-CN" dirty="0"/>
          </a:p>
          <a:p>
            <a:r>
              <a:rPr lang="en-US" altLang="zh-CN" dirty="0" err="1">
                <a:solidFill>
                  <a:srgbClr val="FF0000"/>
                </a:solidFill>
              </a:rPr>
              <a:t>sreg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位段寄存器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2715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C06B46A-5D0E-4482-BD97-53A37F659C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下列哪些是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32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位通用寄存器？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CB1A7F-FC6D-4430-B53B-E8E05E9CC0D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EIP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14498E-5776-4EC4-A200-75D057D8F60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A65E29-DB4C-485C-9597-380C0686D13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1576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EFLAGS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6157F1-D0B0-4538-86CD-05C5B6652BC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CS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B2770A-C1D2-47E0-B91B-98A1E54D1B5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AF9E3A-B3F6-41A6-817A-392F201D74E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5361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BA2962-1EE3-4FB2-8791-D74F9778B0E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2219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F85E185-5D9D-4AA1-9B0A-EB0815713EC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49077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7265C31-C190-4B61-8D31-9F3A43F1FBF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61B34E1-F6B3-426D-B5AA-AA21E31F31B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352800" y="55292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AX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319CF0-5A4B-410A-9834-A1302D975456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2638425" y="55935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4BB1235-B40E-4081-9AEC-970F81E074F4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107AE91-099D-4830-83A6-550025D2B83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34BC235-053A-4F3E-BC56-21F4AD12DF2B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36CF0E97-B19D-4997-A71A-172430D4CEEC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779C7E76-9E98-4943-AD02-199458322463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993227D1-E369-481C-8C66-72960ED23336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550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3B0F2-F692-468F-8201-C625DF25F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zh-CN" altLang="en-US" dirty="0"/>
              <a:t>立即数操作数的简写符号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19BF04-9CAB-4483-99A6-C34F9487C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imm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位、</a:t>
            </a:r>
            <a:r>
              <a:rPr lang="en-US" altLang="zh-CN" dirty="0"/>
              <a:t>16</a:t>
            </a:r>
            <a:r>
              <a:rPr lang="zh-CN" altLang="en-US" dirty="0"/>
              <a:t>位或</a:t>
            </a:r>
            <a:r>
              <a:rPr lang="en-US" altLang="zh-CN" dirty="0"/>
              <a:t>32</a:t>
            </a:r>
            <a:r>
              <a:rPr lang="zh-CN" altLang="en-US" dirty="0"/>
              <a:t>位立即数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imm8</a:t>
            </a:r>
            <a:r>
              <a:rPr lang="zh-CN" altLang="en-US" dirty="0"/>
              <a:t>， </a:t>
            </a:r>
            <a:r>
              <a:rPr lang="en-US" altLang="zh-CN" dirty="0"/>
              <a:t>8</a:t>
            </a:r>
            <a:r>
              <a:rPr lang="zh-CN" altLang="en-US" dirty="0"/>
              <a:t>位立即数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imm16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位立即数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imm32</a:t>
            </a:r>
            <a:r>
              <a:rPr lang="zh-CN" altLang="en-US" dirty="0"/>
              <a:t>，</a:t>
            </a:r>
            <a:r>
              <a:rPr lang="en-US" altLang="zh-CN" dirty="0"/>
              <a:t>32</a:t>
            </a:r>
            <a:r>
              <a:rPr lang="zh-CN" altLang="en-US" dirty="0"/>
              <a:t>位立即数</a:t>
            </a:r>
          </a:p>
        </p:txBody>
      </p:sp>
    </p:spTree>
    <p:extLst>
      <p:ext uri="{BB962C8B-B14F-4D97-AF65-F5344CB8AC3E}">
        <p14:creationId xmlns:p14="http://schemas.microsoft.com/office/powerpoint/2010/main" val="1481723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C9A00-7860-4071-8708-5D9DB3F3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内存操作数的简写符号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776E2E-3323-4A87-9C69-0C8CA47D0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r/m8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位通用寄存器或内存操作数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r/m16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位通用寄存器或内存操作数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r/m32</a:t>
            </a:r>
            <a:r>
              <a:rPr lang="zh-CN" altLang="en-US" dirty="0"/>
              <a:t>，</a:t>
            </a:r>
            <a:r>
              <a:rPr lang="en-US" altLang="zh-CN" dirty="0"/>
              <a:t>32</a:t>
            </a:r>
            <a:r>
              <a:rPr lang="zh-CN" altLang="en-US" dirty="0"/>
              <a:t>位通用寄存器或内存操作数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mem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位、</a:t>
            </a:r>
            <a:r>
              <a:rPr lang="en-US" altLang="zh-CN" dirty="0"/>
              <a:t>16</a:t>
            </a:r>
            <a:r>
              <a:rPr lang="zh-CN" altLang="en-US" dirty="0"/>
              <a:t>位、</a:t>
            </a:r>
            <a:r>
              <a:rPr lang="en-US" altLang="zh-CN" dirty="0"/>
              <a:t>32</a:t>
            </a:r>
            <a:r>
              <a:rPr lang="zh-CN" altLang="en-US" dirty="0"/>
              <a:t>位内存操作数</a:t>
            </a:r>
          </a:p>
        </p:txBody>
      </p:sp>
    </p:spTree>
    <p:extLst>
      <p:ext uri="{BB962C8B-B14F-4D97-AF65-F5344CB8AC3E}">
        <p14:creationId xmlns:p14="http://schemas.microsoft.com/office/powerpoint/2010/main" val="3759843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BE0346E-A418-42AC-BD2B-4CC590CB3BF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r32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是什么类型操作数的简写符号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035F15-1140-4B3A-99B8-4695B4324D1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32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位内存操作数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ECCC60-B449-487F-AF77-1CAD42D859D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32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位立即数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550F75-45D6-41CB-B085-DE33BAB2138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32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位通用寄存器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6CCC7C-70DE-4ADD-8F5D-B9DE5C47000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段寄存器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0AEC6B4-7A8C-4135-B8D2-976D015437F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4D80A9C-1429-4909-940E-245792D9451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0FFC13F-89B0-491A-AD20-458AB63A1BA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E67F3CA-CDD4-41CD-9B25-6257035A48E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9698383-F6FD-4544-BE57-8A105B1BF1E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D5AB06B-BDD4-4D02-9393-E30CA274044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32FEA07D-674D-483E-A876-E7AACF71B13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066F3A70-D223-4489-8138-306595A2DBE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8117A098-8E1F-4C9E-B427-430BC903B76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5324EB92-AFC4-47EF-8C26-38FAF4ADB3D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2676B98-5546-43AB-AADE-F7E8F2D2BE72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5217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807A3D-9B5D-4407-8D77-333E22DF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MOV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60728-9134-4E22-B4E7-07132492A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mov</a:t>
            </a:r>
            <a:r>
              <a:rPr lang="zh-CN" altLang="en-US" dirty="0"/>
              <a:t>指令从</a:t>
            </a:r>
            <a:r>
              <a:rPr lang="zh-CN" altLang="en-US" dirty="0">
                <a:solidFill>
                  <a:srgbClr val="FF0000"/>
                </a:solidFill>
              </a:rPr>
              <a:t>源操作数</a:t>
            </a:r>
            <a:r>
              <a:rPr lang="zh-CN" altLang="en-US" dirty="0"/>
              <a:t>向</a:t>
            </a:r>
            <a:r>
              <a:rPr lang="zh-CN" altLang="en-US" dirty="0">
                <a:solidFill>
                  <a:srgbClr val="7030A0"/>
                </a:solidFill>
              </a:rPr>
              <a:t>目的操作数</a:t>
            </a:r>
            <a:r>
              <a:rPr lang="zh-CN" altLang="en-US" dirty="0"/>
              <a:t>复制数据</a:t>
            </a:r>
            <a:endParaRPr lang="en-US" altLang="zh-CN" dirty="0"/>
          </a:p>
          <a:p>
            <a:pPr lvl="1"/>
            <a:r>
              <a:rPr lang="en-US" altLang="zh-CN" dirty="0"/>
              <a:t>mov </a:t>
            </a:r>
            <a:r>
              <a:rPr lang="en-US" altLang="zh-CN" dirty="0">
                <a:solidFill>
                  <a:srgbClr val="002060"/>
                </a:solidFill>
              </a:rPr>
              <a:t>destination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0000"/>
                </a:solidFill>
              </a:rPr>
              <a:t>source</a:t>
            </a:r>
          </a:p>
          <a:p>
            <a:pPr lvl="1"/>
            <a:r>
              <a:rPr lang="en-US" altLang="zh-CN" dirty="0"/>
              <a:t>C++</a:t>
            </a:r>
            <a:r>
              <a:rPr lang="zh-CN" altLang="en-US" dirty="0"/>
              <a:t>中，</a:t>
            </a:r>
            <a:r>
              <a:rPr lang="en-US" altLang="zh-CN" dirty="0"/>
              <a:t>destination = source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4296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CA758-F87B-4310-B32F-269BF22E5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MOV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438624-4218-45EF-8FC4-9CB529D46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两个操作数的尺寸必须一致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两个操作数不能同时为内存操作数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目的操作数不能是</a:t>
            </a:r>
            <a:r>
              <a:rPr lang="en-US" altLang="zh-CN" dirty="0"/>
              <a:t>CS</a:t>
            </a:r>
            <a:r>
              <a:rPr lang="zh-CN" altLang="en-US" dirty="0"/>
              <a:t>、</a:t>
            </a:r>
            <a:r>
              <a:rPr lang="en-US" altLang="zh-CN" dirty="0"/>
              <a:t>EIP</a:t>
            </a:r>
            <a:r>
              <a:rPr lang="zh-CN" altLang="en-US" dirty="0"/>
              <a:t>和</a:t>
            </a:r>
            <a:r>
              <a:rPr lang="en-US" altLang="zh-CN" dirty="0"/>
              <a:t>IP</a:t>
            </a:r>
          </a:p>
          <a:p>
            <a:r>
              <a:rPr lang="zh-CN" altLang="en-US" dirty="0"/>
              <a:t>立即数不能直接送至段寄存器</a:t>
            </a:r>
          </a:p>
        </p:txBody>
      </p:sp>
    </p:spTree>
    <p:extLst>
      <p:ext uri="{BB962C8B-B14F-4D97-AF65-F5344CB8AC3E}">
        <p14:creationId xmlns:p14="http://schemas.microsoft.com/office/powerpoint/2010/main" val="479313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B1766-7DA1-4322-B421-3C084DCC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mov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568B95-3950-493F-A500-3285EB41D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b="1" dirty="0"/>
              <a:t>mov</a:t>
            </a:r>
            <a:r>
              <a:rPr lang="en-US" altLang="zh-CN" dirty="0"/>
              <a:t> — Move (Opcodes: 88, 89, 8A, 8B, 8C, 8E, ...)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语法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mov &lt;reg&gt;,&lt;reg&gt;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mov &lt;reg&gt;,&lt;mem&gt;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mov &lt;mem&gt;,&lt;reg&gt;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mov &lt;reg&gt;,&lt;imm&gt;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mov &lt;mem&gt;,&lt;imm&gt;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例子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mov byte </a:t>
            </a:r>
            <a:r>
              <a:rPr lang="en-US" altLang="zh-CN" dirty="0" err="1"/>
              <a:t>ptr</a:t>
            </a:r>
            <a:r>
              <a:rPr lang="en-US" altLang="zh-CN" dirty="0"/>
              <a:t> [var], 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1304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1FA6A-E368-428E-AFE6-1A78D2DD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直接内存操作数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870832-9DA7-4B0E-9214-652EE08D0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800" i="1" dirty="0"/>
              <a:t>.</a:t>
            </a:r>
            <a:r>
              <a:rPr lang="en-US" altLang="zh-CN" sz="2800" dirty="0"/>
              <a:t>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var1 DWORD 1000h 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mov EAX, var1 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2800" i="1" dirty="0"/>
          </a:p>
          <a:p>
            <a:r>
              <a:rPr lang="zh-CN" altLang="en-US" sz="2800" dirty="0"/>
              <a:t>变量名（数据标号）</a:t>
            </a:r>
            <a:endParaRPr lang="en-US" altLang="zh-CN" sz="2800" dirty="0"/>
          </a:p>
          <a:p>
            <a:pPr lvl="1"/>
            <a:r>
              <a:rPr lang="zh-CN" altLang="en-US" sz="2400" dirty="0">
                <a:solidFill>
                  <a:srgbClr val="FF0000"/>
                </a:solidFill>
              </a:rPr>
              <a:t>数据段内偏移地址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</a:pPr>
            <a:endParaRPr lang="en-US" altLang="zh-CN" sz="2400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</a:pP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56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F5622-FFEB-40AE-AF0F-1DC6C41C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内存寻址操作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3E68C7-76A7-4F0E-AF26-6FF3DDCAF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678055"/>
            <a:ext cx="7940675" cy="4092575"/>
          </a:xfrm>
        </p:spPr>
        <p:txBody>
          <a:bodyPr>
            <a:normAutofit/>
          </a:bodyPr>
          <a:lstStyle/>
          <a:p>
            <a:r>
              <a:rPr lang="en-US" altLang="zh-CN" dirty="0"/>
              <a:t>masm32</a:t>
            </a:r>
            <a:r>
              <a:rPr lang="zh-CN" altLang="en-US" dirty="0"/>
              <a:t>使用</a:t>
            </a:r>
            <a:r>
              <a:rPr lang="zh-CN" altLang="en-US" dirty="0">
                <a:solidFill>
                  <a:srgbClr val="FF0000"/>
                </a:solidFill>
              </a:rPr>
              <a:t>方括号</a:t>
            </a:r>
            <a:r>
              <a:rPr lang="zh-CN" altLang="en-US" dirty="0"/>
              <a:t>表示内存寻址操作</a:t>
            </a:r>
            <a:endParaRPr lang="en-US" altLang="zh-CN" dirty="0"/>
          </a:p>
          <a:p>
            <a:pPr lvl="1"/>
            <a:r>
              <a:rPr lang="en-US" altLang="zh-CN" dirty="0"/>
              <a:t>mov </a:t>
            </a:r>
            <a:r>
              <a:rPr lang="en-US" altLang="zh-CN" dirty="0" err="1"/>
              <a:t>eax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[var1]</a:t>
            </a:r>
          </a:p>
          <a:p>
            <a:r>
              <a:rPr lang="zh-CN" altLang="en-US" dirty="0"/>
              <a:t>通常，直接内存操作数不使用中括号</a:t>
            </a:r>
            <a:endParaRPr lang="en-US" altLang="zh-CN" dirty="0"/>
          </a:p>
          <a:p>
            <a:pPr lvl="1"/>
            <a:r>
              <a:rPr lang="en-US" altLang="zh-CN" dirty="0"/>
              <a:t>mov </a:t>
            </a:r>
            <a:r>
              <a:rPr lang="en-US" altLang="zh-CN" dirty="0" err="1"/>
              <a:t>eax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var1</a:t>
            </a:r>
          </a:p>
          <a:p>
            <a:r>
              <a:rPr lang="zh-CN" altLang="en-US" dirty="0"/>
              <a:t>涉及到算术表达式时，使用中括号</a:t>
            </a:r>
            <a:endParaRPr lang="en-US" altLang="zh-CN" dirty="0"/>
          </a:p>
          <a:p>
            <a:pPr lvl="1"/>
            <a:r>
              <a:rPr lang="en-US" altLang="zh-CN" dirty="0"/>
              <a:t>mov </a:t>
            </a:r>
            <a:r>
              <a:rPr lang="en-US" altLang="zh-CN" dirty="0" err="1"/>
              <a:t>eax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0000"/>
                </a:solidFill>
              </a:rPr>
              <a:t>[var1+5]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876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9CFE3DE-7A9C-498F-8DB3-414AA4BBEEF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以下哪种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MOV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指令格式不符合规则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6C561E-3B2D-48D6-8B96-8BC98317C78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mov mem, reg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02787D-B9DF-46C2-BF07-8D16D657BFF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mov mem, imm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983B2F-B5B0-4825-9480-1D1013FE81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mov mem, mem 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EE760E-0FD9-4898-9122-43DC5167CB8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mov reg, mem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69FF6C-BD13-48BE-A504-3552B7BA8CB9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C448E6-6881-4E8C-A2E2-77628ADF707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B16249-DA10-492F-9837-BF365F073CB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6E2BF3D-0D53-4578-838B-2EF1E1B7A03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5719085-4CCA-4EEF-B1A7-C4D2CA5042C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5C5AF9C-1964-4C15-8465-0B8C6E85F3A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07F43ACC-1C08-4F79-BC93-A486D0D5FED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99FCBA93-C389-4FC2-9BFE-AD212E09AB6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C5EEE810-C4FA-46AF-93A4-797C5EC079E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92D5D8BB-DA81-4182-8A6D-5CE04555843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6C6276E-AC75-4730-B8FF-65A8FFDE00F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6874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ECCD7C9-B76F-493D-8E98-6133E42CBD1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462515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.data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var1 DWORD 0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var2 DWORD 100h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.code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;?</a:t>
            </a:r>
          </a:p>
          <a:p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; 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如何将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var2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的数值赋值给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var1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A5C2008-0B79-4F3D-84CA-040E2B4B746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F96FEA-EE0D-4B22-81C1-A198CD55693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07C6F2-ED8C-4DA2-8F4E-218FF48A4039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52FFC5-C058-4610-BFA6-7857ADE4A0F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661900" y="6326833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6062ECE-3017-4384-8A0B-494D4A46629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2827000" y="1270000"/>
            <a:ext cx="333248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mov eax, var2</a:t>
            </a:r>
          </a:p>
          <a:p>
            <a:pPr lvl="0"/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mov var1, eax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106DB13-B4A1-4A90-9A89-7A8332D58D43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12585700" y="0"/>
            <a:ext cx="3815080" cy="647700"/>
            <a:chOff x="9537700" y="0"/>
            <a:chExt cx="3815080" cy="647700"/>
          </a:xfrm>
        </p:grpSpPr>
        <p:sp>
          <p:nvSpPr>
            <p:cNvPr id="13" name="RemarkBack">
              <a:extLst>
                <a:ext uri="{FF2B5EF4-FFF2-40B4-BE49-F238E27FC236}">
                  <a16:creationId xmlns:a16="http://schemas.microsoft.com/office/drawing/2014/main" id="{F1BD9928-1DF5-44B6-BF72-8FE02D246FB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>
              <a:extLst>
                <a:ext uri="{FF2B5EF4-FFF2-40B4-BE49-F238E27FC236}">
                  <a16:creationId xmlns:a16="http://schemas.microsoft.com/office/drawing/2014/main" id="{4FC563F3-708F-46EE-B7F5-5A274AFA4030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>
              <a:extLst>
                <a:ext uri="{FF2B5EF4-FFF2-40B4-BE49-F238E27FC236}">
                  <a16:creationId xmlns:a16="http://schemas.microsoft.com/office/drawing/2014/main" id="{56DB3528-C19B-47C2-8013-5F652F2338B2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D5F61719-2F70-475C-9BD9-FE0E9019F7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emarkBlock">
            <a:extLst>
              <a:ext uri="{FF2B5EF4-FFF2-40B4-BE49-F238E27FC236}">
                <a16:creationId xmlns:a16="http://schemas.microsoft.com/office/drawing/2014/main" id="{989710DD-C15A-412B-8B1E-0A027FD0889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RemarkTitleText">
            <a:extLst>
              <a:ext uri="{FF2B5EF4-FFF2-40B4-BE49-F238E27FC236}">
                <a16:creationId xmlns:a16="http://schemas.microsoft.com/office/drawing/2014/main" id="{1E40794A-DC3F-444F-AC15-BBE85027D0BC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35DBD44-3DEF-48B9-8662-13DDFD25819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677B2A3D-02B4-4AF9-BCA1-57048CA9E07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3117644-3EFE-47C6-8DEE-3AADE28DA09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96070915-DAD0-4DEE-8355-E5D38F4D4A0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B045CBBA-1AA0-4AC7-A8E5-30422E9D415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394C1B3-CC4C-4681-BEFF-DE74BAFE292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75150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AD341D-421C-426C-9947-AB7A0178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2060"/>
                </a:solidFill>
              </a:rPr>
              <a:t>invalid instruction operands</a:t>
            </a: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F236978-9104-444A-B287-BA2D9F82C0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67813" y="2569295"/>
            <a:ext cx="3086836" cy="2863997"/>
          </a:xfrm>
          <a:prstGeom prst="rect">
            <a:avLst/>
          </a:prstGeom>
        </p:spPr>
      </p:pic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1775EC0-F9BF-435E-AF94-4F0A25E999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838603" y="2936275"/>
            <a:ext cx="5585585" cy="219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01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A1D96C-E953-4E87-ABEE-C2AA275A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内存之间的数据移动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BC6ED2-137A-4E88-8CF7-E6812ABBC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var1 DWORD 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var2 DWORD 100h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</a:t>
            </a:r>
            <a:r>
              <a:rPr lang="en-US" altLang="zh-CN" dirty="0">
                <a:solidFill>
                  <a:srgbClr val="FF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mov </a:t>
            </a:r>
            <a:r>
              <a:rPr lang="en-US" altLang="zh-CN" dirty="0" err="1">
                <a:solidFill>
                  <a:srgbClr val="FF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r>
              <a:rPr lang="en-US" altLang="zh-CN" dirty="0">
                <a:solidFill>
                  <a:srgbClr val="FF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, var2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FF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mov var1, </a:t>
            </a:r>
            <a:r>
              <a:rPr lang="en-US" altLang="zh-CN" dirty="0" err="1">
                <a:solidFill>
                  <a:srgbClr val="FF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endParaRPr lang="en-US" altLang="zh-CN" dirty="0">
              <a:solidFill>
                <a:srgbClr val="FF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1087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8177F-2D6A-44DD-AEF4-37C7DDFE2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整数的零扩展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25D416-C24A-461F-929B-3A603C1B5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复制尺寸较小的操作数到尺寸较大的操作数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MOVZX</a:t>
            </a:r>
            <a:r>
              <a:rPr lang="zh-CN" altLang="en-US" dirty="0">
                <a:solidFill>
                  <a:srgbClr val="FF0000"/>
                </a:solidFill>
              </a:rPr>
              <a:t>指令</a:t>
            </a:r>
            <a:r>
              <a:rPr lang="en-US" altLang="zh-CN" dirty="0"/>
              <a:t>(move with zero-extend)</a:t>
            </a:r>
          </a:p>
          <a:p>
            <a:pPr lvl="1"/>
            <a:r>
              <a:rPr lang="en-US" altLang="zh-CN" dirty="0" err="1"/>
              <a:t>movzx</a:t>
            </a:r>
            <a:r>
              <a:rPr lang="en-US" altLang="zh-CN" dirty="0"/>
              <a:t> r32, r/m8</a:t>
            </a:r>
          </a:p>
          <a:p>
            <a:pPr lvl="1"/>
            <a:r>
              <a:rPr lang="en-US" altLang="zh-CN" dirty="0" err="1"/>
              <a:t>movzx</a:t>
            </a:r>
            <a:r>
              <a:rPr lang="en-US" altLang="zh-CN" dirty="0"/>
              <a:t> r32, r/m16</a:t>
            </a:r>
          </a:p>
          <a:p>
            <a:pPr lvl="1"/>
            <a:r>
              <a:rPr lang="en-US" altLang="zh-CN" dirty="0" err="1"/>
              <a:t>movzx</a:t>
            </a:r>
            <a:r>
              <a:rPr lang="en-US" altLang="zh-CN" dirty="0"/>
              <a:t> r16, r/m8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0503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96D2F-292E-4855-B199-18FE8F9E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MOVSX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1DFDD9-0088-426F-9F2B-7B9780F1A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MOVSX</a:t>
            </a:r>
            <a:r>
              <a:rPr lang="zh-CN" altLang="en-US" dirty="0"/>
              <a:t>（</a:t>
            </a:r>
            <a:r>
              <a:rPr lang="en-US" altLang="zh-CN" dirty="0"/>
              <a:t>move with sign-extend</a:t>
            </a:r>
            <a:r>
              <a:rPr lang="zh-CN" altLang="en-US" dirty="0"/>
              <a:t>）符号扩展传送指令，</a:t>
            </a:r>
            <a:r>
              <a:rPr lang="zh-CN" altLang="en-US" dirty="0">
                <a:solidFill>
                  <a:srgbClr val="FF0000"/>
                </a:solidFill>
              </a:rPr>
              <a:t>最高位循环填充所有扩展位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有符号整数的存储空间扩展</a:t>
            </a:r>
            <a:endParaRPr lang="en-US" altLang="zh-CN" dirty="0"/>
          </a:p>
          <a:p>
            <a:pPr lvl="1"/>
            <a:r>
              <a:rPr lang="en-US" altLang="zh-CN" dirty="0" err="1"/>
              <a:t>movsx</a:t>
            </a:r>
            <a:r>
              <a:rPr lang="en-US" altLang="zh-CN" dirty="0"/>
              <a:t> r32</a:t>
            </a:r>
            <a:r>
              <a:rPr lang="zh-CN" altLang="en-US" dirty="0"/>
              <a:t>，</a:t>
            </a:r>
            <a:r>
              <a:rPr lang="en-US" altLang="zh-CN" dirty="0"/>
              <a:t>r/m8</a:t>
            </a:r>
          </a:p>
          <a:p>
            <a:pPr lvl="1"/>
            <a:r>
              <a:rPr lang="en-US" altLang="zh-CN" dirty="0" err="1"/>
              <a:t>movsx</a:t>
            </a:r>
            <a:r>
              <a:rPr lang="en-US" altLang="zh-CN" dirty="0"/>
              <a:t> r32</a:t>
            </a:r>
            <a:r>
              <a:rPr lang="zh-CN" altLang="en-US" dirty="0"/>
              <a:t>，</a:t>
            </a:r>
            <a:r>
              <a:rPr lang="en-US" altLang="zh-CN" dirty="0"/>
              <a:t>r/m16</a:t>
            </a:r>
          </a:p>
          <a:p>
            <a:pPr lvl="1"/>
            <a:r>
              <a:rPr lang="en-US" altLang="zh-CN" dirty="0" err="1"/>
              <a:t>movsx</a:t>
            </a:r>
            <a:r>
              <a:rPr lang="en-US" altLang="zh-CN" dirty="0"/>
              <a:t> r16,  r/m8</a:t>
            </a:r>
          </a:p>
        </p:txBody>
      </p:sp>
    </p:spTree>
    <p:extLst>
      <p:ext uri="{BB962C8B-B14F-4D97-AF65-F5344CB8AC3E}">
        <p14:creationId xmlns:p14="http://schemas.microsoft.com/office/powerpoint/2010/main" val="2460177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0DB9CA9-02C3-4C6C-AD09-2D426E8C258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0"/>
            <a:ext cx="7315200" cy="480282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.data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var1 BYTE 10h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.code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movzx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, var1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movsx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 err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ebx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, var1</a:t>
            </a:r>
          </a:p>
          <a:p>
            <a:pPr>
              <a:lnSpc>
                <a:spcPct val="150000"/>
              </a:lnSpc>
            </a:pPr>
            <a:r>
              <a:rPr lang="en-US" altLang="zh-CN" sz="2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寄存器的十六进制值是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1]</a:t>
            </a:r>
          </a:p>
          <a:p>
            <a:pPr>
              <a:lnSpc>
                <a:spcPct val="150000"/>
              </a:lnSpc>
            </a:pPr>
            <a:r>
              <a:rPr lang="en-US" altLang="zh-CN" sz="2600" dirty="0" err="1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ebx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寄存器的十六进制值是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E4466E0-A3A1-45F9-98BE-401D2F52245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403D61-B2C3-4503-ADB8-045ADB7C00D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16B028A-92CF-495D-8F93-2C29BCC626A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DEB69C09-AAEE-4D8A-88B1-9EC498D70CB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6C071E3E-E8B3-4A88-AF79-5FB44C9E837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C739C54E-9CA6-4A81-8895-881C8B03B1D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974E8319-FEEB-4051-B511-0747795525F7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7C48F618-8308-424B-A02B-EC841A359709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7098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58D3A61-5D4E-47D1-87C1-DA12D2A8683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352800" y="817880"/>
            <a:ext cx="7315200" cy="521430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.data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var1 BYTE 0A0h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.code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movzx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, var1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movsx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ebx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, var1</a:t>
            </a:r>
          </a:p>
          <a:p>
            <a:pPr>
              <a:lnSpc>
                <a:spcPct val="150000"/>
              </a:lnSpc>
            </a:pPr>
            <a:r>
              <a:rPr lang="en-US" altLang="zh-CN" sz="26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寄存器的十六进制值是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1]</a:t>
            </a:r>
          </a:p>
          <a:p>
            <a:pPr>
              <a:lnSpc>
                <a:spcPct val="150000"/>
              </a:lnSpc>
            </a:pPr>
            <a:r>
              <a:rPr lang="en-US" altLang="zh-CN" sz="2600" dirty="0" err="1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ebx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寄存器的十六进制值是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BB3B856-E331-43D7-AB64-85E8D2B589F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A580AE-6AF6-4529-A605-9429B3FF4BA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B892FFF-6127-4F52-BD57-4EC28CB49D59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A38E2B77-1862-45A7-9B46-A29E0FF7F9B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F5851074-1B58-446E-8AFF-C917A796732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83395BA6-70F0-4CF3-986C-216FADD1A63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FEDB6531-4289-46C9-BFCE-2E6033383CAA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6BD5DB2-9581-4EAE-A116-24EA950A8853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6457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6668CD-A8A0-46AA-9850-B913EE3DF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LAHF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9BDEA3-80A1-4950-BE9D-F819BCC52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LAHF</a:t>
            </a:r>
            <a:r>
              <a:rPr lang="zh-CN" altLang="en-US" dirty="0"/>
              <a:t>（</a:t>
            </a:r>
            <a:r>
              <a:rPr lang="en-US" altLang="zh-CN" dirty="0"/>
              <a:t>load status flags into AH</a:t>
            </a:r>
            <a:r>
              <a:rPr lang="zh-CN" altLang="en-US" dirty="0"/>
              <a:t>）指令把</a:t>
            </a:r>
            <a:r>
              <a:rPr lang="en-US" altLang="zh-CN" dirty="0"/>
              <a:t>EFLAGS</a:t>
            </a:r>
            <a:r>
              <a:rPr lang="zh-CN" altLang="en-US" dirty="0"/>
              <a:t>寄存器的低字节复制到</a:t>
            </a:r>
            <a:r>
              <a:rPr lang="en-US" altLang="zh-CN" dirty="0"/>
              <a:t>AH</a:t>
            </a:r>
            <a:r>
              <a:rPr lang="zh-CN" altLang="en-US" dirty="0"/>
              <a:t>寄存器</a:t>
            </a:r>
            <a:endParaRPr lang="en-US" altLang="zh-CN" dirty="0"/>
          </a:p>
          <a:p>
            <a:pPr lvl="1"/>
            <a:r>
              <a:rPr lang="zh-CN" altLang="en-US" dirty="0"/>
              <a:t>符号标志（</a:t>
            </a:r>
            <a:r>
              <a:rPr lang="en-US" altLang="zh-CN" dirty="0"/>
              <a:t>SF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零标志</a:t>
            </a:r>
            <a:r>
              <a:rPr lang="en-US" altLang="zh-CN" dirty="0"/>
              <a:t>(ZF)</a:t>
            </a:r>
          </a:p>
          <a:p>
            <a:pPr lvl="1"/>
            <a:r>
              <a:rPr lang="zh-CN" altLang="en-US" dirty="0"/>
              <a:t>辅助进位标志</a:t>
            </a:r>
            <a:r>
              <a:rPr lang="en-US" altLang="zh-CN" dirty="0"/>
              <a:t>(AF)</a:t>
            </a:r>
          </a:p>
          <a:p>
            <a:pPr lvl="1"/>
            <a:r>
              <a:rPr lang="zh-CN" altLang="en-US" dirty="0"/>
              <a:t>奇偶标志</a:t>
            </a:r>
            <a:r>
              <a:rPr lang="en-US" altLang="zh-CN" dirty="0"/>
              <a:t>(PF)</a:t>
            </a:r>
          </a:p>
          <a:p>
            <a:pPr lvl="1"/>
            <a:r>
              <a:rPr lang="zh-CN" altLang="en-US" dirty="0"/>
              <a:t>进位标志</a:t>
            </a:r>
            <a:r>
              <a:rPr lang="en-US" altLang="zh-CN" dirty="0"/>
              <a:t>(CF)</a:t>
            </a:r>
          </a:p>
        </p:txBody>
      </p:sp>
    </p:spTree>
    <p:extLst>
      <p:ext uri="{BB962C8B-B14F-4D97-AF65-F5344CB8AC3E}">
        <p14:creationId xmlns:p14="http://schemas.microsoft.com/office/powerpoint/2010/main" val="2064900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31AFF7-626E-43AF-9CDF-E085A1EF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SAHF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FDAC4A-6C3E-41B2-851F-E618C9EF6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989139"/>
            <a:ext cx="7940675" cy="4092575"/>
          </a:xfrm>
        </p:spPr>
        <p:txBody>
          <a:bodyPr/>
          <a:lstStyle/>
          <a:p>
            <a:r>
              <a:rPr lang="en-US" altLang="zh-CN" dirty="0"/>
              <a:t>SAHF</a:t>
            </a:r>
            <a:r>
              <a:rPr lang="zh-CN" altLang="en-US" dirty="0"/>
              <a:t>（</a:t>
            </a:r>
            <a:r>
              <a:rPr lang="en-US" altLang="zh-CN" dirty="0"/>
              <a:t>store AH into status flags</a:t>
            </a:r>
            <a:r>
              <a:rPr lang="zh-CN" altLang="en-US" dirty="0"/>
              <a:t>）指令复制</a:t>
            </a:r>
            <a:r>
              <a:rPr lang="en-US" altLang="zh-CN" dirty="0"/>
              <a:t>AH</a:t>
            </a:r>
            <a:r>
              <a:rPr lang="zh-CN" altLang="en-US" dirty="0"/>
              <a:t>寄存器的值至</a:t>
            </a:r>
            <a:r>
              <a:rPr lang="en-US" altLang="zh-CN" dirty="0"/>
              <a:t>EFLAGS</a:t>
            </a:r>
            <a:r>
              <a:rPr lang="zh-CN" altLang="en-US" dirty="0"/>
              <a:t>寄存器的低字节</a:t>
            </a:r>
            <a:endParaRPr lang="en-US" altLang="zh-CN" dirty="0"/>
          </a:p>
          <a:p>
            <a:pPr lvl="1"/>
            <a:r>
              <a:rPr lang="zh-CN" altLang="en-US" dirty="0"/>
              <a:t>修改</a:t>
            </a:r>
            <a:r>
              <a:rPr lang="en-US" altLang="zh-CN" dirty="0"/>
              <a:t>CPU</a:t>
            </a:r>
            <a:r>
              <a:rPr lang="zh-CN" altLang="en-US" dirty="0"/>
              <a:t>的符号标志（</a:t>
            </a:r>
            <a:r>
              <a:rPr lang="en-US" altLang="zh-CN" dirty="0"/>
              <a:t>SF</a:t>
            </a:r>
            <a:r>
              <a:rPr lang="zh-CN" altLang="en-US" dirty="0"/>
              <a:t>）、零标志</a:t>
            </a:r>
            <a:r>
              <a:rPr lang="en-US" altLang="zh-CN" dirty="0"/>
              <a:t>(ZF)</a:t>
            </a:r>
            <a:r>
              <a:rPr lang="zh-CN" altLang="en-US" dirty="0"/>
              <a:t>、辅助进位标志</a:t>
            </a:r>
            <a:r>
              <a:rPr lang="en-US" altLang="zh-CN" dirty="0"/>
              <a:t>(AF)</a:t>
            </a:r>
            <a:r>
              <a:rPr lang="zh-CN" altLang="en-US" dirty="0"/>
              <a:t>、奇偶标志</a:t>
            </a:r>
            <a:r>
              <a:rPr lang="en-US" altLang="zh-CN" dirty="0"/>
              <a:t>(PF)</a:t>
            </a:r>
            <a:r>
              <a:rPr lang="zh-CN" altLang="en-US" dirty="0"/>
              <a:t>、进位标志</a:t>
            </a:r>
            <a:r>
              <a:rPr lang="en-US" altLang="zh-CN" dirty="0"/>
              <a:t>(CF)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736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B8614-80A8-466E-B636-FA1F56375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XCHG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498F51-AF56-470A-B479-8A1C9ABBD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XCHG</a:t>
            </a:r>
            <a:r>
              <a:rPr lang="zh-CN" altLang="en-US" dirty="0"/>
              <a:t>（</a:t>
            </a:r>
            <a:r>
              <a:rPr lang="en-US" altLang="zh-CN" dirty="0"/>
              <a:t>exchange data</a:t>
            </a:r>
            <a:r>
              <a:rPr lang="zh-CN" altLang="en-US" dirty="0"/>
              <a:t>）指令交换两个操作数的内容</a:t>
            </a:r>
            <a:endParaRPr lang="en-US" altLang="zh-CN" dirty="0"/>
          </a:p>
          <a:p>
            <a:pPr lvl="1"/>
            <a:r>
              <a:rPr lang="en-US" altLang="zh-CN" dirty="0"/>
              <a:t>XCHG reg, reg</a:t>
            </a:r>
          </a:p>
          <a:p>
            <a:pPr lvl="1"/>
            <a:r>
              <a:rPr lang="en-US" altLang="zh-CN" dirty="0"/>
              <a:t>XCHG reg, mem</a:t>
            </a:r>
          </a:p>
          <a:p>
            <a:pPr lvl="1"/>
            <a:r>
              <a:rPr lang="en-US" altLang="zh-CN" dirty="0"/>
              <a:t>XCHG mem, reg</a:t>
            </a:r>
          </a:p>
        </p:txBody>
      </p:sp>
    </p:spTree>
    <p:extLst>
      <p:ext uri="{BB962C8B-B14F-4D97-AF65-F5344CB8AC3E}">
        <p14:creationId xmlns:p14="http://schemas.microsoft.com/office/powerpoint/2010/main" val="33520356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1843D18-B04E-4249-9712-FED78902E3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42937"/>
            <a:ext cx="7315200" cy="413496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.data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</a:t>
            </a:r>
            <a:r>
              <a:rPr lang="en-US" altLang="zh-CN" sz="26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var1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DWORD 100h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</a:t>
            </a:r>
            <a:r>
              <a:rPr lang="en-US" altLang="zh-CN" sz="260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var2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DWORD 200h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.code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;?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; 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如何交换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var1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var2</a:t>
            </a: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的值？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27B14D9-634F-4D9A-B42A-AB608F07E70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74940F-71B6-4316-81B7-7E1640BEA40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8BCA6CA-5265-4139-A207-D453C30FF489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938B354C-847E-4419-ADA9-FF8EEA22385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A50EA652-7A18-4759-AB38-56480C0F8D4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09EF9C54-A540-47DE-B819-76BD479A82B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58E10434-CF9D-4562-B8B2-A4EA60BC122A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771ADD1-4E72-4D4D-98F5-1ABC6EEE70A5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50077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009FB-8210-49DA-A635-1576CF50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交换两个内存的值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C16FE5-0380-48D5-B55A-48E56F2DC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</a:t>
            </a:r>
            <a:r>
              <a:rPr lang="en-US" altLang="zh-CN" dirty="0">
                <a:solidFill>
                  <a:srgbClr val="00206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var1</a:t>
            </a: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DWORD 100h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</a:t>
            </a:r>
            <a:r>
              <a:rPr lang="en-US" altLang="zh-CN" dirty="0">
                <a:solidFill>
                  <a:srgbClr val="7030A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var2</a:t>
            </a: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DWORD 200h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</a:t>
            </a:r>
            <a:r>
              <a:rPr lang="en-US" altLang="zh-CN" dirty="0">
                <a:solidFill>
                  <a:srgbClr val="FF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mov </a:t>
            </a:r>
            <a:r>
              <a:rPr lang="en-US" altLang="zh-CN" dirty="0" err="1">
                <a:solidFill>
                  <a:srgbClr val="FF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r>
              <a:rPr lang="en-US" altLang="zh-CN" dirty="0">
                <a:solidFill>
                  <a:srgbClr val="FF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, var1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FF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</a:t>
            </a:r>
            <a:r>
              <a:rPr lang="en-US" altLang="zh-CN" dirty="0" err="1">
                <a:solidFill>
                  <a:srgbClr val="FF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xchg</a:t>
            </a:r>
            <a:r>
              <a:rPr lang="en-US" altLang="zh-CN" dirty="0">
                <a:solidFill>
                  <a:srgbClr val="FF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r>
              <a:rPr lang="en-US" altLang="zh-CN" dirty="0">
                <a:solidFill>
                  <a:srgbClr val="FF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, var2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FF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mov var1, </a:t>
            </a:r>
            <a:r>
              <a:rPr lang="en-US" altLang="zh-CN" dirty="0" err="1">
                <a:solidFill>
                  <a:srgbClr val="FF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endParaRPr lang="en-US" altLang="zh-CN" dirty="0">
              <a:solidFill>
                <a:srgbClr val="FF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0670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altLang="zh-CN" dirty="0"/>
              <a:t>2. </a:t>
            </a:r>
            <a:r>
              <a:rPr lang="zh-CN" altLang="en-US" dirty="0"/>
              <a:t>简单算数运算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31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76EEDB-E957-4D48-B4F5-84E939631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INC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41AAD5-7BAD-41AC-8081-24DBFA71A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INC</a:t>
            </a:r>
            <a:r>
              <a:rPr lang="zh-CN" altLang="en-US" dirty="0"/>
              <a:t>（</a:t>
            </a:r>
            <a:r>
              <a:rPr lang="en-US" altLang="zh-CN" dirty="0"/>
              <a:t>increment</a:t>
            </a:r>
            <a:r>
              <a:rPr lang="zh-CN" altLang="en-US" dirty="0"/>
              <a:t>）指令从操作数中加</a:t>
            </a:r>
            <a:r>
              <a:rPr lang="en-US" altLang="zh-CN" dirty="0"/>
              <a:t>1</a:t>
            </a:r>
          </a:p>
          <a:p>
            <a:r>
              <a:rPr lang="zh-CN" altLang="en-US" dirty="0"/>
              <a:t>语法</a:t>
            </a:r>
            <a:endParaRPr lang="en-US" altLang="zh-CN" dirty="0"/>
          </a:p>
          <a:p>
            <a:pPr lvl="1"/>
            <a:r>
              <a:rPr lang="en-US" altLang="zh-CN" dirty="0" err="1"/>
              <a:t>inc</a:t>
            </a:r>
            <a:r>
              <a:rPr lang="en-US" altLang="zh-CN" dirty="0"/>
              <a:t> &lt;reg&gt;</a:t>
            </a:r>
            <a:br>
              <a:rPr lang="en-US" altLang="zh-CN" dirty="0"/>
            </a:br>
            <a:r>
              <a:rPr lang="en-US" altLang="zh-CN" dirty="0" err="1"/>
              <a:t>inc</a:t>
            </a:r>
            <a:r>
              <a:rPr lang="en-US" altLang="zh-CN" dirty="0"/>
              <a:t> &lt;mem&gt;</a:t>
            </a:r>
          </a:p>
          <a:p>
            <a:r>
              <a:rPr lang="zh-CN" altLang="en-US" dirty="0"/>
              <a:t>例子</a:t>
            </a:r>
            <a:endParaRPr lang="en-US" altLang="zh-CN" dirty="0"/>
          </a:p>
          <a:p>
            <a:pPr lvl="1"/>
            <a:r>
              <a:rPr lang="en-US" altLang="zh-CN" dirty="0" err="1"/>
              <a:t>inc</a:t>
            </a:r>
            <a:r>
              <a:rPr lang="en-US" altLang="zh-CN" dirty="0"/>
              <a:t> </a:t>
            </a:r>
            <a:r>
              <a:rPr lang="en-US" altLang="zh-CN" dirty="0" err="1"/>
              <a:t>eax</a:t>
            </a:r>
            <a:endParaRPr lang="en-US" altLang="zh-CN" dirty="0"/>
          </a:p>
          <a:p>
            <a:pPr marL="742950" lvl="1" indent="-342900"/>
            <a:r>
              <a:rPr lang="en-US" altLang="zh-CN" dirty="0" err="1"/>
              <a:t>inc</a:t>
            </a:r>
            <a:r>
              <a:rPr lang="en-US" altLang="zh-CN" dirty="0"/>
              <a:t> [var1+4]</a:t>
            </a:r>
          </a:p>
        </p:txBody>
      </p:sp>
    </p:spTree>
    <p:extLst>
      <p:ext uri="{BB962C8B-B14F-4D97-AF65-F5344CB8AC3E}">
        <p14:creationId xmlns:p14="http://schemas.microsoft.com/office/powerpoint/2010/main" val="10164745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2337C-DCEA-4004-A74A-04AAC0A63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DEC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DC6FE1-225E-4A21-887A-8703EDBAF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DEC</a:t>
            </a:r>
            <a:r>
              <a:rPr lang="zh-CN" altLang="en-US" dirty="0"/>
              <a:t>（</a:t>
            </a:r>
            <a:r>
              <a:rPr lang="en-US" altLang="zh-CN" dirty="0"/>
              <a:t>decrement</a:t>
            </a:r>
            <a:r>
              <a:rPr lang="zh-CN" altLang="en-US" dirty="0"/>
              <a:t>）指令从操作数中减</a:t>
            </a:r>
            <a:r>
              <a:rPr lang="en-US" altLang="zh-CN" dirty="0"/>
              <a:t>1</a:t>
            </a:r>
          </a:p>
          <a:p>
            <a:r>
              <a:rPr lang="zh-CN" altLang="en-US" dirty="0"/>
              <a:t>语法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dec</a:t>
            </a:r>
            <a:r>
              <a:rPr lang="en-US" altLang="zh-CN" dirty="0"/>
              <a:t> &lt;reg&gt;</a:t>
            </a:r>
          </a:p>
          <a:p>
            <a:pPr marL="457200" lvl="1" indent="0">
              <a:buNone/>
            </a:pPr>
            <a:r>
              <a:rPr lang="en-US" altLang="zh-CN" dirty="0" err="1"/>
              <a:t>dec</a:t>
            </a:r>
            <a:r>
              <a:rPr lang="en-US" altLang="zh-CN" dirty="0"/>
              <a:t> &lt;mem&gt;</a:t>
            </a:r>
          </a:p>
          <a:p>
            <a:r>
              <a:rPr lang="zh-CN" altLang="en-US" dirty="0"/>
              <a:t>例子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inc</a:t>
            </a:r>
            <a:r>
              <a:rPr lang="en-US" altLang="zh-CN" dirty="0"/>
              <a:t> </a:t>
            </a:r>
            <a:r>
              <a:rPr lang="en-US" altLang="zh-CN" dirty="0" err="1"/>
              <a:t>eax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inc</a:t>
            </a:r>
            <a:r>
              <a:rPr lang="en-US" altLang="zh-CN" dirty="0"/>
              <a:t> [var1+4]</a:t>
            </a:r>
          </a:p>
        </p:txBody>
      </p:sp>
    </p:spTree>
    <p:extLst>
      <p:ext uri="{BB962C8B-B14F-4D97-AF65-F5344CB8AC3E}">
        <p14:creationId xmlns:p14="http://schemas.microsoft.com/office/powerpoint/2010/main" val="42603023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9E85BD-DF9D-48FE-81ED-55DE181AB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0A43DB-4D41-436B-8DAA-234F382EE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ADD</a:t>
            </a:r>
            <a:r>
              <a:rPr lang="zh-CN" altLang="en-US" dirty="0"/>
              <a:t>指令将同尺寸的</a:t>
            </a:r>
            <a:r>
              <a:rPr lang="zh-CN" altLang="en-US" dirty="0">
                <a:solidFill>
                  <a:srgbClr val="FF0000"/>
                </a:solidFill>
              </a:rPr>
              <a:t>源操作数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目的操作数</a:t>
            </a:r>
            <a:r>
              <a:rPr lang="zh-CN" altLang="en-US" dirty="0"/>
              <a:t>相加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add &lt;reg&gt;,&lt;reg&gt;</a:t>
            </a:r>
            <a:br>
              <a:rPr lang="en-US" altLang="zh-CN" dirty="0"/>
            </a:br>
            <a:r>
              <a:rPr lang="en-US" altLang="zh-CN" dirty="0"/>
              <a:t>add &lt;reg&gt;,&lt;mem&gt;</a:t>
            </a:r>
            <a:br>
              <a:rPr lang="en-US" altLang="zh-CN" dirty="0"/>
            </a:br>
            <a:r>
              <a:rPr lang="en-US" altLang="zh-CN" dirty="0"/>
              <a:t>add &lt;mem&gt;,&lt;reg&gt;</a:t>
            </a:r>
            <a:br>
              <a:rPr lang="en-US" altLang="zh-CN" dirty="0"/>
            </a:br>
            <a:r>
              <a:rPr lang="en-US" altLang="zh-CN" dirty="0"/>
              <a:t>add &lt;reg&gt;,&lt;imm&gt;</a:t>
            </a:r>
            <a:br>
              <a:rPr lang="en-US" altLang="zh-CN" dirty="0"/>
            </a:br>
            <a:r>
              <a:rPr lang="en-US" altLang="zh-CN" dirty="0"/>
              <a:t>add &lt;mem&gt;,&lt;imm&gt;</a:t>
            </a:r>
          </a:p>
          <a:p>
            <a:r>
              <a:rPr lang="zh-CN" altLang="en-US" dirty="0"/>
              <a:t>相加的</a:t>
            </a:r>
            <a:r>
              <a:rPr lang="zh-CN" altLang="en-US" dirty="0">
                <a:solidFill>
                  <a:srgbClr val="FF0000"/>
                </a:solidFill>
              </a:rPr>
              <a:t>结果</a:t>
            </a:r>
            <a:r>
              <a:rPr lang="zh-CN" altLang="en-US" dirty="0"/>
              <a:t>存储在目的操作数中</a:t>
            </a:r>
            <a:endParaRPr lang="en-US" altLang="zh-CN" dirty="0"/>
          </a:p>
          <a:p>
            <a:pPr lvl="1"/>
            <a:r>
              <a:rPr lang="en-US" altLang="zh-CN" dirty="0"/>
              <a:t>ADD </a:t>
            </a:r>
            <a:r>
              <a:rPr lang="zh-CN" altLang="en-US" dirty="0"/>
              <a:t>目的操作数，源操作数</a:t>
            </a:r>
            <a:endParaRPr lang="en-US" altLang="zh-CN" dirty="0"/>
          </a:p>
          <a:p>
            <a:pPr lvl="1"/>
            <a:r>
              <a:rPr lang="zh-CN" altLang="en-US" dirty="0"/>
              <a:t>影响标志位</a:t>
            </a:r>
            <a:r>
              <a:rPr lang="en-US" altLang="zh-CN" dirty="0"/>
              <a:t>CF</a:t>
            </a:r>
            <a:r>
              <a:rPr lang="zh-CN" altLang="en-US" dirty="0"/>
              <a:t>、</a:t>
            </a:r>
            <a:r>
              <a:rPr lang="en-US" altLang="zh-CN" dirty="0"/>
              <a:t>ZF</a:t>
            </a:r>
            <a:r>
              <a:rPr lang="zh-CN" altLang="en-US" dirty="0"/>
              <a:t>、</a:t>
            </a:r>
            <a:r>
              <a:rPr lang="en-US" altLang="zh-CN" dirty="0"/>
              <a:t>SF</a:t>
            </a:r>
            <a:r>
              <a:rPr lang="zh-CN" altLang="en-US" dirty="0"/>
              <a:t>、</a:t>
            </a:r>
            <a:r>
              <a:rPr lang="en-US" altLang="zh-CN" dirty="0"/>
              <a:t>OF</a:t>
            </a:r>
            <a:r>
              <a:rPr lang="zh-CN" altLang="en-US" dirty="0"/>
              <a:t>、</a:t>
            </a:r>
            <a:r>
              <a:rPr lang="en-US" altLang="zh-CN" dirty="0"/>
              <a:t>AF</a:t>
            </a:r>
            <a:r>
              <a:rPr lang="zh-CN" altLang="en-US" dirty="0"/>
              <a:t>、</a:t>
            </a:r>
            <a:r>
              <a:rPr lang="en-US" altLang="zh-CN" dirty="0"/>
              <a:t>PF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051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FCB501-94F7-463D-9ED1-6EB74AE92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SUB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CB1F67-4726-4236-8724-5012EFC34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SUB</a:t>
            </a:r>
            <a:r>
              <a:rPr lang="zh-CN" altLang="en-US" dirty="0"/>
              <a:t>指令将源操作数从目的操作数中减掉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sub &lt;reg&gt;,&lt;reg&gt;</a:t>
            </a:r>
            <a:br>
              <a:rPr lang="en-US" altLang="zh-CN" dirty="0"/>
            </a:br>
            <a:r>
              <a:rPr lang="en-US" altLang="zh-CN" dirty="0"/>
              <a:t>sub &lt;reg&gt;,&lt;mem&gt;</a:t>
            </a:r>
            <a:br>
              <a:rPr lang="en-US" altLang="zh-CN" dirty="0"/>
            </a:br>
            <a:r>
              <a:rPr lang="en-US" altLang="zh-CN" dirty="0"/>
              <a:t>sub &lt;mem&gt;,&lt;reg&gt;</a:t>
            </a:r>
            <a:br>
              <a:rPr lang="en-US" altLang="zh-CN" dirty="0"/>
            </a:br>
            <a:r>
              <a:rPr lang="en-US" altLang="zh-CN" dirty="0"/>
              <a:t>sub &lt;reg&gt;,&lt;imm&gt;</a:t>
            </a:r>
            <a:br>
              <a:rPr lang="en-US" altLang="zh-CN" dirty="0"/>
            </a:br>
            <a:r>
              <a:rPr lang="en-US" altLang="zh-CN" dirty="0"/>
              <a:t>sub &lt;mem&gt;,&lt;imm&gt;</a:t>
            </a:r>
          </a:p>
          <a:p>
            <a:r>
              <a:rPr lang="en-US" altLang="zh-CN" dirty="0"/>
              <a:t>SUB </a:t>
            </a:r>
            <a:r>
              <a:rPr lang="zh-CN" altLang="en-US" dirty="0"/>
              <a:t>目的操作数， 源操作数</a:t>
            </a:r>
            <a:endParaRPr lang="en-US" altLang="zh-CN" dirty="0"/>
          </a:p>
          <a:p>
            <a:r>
              <a:rPr lang="zh-CN" altLang="en-US" dirty="0"/>
              <a:t>影响的标志位有</a:t>
            </a:r>
            <a:r>
              <a:rPr lang="en-US" altLang="zh-CN" dirty="0"/>
              <a:t>CF</a:t>
            </a:r>
            <a:r>
              <a:rPr lang="zh-CN" altLang="en-US" dirty="0"/>
              <a:t>、</a:t>
            </a:r>
            <a:r>
              <a:rPr lang="en-US" altLang="zh-CN" dirty="0"/>
              <a:t>ZF</a:t>
            </a:r>
            <a:r>
              <a:rPr lang="zh-CN" altLang="en-US" dirty="0"/>
              <a:t>、</a:t>
            </a:r>
            <a:r>
              <a:rPr lang="en-US" altLang="zh-CN" dirty="0"/>
              <a:t>SF</a:t>
            </a:r>
            <a:r>
              <a:rPr lang="zh-CN" altLang="en-US" dirty="0"/>
              <a:t>、</a:t>
            </a:r>
            <a:r>
              <a:rPr lang="en-US" altLang="zh-CN" dirty="0"/>
              <a:t>OF</a:t>
            </a:r>
            <a:r>
              <a:rPr lang="zh-CN" altLang="en-US" dirty="0"/>
              <a:t>、</a:t>
            </a:r>
            <a:r>
              <a:rPr lang="en-US" altLang="zh-CN" dirty="0"/>
              <a:t>AF</a:t>
            </a:r>
            <a:r>
              <a:rPr lang="zh-CN" altLang="en-US" dirty="0"/>
              <a:t>、</a:t>
            </a:r>
            <a:r>
              <a:rPr lang="en-US" altLang="zh-CN" dirty="0"/>
              <a:t>PF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97444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E2CA9F-37CF-4E48-AF07-BD8CC6F9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NEG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83283F-6E3A-4054-A6F4-5ADDE959A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NEG</a:t>
            </a:r>
            <a:r>
              <a:rPr lang="zh-CN" altLang="en-US" dirty="0"/>
              <a:t>（</a:t>
            </a:r>
            <a:r>
              <a:rPr lang="en-US" altLang="zh-CN" dirty="0"/>
              <a:t>negate</a:t>
            </a:r>
            <a:r>
              <a:rPr lang="zh-CN" altLang="en-US" dirty="0"/>
              <a:t>）指令通过将数字转换为对应的补码而求得其相反数</a:t>
            </a:r>
            <a:endParaRPr lang="en-US" altLang="zh-CN" dirty="0"/>
          </a:p>
          <a:p>
            <a:pPr lvl="1"/>
            <a:r>
              <a:rPr lang="en-US" altLang="zh-CN" dirty="0"/>
              <a:t>neg &lt;reg&gt;</a:t>
            </a:r>
            <a:br>
              <a:rPr lang="en-US" altLang="zh-CN" dirty="0"/>
            </a:br>
            <a:r>
              <a:rPr lang="en-US" altLang="zh-CN" dirty="0"/>
              <a:t>neg &lt;mem&gt;</a:t>
            </a:r>
          </a:p>
          <a:p>
            <a:r>
              <a:rPr lang="zh-CN" altLang="en-US" dirty="0"/>
              <a:t>影响的标志位：</a:t>
            </a:r>
            <a:r>
              <a:rPr lang="en-US" altLang="zh-CN" dirty="0"/>
              <a:t>CF</a:t>
            </a:r>
            <a:r>
              <a:rPr lang="zh-CN" altLang="en-US" dirty="0"/>
              <a:t>、</a:t>
            </a:r>
            <a:r>
              <a:rPr lang="en-US" altLang="zh-CN" dirty="0"/>
              <a:t>ZF</a:t>
            </a:r>
            <a:r>
              <a:rPr lang="zh-CN" altLang="en-US" dirty="0"/>
              <a:t>、</a:t>
            </a:r>
            <a:r>
              <a:rPr lang="en-US" altLang="zh-CN" dirty="0"/>
              <a:t>SF</a:t>
            </a:r>
            <a:r>
              <a:rPr lang="zh-CN" altLang="en-US" dirty="0"/>
              <a:t>、</a:t>
            </a:r>
            <a:r>
              <a:rPr lang="en-US" altLang="zh-CN" dirty="0"/>
              <a:t>OF</a:t>
            </a:r>
            <a:r>
              <a:rPr lang="zh-CN" altLang="en-US" dirty="0"/>
              <a:t>、</a:t>
            </a:r>
            <a:r>
              <a:rPr lang="en-US" altLang="zh-CN" dirty="0"/>
              <a:t>AF</a:t>
            </a:r>
            <a:r>
              <a:rPr lang="zh-CN" altLang="en-US" dirty="0"/>
              <a:t>、</a:t>
            </a:r>
            <a:r>
              <a:rPr lang="en-US" altLang="zh-CN" dirty="0"/>
              <a:t>PF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42049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9D9AF0F-40C2-426C-B7ED-16A16C523FC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0"/>
            <a:ext cx="7315200" cy="459687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.data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var1 DWORD 1000h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.code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neg var1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;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NEG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操作之后，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var1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的十六进制值是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EF9BEAF-4460-415A-A452-5A25538926B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85D2A6-88B7-46FF-9888-18195301DA2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BDD14FF-EE07-4F3A-8EAC-90F35C931C95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AB7EFFBE-B595-428B-A004-405BA87FDCF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EBC9A4DC-8C2C-4042-88FB-618B54538F0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4F95C3AF-42F8-476D-A7C4-744EF32C68F7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A7B8254C-1B74-41FE-A59E-399045BB4E84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9F2B709-93D2-487F-8DB4-04DC5B388B55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14374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E40322-094F-42A2-BA08-06EEAD528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直接偏移操作数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9ED060-E3AE-4044-8F14-3E26E5F00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在变量名后面加上一个偏移值，可以创建直接偏移（</a:t>
            </a:r>
            <a:r>
              <a:rPr lang="en-US" altLang="zh-CN" dirty="0">
                <a:solidFill>
                  <a:srgbClr val="FF0000"/>
                </a:solidFill>
              </a:rPr>
              <a:t>direct-offset</a:t>
            </a:r>
            <a:r>
              <a:rPr lang="zh-CN" altLang="en-US" dirty="0"/>
              <a:t>）操作数</a:t>
            </a:r>
            <a:endParaRPr lang="en-US" altLang="zh-CN" dirty="0"/>
          </a:p>
          <a:p>
            <a:r>
              <a:rPr lang="zh-CN" altLang="en-US" dirty="0"/>
              <a:t>访问</a:t>
            </a:r>
            <a:r>
              <a:rPr lang="zh-CN" altLang="en-US" dirty="0">
                <a:solidFill>
                  <a:srgbClr val="002060"/>
                </a:solidFill>
              </a:rPr>
              <a:t>没有显式标号的内存</a:t>
            </a:r>
            <a:endParaRPr lang="en-US" altLang="zh-CN" dirty="0">
              <a:solidFill>
                <a:srgbClr val="00206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23546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37582"/>
            <a:ext cx="9144000" cy="1143000"/>
          </a:xfrm>
        </p:spPr>
        <p:txBody>
          <a:bodyPr/>
          <a:lstStyle/>
          <a:p>
            <a:pPr algn="ctr"/>
            <a:r>
              <a:rPr lang="en-US" altLang="zh-CN" dirty="0"/>
              <a:t>3. </a:t>
            </a:r>
            <a:r>
              <a:rPr lang="zh-CN" altLang="en-US" dirty="0"/>
              <a:t>操作符和伪指令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4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5AF04-CED2-4C2D-BA5D-CA8C5230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113" y="790838"/>
            <a:ext cx="7345362" cy="868363"/>
          </a:xfrm>
        </p:spPr>
        <p:txBody>
          <a:bodyPr>
            <a:normAutofit/>
          </a:bodyPr>
          <a:lstStyle/>
          <a:p>
            <a:r>
              <a:rPr lang="zh-CN" altLang="en-US" dirty="0"/>
              <a:t>数据相关的伪指令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E307C5-F895-4548-A616-9905D8EC1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346" y="1659201"/>
            <a:ext cx="10445025" cy="5036171"/>
          </a:xfrm>
        </p:spPr>
        <p:txBody>
          <a:bodyPr>
            <a:normAutofit/>
          </a:bodyPr>
          <a:lstStyle/>
          <a:p>
            <a:r>
              <a:rPr lang="en-US" altLang="zh-CN" dirty="0"/>
              <a:t>BYTE</a:t>
            </a:r>
            <a:r>
              <a:rPr lang="zh-CN" altLang="en-US" dirty="0"/>
              <a:t>、</a:t>
            </a:r>
            <a:r>
              <a:rPr lang="en-US" altLang="zh-CN" dirty="0"/>
              <a:t>WORD</a:t>
            </a:r>
            <a:r>
              <a:rPr lang="zh-CN" altLang="en-US" dirty="0"/>
              <a:t>、</a:t>
            </a:r>
            <a:r>
              <a:rPr lang="en-US" altLang="zh-CN" dirty="0"/>
              <a:t>DWORD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ALIGN</a:t>
            </a:r>
            <a:r>
              <a:rPr lang="zh-CN" altLang="en-US" dirty="0">
                <a:solidFill>
                  <a:srgbClr val="FF0000"/>
                </a:solidFill>
              </a:rPr>
              <a:t>伪指令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LABEL</a:t>
            </a:r>
            <a:r>
              <a:rPr lang="zh-CN" altLang="en-US" dirty="0">
                <a:solidFill>
                  <a:srgbClr val="FF0000"/>
                </a:solidFill>
              </a:rPr>
              <a:t>伪指令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6C36FE-9AE1-4D83-AF45-22714BA99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589" y="2312037"/>
            <a:ext cx="7328593" cy="19388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03A2301-EEF6-4F43-9B4F-4DFD692F1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29" y="3966176"/>
            <a:ext cx="6142666" cy="230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5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8F4A5-F3C8-4522-9B8A-FE6240320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zh-CN" altLang="en-US" dirty="0"/>
              <a:t>数据相关的操作符（</a:t>
            </a:r>
            <a:r>
              <a:rPr lang="en-US" altLang="zh-CN" dirty="0"/>
              <a:t>Operator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E8DBE3-4AE5-4E12-914E-16F9975FD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PTR</a:t>
            </a:r>
            <a:r>
              <a:rPr lang="zh-CN" altLang="en-US" dirty="0"/>
              <a:t>操作符</a:t>
            </a:r>
            <a:endParaRPr lang="en-US" altLang="zh-CN" dirty="0"/>
          </a:p>
          <a:p>
            <a:r>
              <a:rPr lang="en-US" altLang="zh-CN" dirty="0"/>
              <a:t>TYPE</a:t>
            </a:r>
            <a:r>
              <a:rPr lang="zh-CN" altLang="en-US" dirty="0"/>
              <a:t>操作符</a:t>
            </a:r>
            <a:endParaRPr lang="en-US" altLang="zh-CN" dirty="0"/>
          </a:p>
          <a:p>
            <a:r>
              <a:rPr lang="en-US" altLang="zh-CN" dirty="0"/>
              <a:t>LENGTHOF</a:t>
            </a:r>
            <a:r>
              <a:rPr lang="zh-CN" altLang="en-US" dirty="0"/>
              <a:t>操作符</a:t>
            </a:r>
            <a:endParaRPr lang="en-US" altLang="zh-CN" dirty="0"/>
          </a:p>
          <a:p>
            <a:r>
              <a:rPr lang="en-US" altLang="zh-CN" dirty="0"/>
              <a:t>SIZEOF</a:t>
            </a:r>
            <a:r>
              <a:rPr lang="zh-CN" altLang="en-US" dirty="0"/>
              <a:t>操作符</a:t>
            </a:r>
            <a:endParaRPr lang="en-US" altLang="zh-CN" dirty="0"/>
          </a:p>
          <a:p>
            <a:r>
              <a:rPr lang="en-US" altLang="zh-CN" dirty="0"/>
              <a:t>OFFSET</a:t>
            </a:r>
            <a:r>
              <a:rPr lang="zh-CN" altLang="en-US" dirty="0"/>
              <a:t>操作符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B31E5A-E71E-4B39-A0D6-B5B82F7F1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436" y="1825625"/>
            <a:ext cx="7645698" cy="152328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593EBD6-5D32-4C24-A01A-DD9DFB52B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196" y="3233647"/>
            <a:ext cx="6762877" cy="280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60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C23F82-A241-4D12-9F1B-7B0D8B566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OFFSET</a:t>
            </a:r>
            <a:r>
              <a:rPr lang="zh-CN" altLang="en-US" dirty="0"/>
              <a:t>操作符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251525-7AC1-4F9F-B303-9B3586CFA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OFFSET</a:t>
            </a:r>
            <a:r>
              <a:rPr lang="zh-CN" altLang="en-US" dirty="0"/>
              <a:t>操作符返回数据标号的</a:t>
            </a:r>
            <a:r>
              <a:rPr lang="zh-CN" altLang="en-US" dirty="0">
                <a:solidFill>
                  <a:srgbClr val="FF0000"/>
                </a:solidFill>
              </a:rPr>
              <a:t>偏移地址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偏移地址表示标号距离</a:t>
            </a:r>
            <a:r>
              <a:rPr lang="zh-CN" altLang="en-US" dirty="0">
                <a:solidFill>
                  <a:srgbClr val="FF0000"/>
                </a:solidFill>
              </a:rPr>
              <a:t>数据段</a:t>
            </a:r>
            <a:r>
              <a:rPr lang="zh-CN" altLang="en-US" dirty="0"/>
              <a:t>开始的距离</a:t>
            </a:r>
            <a:endParaRPr lang="en-US" altLang="zh-CN" dirty="0"/>
          </a:p>
          <a:p>
            <a:pPr lvl="1"/>
            <a:r>
              <a:rPr lang="en-US" altLang="zh-CN" dirty="0"/>
              <a:t>CS</a:t>
            </a:r>
            <a:r>
              <a:rPr lang="zh-CN" altLang="en-US" dirty="0"/>
              <a:t>的值一般是</a:t>
            </a:r>
            <a:r>
              <a:rPr lang="en-US" altLang="zh-CN" dirty="0"/>
              <a:t>0</a:t>
            </a:r>
          </a:p>
          <a:p>
            <a:pPr lvl="1"/>
            <a:r>
              <a:rPr lang="en-US" altLang="zh-CN" dirty="0"/>
              <a:t>CS</a:t>
            </a:r>
            <a:r>
              <a:rPr lang="zh-CN" altLang="en-US" dirty="0"/>
              <a:t>为零的时候，</a:t>
            </a:r>
            <a:r>
              <a:rPr lang="en-US" altLang="zh-CN" dirty="0"/>
              <a:t>OFFSET</a:t>
            </a:r>
            <a:r>
              <a:rPr lang="zh-CN" altLang="en-US" dirty="0"/>
              <a:t>等同内存虚拟地址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73506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A1946B-E36F-47F4-9BE1-942B3B3FE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OFFSET</a:t>
            </a:r>
            <a:r>
              <a:rPr lang="zh-CN" altLang="en-US" dirty="0"/>
              <a:t>操作符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973C26B-AAA2-4C98-AC82-BA2CF154B4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29209" y="2055127"/>
            <a:ext cx="2660160" cy="2825015"/>
          </a:xfrm>
          <a:prstGeom prst="rect">
            <a:avLst/>
          </a:prstGeom>
        </p:spPr>
      </p:pic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759160C-4767-48E2-9A14-1F71CAA8D0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379626" y="3030346"/>
            <a:ext cx="4956021" cy="86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626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7F0427B-CBD2-4799-93FF-53259C01F8C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OFFSET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操作符获得的偏移地址占用几个字节？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F9EFB8-C9B7-42CF-8005-DDFC62B56B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字节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F0F5E0-3273-4722-B444-6E73D317150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字节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E1F7005-112D-4B59-B7E3-013D18F270D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字节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71BAE71-48CC-4633-A68F-DEB4717D0B2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字节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BE34079-B17A-4F24-BA44-D5F18DC15D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2020C22-CB69-4AE4-B571-C9AC6F3F95A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CD9E52B-AF6A-4346-B273-9F6C9D81696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011AE78-E65D-4204-B1E1-43002E400D2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4C59EC8-A395-4CD1-8D36-FF554749965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6F83452-364B-434F-9272-941D251A90F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79014471-4F1A-4A29-A79C-E809FC1A910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8377F457-A0AA-447B-BFF8-5E3E53D1F3B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1D5CB26D-4FAD-451B-AB9C-E4C27B53D08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2A3FA171-BA9C-4202-B472-81ECE7781F0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EF852779-D6E6-40B2-828B-F112DDAD5B3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837615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F78D6-AEFB-46DD-A0D7-7E7151103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ALIGN</a:t>
            </a:r>
            <a:r>
              <a:rPr lang="zh-CN" altLang="en-US" dirty="0"/>
              <a:t>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C3409-A7E9-4514-AC5B-3AF3561BC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ALIGN</a:t>
            </a:r>
            <a:r>
              <a:rPr lang="zh-CN" altLang="en-US" dirty="0"/>
              <a:t>指令将变量的位置按</a:t>
            </a:r>
            <a:r>
              <a:rPr lang="en-US" altLang="zh-CN" dirty="0"/>
              <a:t>BYTE</a:t>
            </a:r>
            <a:r>
              <a:rPr lang="zh-CN" altLang="en-US" dirty="0"/>
              <a:t>、</a:t>
            </a:r>
            <a:r>
              <a:rPr lang="en-US" altLang="zh-CN" dirty="0"/>
              <a:t>WORD</a:t>
            </a:r>
            <a:r>
              <a:rPr lang="zh-CN" altLang="en-US" dirty="0"/>
              <a:t>、</a:t>
            </a:r>
            <a:r>
              <a:rPr lang="en-US" altLang="zh-CN" dirty="0"/>
              <a:t>DWORD</a:t>
            </a:r>
            <a:r>
              <a:rPr lang="zh-CN" altLang="en-US" dirty="0"/>
              <a:t>边界对齐</a:t>
            </a:r>
            <a:endParaRPr lang="en-US" altLang="zh-CN" dirty="0"/>
          </a:p>
          <a:p>
            <a:pPr lvl="1"/>
            <a:r>
              <a:rPr lang="en-US" altLang="zh-CN" dirty="0"/>
              <a:t>ALIGN </a:t>
            </a:r>
            <a:r>
              <a:rPr lang="zh-CN" altLang="en-US" dirty="0"/>
              <a:t>边界值</a:t>
            </a:r>
            <a:endParaRPr lang="en-US" altLang="zh-CN" dirty="0"/>
          </a:p>
          <a:p>
            <a:pPr lvl="1"/>
            <a:r>
              <a:rPr lang="zh-CN" altLang="en-US" dirty="0"/>
              <a:t>边界值可以是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或</a:t>
            </a:r>
            <a:r>
              <a:rPr lang="en-US" altLang="zh-CN" dirty="0"/>
              <a:t>16</a:t>
            </a:r>
            <a:r>
              <a:rPr lang="zh-CN" altLang="en-US" dirty="0"/>
              <a:t>（</a:t>
            </a:r>
            <a:r>
              <a:rPr lang="en-US" altLang="zh-CN" dirty="0"/>
              <a:t> a power of 2 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“</a:t>
            </a:r>
            <a:r>
              <a:rPr lang="en-US" altLang="zh-CN" dirty="0"/>
              <a:t>Aligned data can improve </a:t>
            </a:r>
            <a:r>
              <a:rPr lang="en-US" altLang="zh-CN" dirty="0">
                <a:solidFill>
                  <a:srgbClr val="FF0000"/>
                </a:solidFill>
              </a:rPr>
              <a:t>performance</a:t>
            </a:r>
            <a:r>
              <a:rPr lang="en-US" altLang="zh-CN" dirty="0"/>
              <a:t>, at the expense of wasted </a:t>
            </a:r>
            <a:r>
              <a:rPr lang="en-US" altLang="zh-CN" dirty="0">
                <a:solidFill>
                  <a:srgbClr val="FF0000"/>
                </a:solidFill>
              </a:rPr>
              <a:t>space</a:t>
            </a:r>
            <a:r>
              <a:rPr lang="en-US" altLang="zh-CN" dirty="0"/>
              <a:t> between data elements.</a:t>
            </a:r>
            <a:r>
              <a:rPr lang="zh-CN" alt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06416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5E560-7A13-436D-950C-02F16A953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ALIGN</a:t>
            </a:r>
            <a:r>
              <a:rPr lang="zh-CN" altLang="en-US" dirty="0"/>
              <a:t>伪指令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DC2B86E-2E03-425F-BB76-9FE736E9C9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05748" y="2366083"/>
            <a:ext cx="4235115" cy="1848376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F206B59-8D56-4FDD-A1EF-1D0DEA8CB5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424113" y="4731105"/>
            <a:ext cx="6587700" cy="172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306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DD9B6-CCD1-49A6-B2CC-0B8F816A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942200-E8D0-4D3D-A5C1-2CAD0CADD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When data is aligned, the skipped space is </a:t>
            </a:r>
            <a:r>
              <a:rPr lang="en-US" altLang="zh-CN" dirty="0">
                <a:solidFill>
                  <a:srgbClr val="FF0000"/>
                </a:solidFill>
              </a:rPr>
              <a:t>padded with zeroes</a:t>
            </a:r>
            <a:r>
              <a:rPr lang="en-US" altLang="zh-CN" dirty="0"/>
              <a:t>. When instructions are aligned, the skipped space is </a:t>
            </a:r>
            <a:r>
              <a:rPr lang="en-US" altLang="zh-CN" dirty="0">
                <a:solidFill>
                  <a:srgbClr val="FF0000"/>
                </a:solidFill>
              </a:rPr>
              <a:t>filled with appropriately-sized NOP instructions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https://docs.microsoft.com/en-us/cpp/assembler/masm/align-masm?view=msvc-160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21566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34EB548-4987-4F30-95FB-508B3C559E9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判断题：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ALIGN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伪指令可以对代码段的指令进行对齐操作。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24FD74-7373-45BF-B112-442DD4200B7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1BD16C-D9BC-40E6-A000-AF2D0DC6A60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8C3988A-5654-48F9-B920-AC7A553C0696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520787F-0EE5-4687-802C-2BC12D14B171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7BBCC1D-1CAA-4FD8-93AF-DEAE81DDD17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743D9C7-F298-40F5-A21E-292E472702AB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1FE0F2CA-86EA-48A9-8BFB-A656957BD8E3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C5414D0F-068C-4069-BE03-1C3A0FFCD57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1451A243-5582-48A4-9409-EE976A4269B4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17FF7338-7E85-4DE0-90FA-88DB3D664FEF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0AF3B394-4826-4321-91EE-7EAFFE5B8DB5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52946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9F778C-C27D-4BE6-98B1-A31D0F73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PTR</a:t>
            </a:r>
            <a:r>
              <a:rPr lang="zh-CN" altLang="en-US" dirty="0"/>
              <a:t>操作符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380E97-AEC2-4B9B-8ECA-0D8E121BB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PTR</a:t>
            </a:r>
            <a:r>
              <a:rPr lang="zh-CN" altLang="en-US" dirty="0"/>
              <a:t>操作符可以</a:t>
            </a:r>
            <a:r>
              <a:rPr lang="zh-CN" altLang="en-US" dirty="0">
                <a:solidFill>
                  <a:srgbClr val="FF0000"/>
                </a:solidFill>
              </a:rPr>
              <a:t>重载</a:t>
            </a:r>
            <a:r>
              <a:rPr lang="zh-CN" altLang="en-US" dirty="0"/>
              <a:t>操作数声明的默认尺寸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81FFAA-AA1D-435E-A8BE-0138B1ADA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176" y="3429001"/>
            <a:ext cx="4192619" cy="27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3506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22F6FCB-54A2-43AF-B974-4B6B97B8324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0"/>
            <a:ext cx="7315200" cy="409725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.data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    var1 DWORD 12345678h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.code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    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movzx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, BYTE PTR var1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; 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寄存器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的十六进制值是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52840C7-8EA1-4A61-9654-065B352130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343DA7-67CF-4056-934C-A04987AAFD4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3196819-3EB4-4FDC-B793-54148D4F021B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520EAE3E-F711-4A84-B891-A140229EC64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8CDA4A48-EF48-4BFE-976E-9B1875B8B60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13DABF22-9076-48FB-ADFB-E8672ACC041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FCB06E68-EB77-4328-ACDB-C05367C2F603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CD0F51A-2D60-478E-A57D-BEB763836E4F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3713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A3FC3CB-B9BF-4BB4-B536-ACA808673B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484854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.data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    var1 WORD 1234h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    var2 WORD 5678h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.code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    mov 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,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DWORD PTR 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var1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; 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寄存器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的十六进制值是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35C0E7E-F4A7-4663-AA4E-F4DEFF3DAB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37854B-4917-439E-888E-A9C35C40230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4901E07-F4EA-4968-803A-9DA96F7ECD64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FCF5B603-D328-4F69-B559-1295E10EC94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7CB968BF-BCA3-4304-B9C8-1EFAE04FDA21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6B5F849D-BB51-4334-9F05-A94AA10DAF1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5F102E0F-B7EB-421D-AC01-D616F2BF91D8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4645C54-AC18-4246-9817-844862FA4569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77746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18A2C8-A51D-40C2-BAFB-22D0C388C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TYPE</a:t>
            </a:r>
            <a:r>
              <a:rPr lang="zh-CN" altLang="en-US" dirty="0"/>
              <a:t>操作符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0459CD-C968-4CDF-A507-B89D8A2AF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989138"/>
            <a:ext cx="7940675" cy="4430516"/>
          </a:xfrm>
        </p:spPr>
        <p:txBody>
          <a:bodyPr/>
          <a:lstStyle/>
          <a:p>
            <a:r>
              <a:rPr lang="en-US" altLang="zh-CN" dirty="0"/>
              <a:t>TYPE</a:t>
            </a:r>
            <a:r>
              <a:rPr lang="zh-CN" altLang="en-US" dirty="0"/>
              <a:t>操作符返回变量的字节数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var1 BYTE 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var2 WORD 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var3 DWORD 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mov </a:t>
            </a:r>
            <a:r>
              <a:rPr lang="en-US" altLang="zh-CN" dirty="0" err="1"/>
              <a:t>eax</a:t>
            </a:r>
            <a:r>
              <a:rPr lang="en-US" altLang="zh-CN" dirty="0"/>
              <a:t>, TYPE var2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7755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4DA9F7-6801-4C55-B7D1-6383D01AA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LENGTHOF</a:t>
            </a:r>
            <a:r>
              <a:rPr lang="zh-CN" altLang="en-US" dirty="0"/>
              <a:t>操作符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E456CA-5882-4C84-90BD-D19E97193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LENGTHOF</a:t>
            </a:r>
            <a:r>
              <a:rPr lang="zh-CN" altLang="en-US" dirty="0"/>
              <a:t>操作符计算数组中元素的数目，元素由出现在同一行的值定义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var1 DWORD   0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mov </a:t>
            </a:r>
            <a:r>
              <a:rPr lang="en-US" altLang="zh-CN" dirty="0" err="1"/>
              <a:t>eax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LENGTHOF</a:t>
            </a:r>
            <a:r>
              <a:rPr lang="en-US" altLang="zh-CN" dirty="0"/>
              <a:t> var1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91817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41412-FC0A-4F19-8A45-69ED5659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LENGTHOF</a:t>
            </a:r>
            <a:r>
              <a:rPr lang="zh-CN" altLang="en-US" dirty="0"/>
              <a:t>操作符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945C42-ECB4-434F-9D59-D0507CB1B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var1  DWORD   0</a:t>
            </a:r>
            <a:r>
              <a:rPr lang="zh-CN" altLang="en-US" dirty="0"/>
              <a:t>， </a:t>
            </a:r>
            <a:r>
              <a:rPr lang="en-US" altLang="zh-CN" dirty="0"/>
              <a:t>1</a:t>
            </a:r>
            <a:r>
              <a:rPr lang="zh-CN" altLang="en-US" dirty="0"/>
              <a:t>， 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         DWORD   4</a:t>
            </a:r>
            <a:r>
              <a:rPr lang="zh-CN" altLang="en-US" dirty="0"/>
              <a:t>， </a:t>
            </a:r>
            <a:r>
              <a:rPr lang="en-US" altLang="zh-CN" dirty="0"/>
              <a:t>5</a:t>
            </a:r>
            <a:r>
              <a:rPr lang="zh-CN" altLang="en-US" dirty="0"/>
              <a:t>， 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mov </a:t>
            </a:r>
            <a:r>
              <a:rPr lang="en-US" altLang="zh-CN" dirty="0" err="1"/>
              <a:t>eax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LENGTHOF</a:t>
            </a:r>
            <a:r>
              <a:rPr lang="en-US" altLang="zh-CN" dirty="0"/>
              <a:t> var1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198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41412-FC0A-4F19-8A45-69ED5659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LENGTHOF</a:t>
            </a:r>
            <a:r>
              <a:rPr lang="zh-CN" altLang="en-US" dirty="0"/>
              <a:t>操作符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945C42-ECB4-434F-9D59-D0507CB1B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738" y="1879143"/>
            <a:ext cx="7940675" cy="467248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var1 DWORD  0</a:t>
            </a:r>
            <a:r>
              <a:rPr lang="zh-CN" altLang="en-US" dirty="0"/>
              <a:t>， </a:t>
            </a:r>
            <a:r>
              <a:rPr lang="en-US" altLang="zh-CN" dirty="0"/>
              <a:t>1</a:t>
            </a:r>
            <a:r>
              <a:rPr lang="zh-CN" altLang="en-US" dirty="0"/>
              <a:t>， 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                         4</a:t>
            </a:r>
            <a:r>
              <a:rPr lang="zh-CN" altLang="en-US" dirty="0"/>
              <a:t>， </a:t>
            </a:r>
            <a:r>
              <a:rPr lang="en-US" altLang="zh-CN" dirty="0"/>
              <a:t>5</a:t>
            </a:r>
            <a:r>
              <a:rPr lang="zh-CN" altLang="en-US" dirty="0"/>
              <a:t>， 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mov </a:t>
            </a:r>
            <a:r>
              <a:rPr lang="en-US" altLang="zh-CN" dirty="0" err="1"/>
              <a:t>eax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LENGTHOF</a:t>
            </a:r>
            <a:r>
              <a:rPr lang="en-US" altLang="zh-CN" dirty="0"/>
              <a:t> var1</a:t>
            </a:r>
            <a:endParaRPr lang="zh-CN" altLang="en-US" dirty="0"/>
          </a:p>
          <a:p>
            <a:r>
              <a:rPr lang="zh-CN" altLang="en-US" dirty="0"/>
              <a:t>第一行的最后加一个逗号，连接下一行的初始值</a:t>
            </a:r>
          </a:p>
        </p:txBody>
      </p:sp>
    </p:spTree>
    <p:extLst>
      <p:ext uri="{BB962C8B-B14F-4D97-AF65-F5344CB8AC3E}">
        <p14:creationId xmlns:p14="http://schemas.microsoft.com/office/powerpoint/2010/main" val="357415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E2097D-F4BC-41F3-800B-711697F1C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SIZEOF</a:t>
            </a:r>
            <a:r>
              <a:rPr lang="zh-CN" altLang="en-US" dirty="0"/>
              <a:t>操作符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9E4497-469B-4F1E-A0C1-616607CAE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SIZEOF</a:t>
            </a:r>
            <a:r>
              <a:rPr lang="zh-CN" altLang="en-US" dirty="0"/>
              <a:t>操作符的返回值等于</a:t>
            </a:r>
            <a:r>
              <a:rPr lang="en-US" altLang="zh-CN" dirty="0"/>
              <a:t>LENGTHOF</a:t>
            </a:r>
            <a:r>
              <a:rPr lang="zh-CN" altLang="en-US" dirty="0"/>
              <a:t>和</a:t>
            </a:r>
            <a:r>
              <a:rPr lang="en-US" altLang="zh-CN" dirty="0"/>
              <a:t>TYPE</a:t>
            </a:r>
            <a:r>
              <a:rPr lang="zh-CN" altLang="en-US" dirty="0"/>
              <a:t>返回值的乘积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var1 DWORD  0</a:t>
            </a:r>
            <a:r>
              <a:rPr lang="zh-CN" altLang="en-US" dirty="0"/>
              <a:t>， </a:t>
            </a:r>
            <a:r>
              <a:rPr lang="en-US" altLang="zh-CN" dirty="0"/>
              <a:t>1</a:t>
            </a:r>
            <a:r>
              <a:rPr lang="zh-CN" altLang="en-US" dirty="0"/>
              <a:t>， 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                         4</a:t>
            </a:r>
            <a:r>
              <a:rPr lang="zh-CN" altLang="en-US" dirty="0"/>
              <a:t>， </a:t>
            </a:r>
            <a:r>
              <a:rPr lang="en-US" altLang="zh-CN" dirty="0"/>
              <a:t>5</a:t>
            </a:r>
            <a:r>
              <a:rPr lang="zh-CN" altLang="en-US" dirty="0"/>
              <a:t>， 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mov </a:t>
            </a:r>
            <a:r>
              <a:rPr lang="en-US" altLang="zh-CN" dirty="0" err="1"/>
              <a:t>eax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SIZEOF</a:t>
            </a:r>
            <a:r>
              <a:rPr lang="en-US" altLang="zh-CN" dirty="0"/>
              <a:t> var1</a:t>
            </a:r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58859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924CD-7612-4873-A0FC-536DCA2F5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LABEL</a:t>
            </a:r>
            <a:r>
              <a:rPr lang="zh-CN" altLang="en-US" dirty="0"/>
              <a:t>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B16F72-4406-4572-A439-F2EABCD69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LABEL</a:t>
            </a:r>
            <a:r>
              <a:rPr lang="zh-CN" altLang="en-US" dirty="0"/>
              <a:t>伪指令允许插入一个标号，并赋予其尺寸属性而</a:t>
            </a:r>
            <a:r>
              <a:rPr lang="zh-CN" altLang="en-US" dirty="0">
                <a:solidFill>
                  <a:srgbClr val="FF0000"/>
                </a:solidFill>
              </a:rPr>
              <a:t>无须分配任何实际的存储空间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为数据段内其后定义的变量提供一个</a:t>
            </a:r>
            <a:r>
              <a:rPr lang="zh-CN" altLang="en-US" dirty="0">
                <a:solidFill>
                  <a:srgbClr val="FF0000"/>
                </a:solidFill>
              </a:rPr>
              <a:t>别名</a:t>
            </a:r>
          </a:p>
        </p:txBody>
      </p:sp>
    </p:spTree>
    <p:extLst>
      <p:ext uri="{BB962C8B-B14F-4D97-AF65-F5344CB8AC3E}">
        <p14:creationId xmlns:p14="http://schemas.microsoft.com/office/powerpoint/2010/main" val="41212060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7F070-C2F1-4FF8-8274-CC238E49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LABEL</a:t>
            </a:r>
            <a:r>
              <a:rPr lang="zh-CN" altLang="en-US" dirty="0"/>
              <a:t>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E4AFD1-C7EB-496D-80DF-882FD6177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    </a:t>
            </a:r>
            <a:r>
              <a:rPr lang="en-US" altLang="zh-CN" sz="2800" dirty="0" err="1"/>
              <a:t>dw_var</a:t>
            </a:r>
            <a:r>
              <a:rPr lang="en-US" altLang="zh-CN" sz="2800" dirty="0"/>
              <a:t> LABEL DWORD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    var1 WORD 1234h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    var2 WORD 5678h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    mov </a:t>
            </a:r>
            <a:r>
              <a:rPr lang="en-US" altLang="zh-CN" sz="2800" dirty="0" err="1"/>
              <a:t>eax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dw_var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 err="1">
                <a:solidFill>
                  <a:srgbClr val="FF0000"/>
                </a:solidFill>
              </a:rPr>
              <a:t>eax</a:t>
            </a:r>
            <a:r>
              <a:rPr lang="zh-CN" altLang="en-US" sz="2800" dirty="0">
                <a:solidFill>
                  <a:srgbClr val="FF0000"/>
                </a:solidFill>
              </a:rPr>
              <a:t>等于</a:t>
            </a:r>
            <a:r>
              <a:rPr lang="en-US" altLang="zh-CN" sz="2800" dirty="0">
                <a:solidFill>
                  <a:srgbClr val="FF0000"/>
                </a:solidFill>
              </a:rPr>
              <a:t>56781234h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24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8A924AF-68DC-4709-86BD-CC66061FB47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0"/>
            <a:ext cx="7315200" cy="463458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.data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w_var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LABEL WORD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var1 DWORD 12345678h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.code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movzx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eax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w_var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;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eax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的十六进制值是</a:t>
            </a:r>
            <a:r>
              <a:rPr lang="zh-CN" altLang="en-US" sz="24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4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填空</a:t>
            </a:r>
            <a:r>
              <a:rPr lang="en-US" altLang="zh-CN" sz="24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1]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2BE571D-546D-41B3-9B09-71B1B61B76D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8A7203-8F82-4BE9-B182-F21519120AD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EEEB2A3-508E-498C-B8EA-1B4843550D3F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159343B0-C2D5-4924-8BFC-F3450F1E004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ED9F46FB-DC7C-4A36-B718-A0FCFFB531A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4E6063E1-2140-4343-A117-731B5FF15BA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75F6F694-9DB7-4C70-A00A-E1D83F2CF956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ABCDF59-EE96-451A-9C50-9C05B9589F43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542532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37582"/>
            <a:ext cx="9144000" cy="1143000"/>
          </a:xfrm>
        </p:spPr>
        <p:txBody>
          <a:bodyPr/>
          <a:lstStyle/>
          <a:p>
            <a:pPr algn="ctr"/>
            <a:r>
              <a:rPr lang="en-US" altLang="zh-CN" dirty="0"/>
              <a:t>4. </a:t>
            </a:r>
            <a:r>
              <a:rPr lang="zh-CN" altLang="en-US" dirty="0"/>
              <a:t>循环语句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28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7F070-C2F1-4FF8-8274-CC238E49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JMP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E4AFD1-C7EB-496D-80DF-882FD6177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JMP</a:t>
            </a:r>
            <a:r>
              <a:rPr lang="zh-CN" altLang="en-US" sz="2800" dirty="0"/>
              <a:t>语句的使用特别简单：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JMP [</a:t>
            </a:r>
            <a:r>
              <a:rPr lang="zh-CN" altLang="en-US" dirty="0">
                <a:solidFill>
                  <a:srgbClr val="FF0000"/>
                </a:solidFill>
              </a:rPr>
              <a:t>目标地址</a:t>
            </a:r>
            <a:r>
              <a:rPr lang="en-US" altLang="zh-CN" dirty="0">
                <a:solidFill>
                  <a:srgbClr val="FF0000"/>
                </a:solidFill>
              </a:rPr>
              <a:t>]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同学们，想想这么设计有什么缺陷呢？为什么汇编最终被更加高级的语言所取代</a:t>
            </a:r>
          </a:p>
        </p:txBody>
      </p:sp>
    </p:spTree>
    <p:extLst>
      <p:ext uri="{BB962C8B-B14F-4D97-AF65-F5344CB8AC3E}">
        <p14:creationId xmlns:p14="http://schemas.microsoft.com/office/powerpoint/2010/main" val="26093632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7F070-C2F1-4FF8-8274-CC238E49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E4AFD1-C7EB-496D-80DF-882FD6177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LOOP</a:t>
            </a:r>
            <a:r>
              <a:rPr lang="zh-CN" altLang="en-US" sz="2800" dirty="0"/>
              <a:t>的格式和</a:t>
            </a:r>
            <a:r>
              <a:rPr lang="en-US" altLang="zh-CN" sz="2800" dirty="0"/>
              <a:t>JMP</a:t>
            </a:r>
            <a:r>
              <a:rPr lang="zh-CN" altLang="en-US" sz="2800" dirty="0"/>
              <a:t>指令类似：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LOOP  [</a:t>
            </a:r>
            <a:r>
              <a:rPr lang="zh-CN" altLang="en-US" sz="2800" dirty="0"/>
              <a:t>目的地址</a:t>
            </a:r>
            <a:r>
              <a:rPr lang="en-US" altLang="zh-CN" sz="2800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LOOP</a:t>
            </a:r>
            <a:r>
              <a:rPr lang="zh-CN" altLang="en-US" sz="2800" dirty="0">
                <a:solidFill>
                  <a:srgbClr val="FF0000"/>
                </a:solidFill>
              </a:rPr>
              <a:t>指令类似于</a:t>
            </a:r>
            <a:r>
              <a:rPr lang="en-US" altLang="zh-CN" sz="2800" dirty="0">
                <a:solidFill>
                  <a:srgbClr val="FF0000"/>
                </a:solidFill>
              </a:rPr>
              <a:t>C</a:t>
            </a:r>
            <a:r>
              <a:rPr lang="zh-CN" altLang="en-US" sz="2800" dirty="0">
                <a:solidFill>
                  <a:srgbClr val="FF0000"/>
                </a:solidFill>
              </a:rPr>
              <a:t>语言的</a:t>
            </a:r>
            <a:r>
              <a:rPr lang="en-US" altLang="zh-CN" sz="2800" dirty="0">
                <a:solidFill>
                  <a:srgbClr val="FF0000"/>
                </a:solidFill>
              </a:rPr>
              <a:t>While</a:t>
            </a:r>
            <a:r>
              <a:rPr lang="zh-CN" altLang="en-US" sz="2800" dirty="0">
                <a:solidFill>
                  <a:srgbClr val="FF0000"/>
                </a:solidFill>
              </a:rPr>
              <a:t>循环语句，那么它是如何判断什么时候跳出循环呢？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32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7F070-C2F1-4FF8-8274-CC238E49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E4AFD1-C7EB-496D-80DF-882FD6177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LOOP</a:t>
            </a:r>
            <a:r>
              <a:rPr lang="zh-CN" altLang="en-US" sz="2800" dirty="0"/>
              <a:t>的格式和</a:t>
            </a:r>
            <a:r>
              <a:rPr lang="en-US" altLang="zh-CN" sz="2800" dirty="0"/>
              <a:t>JMP</a:t>
            </a:r>
            <a:r>
              <a:rPr lang="zh-CN" altLang="en-US" sz="2800" dirty="0"/>
              <a:t>指令类似：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LOOP  [</a:t>
            </a:r>
            <a:r>
              <a:rPr lang="zh-CN" altLang="en-US" sz="2800" dirty="0"/>
              <a:t>目的地址</a:t>
            </a:r>
            <a:r>
              <a:rPr lang="en-US" altLang="zh-CN" sz="2800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LOOP</a:t>
            </a:r>
            <a:r>
              <a:rPr lang="zh-CN" altLang="en-US" sz="2800" dirty="0">
                <a:solidFill>
                  <a:srgbClr val="FF0000"/>
                </a:solidFill>
              </a:rPr>
              <a:t>指令类似于</a:t>
            </a:r>
            <a:r>
              <a:rPr lang="en-US" altLang="zh-CN" sz="2800" dirty="0">
                <a:solidFill>
                  <a:srgbClr val="FF0000"/>
                </a:solidFill>
              </a:rPr>
              <a:t>C</a:t>
            </a:r>
            <a:r>
              <a:rPr lang="zh-CN" altLang="en-US" sz="2800" dirty="0">
                <a:solidFill>
                  <a:srgbClr val="FF0000"/>
                </a:solidFill>
              </a:rPr>
              <a:t>语言的</a:t>
            </a:r>
            <a:r>
              <a:rPr lang="en-US" altLang="zh-CN" sz="2800" dirty="0">
                <a:solidFill>
                  <a:srgbClr val="FF0000"/>
                </a:solidFill>
              </a:rPr>
              <a:t>While</a:t>
            </a:r>
            <a:r>
              <a:rPr lang="zh-CN" altLang="en-US" sz="2800" dirty="0">
                <a:solidFill>
                  <a:srgbClr val="FF0000"/>
                </a:solidFill>
              </a:rPr>
              <a:t>循环语句，那么它是如何判断什么时候跳出循环呢？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答案：通过</a:t>
            </a:r>
            <a:r>
              <a:rPr lang="en-US" altLang="zh-CN" sz="2800" dirty="0">
                <a:solidFill>
                  <a:srgbClr val="FF0000"/>
                </a:solidFill>
              </a:rPr>
              <a:t>ECX</a:t>
            </a:r>
            <a:r>
              <a:rPr lang="zh-CN" altLang="en-US" sz="2800" dirty="0">
                <a:solidFill>
                  <a:srgbClr val="FF0000"/>
                </a:solidFill>
              </a:rPr>
              <a:t>寄存器的值是否为</a:t>
            </a:r>
            <a:r>
              <a:rPr lang="en-US" altLang="zh-CN" sz="2800">
                <a:solidFill>
                  <a:srgbClr val="FF0000"/>
                </a:solidFill>
              </a:rPr>
              <a:t>0</a:t>
            </a:r>
            <a:r>
              <a:rPr lang="zh-CN" altLang="en-US" sz="2800">
                <a:solidFill>
                  <a:srgbClr val="FF0000"/>
                </a:solidFill>
              </a:rPr>
              <a:t>来进行计数与判断。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98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37582"/>
            <a:ext cx="9144000" cy="1143000"/>
          </a:xfrm>
        </p:spPr>
        <p:txBody>
          <a:bodyPr/>
          <a:lstStyle/>
          <a:p>
            <a:pPr algn="ctr"/>
            <a:r>
              <a:rPr lang="en-US" altLang="zh-CN" dirty="0"/>
              <a:t>5. </a:t>
            </a:r>
            <a:r>
              <a:rPr lang="zh-CN" altLang="en-US" dirty="0"/>
              <a:t>间接寻址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759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EED674-5AC5-4DB4-8A2A-5A39B3CB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直接偏移操作数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4CF07029-93B4-49C2-AFF3-1362CD92C0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39264" y="1781628"/>
            <a:ext cx="5238327" cy="2623138"/>
          </a:xfrm>
          <a:prstGeom prst="rect">
            <a:avLst/>
          </a:prstGeom>
        </p:spPr>
      </p:pic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B7036015-768C-4090-A8C1-DEAFD365C0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449323" y="2835214"/>
            <a:ext cx="5320152" cy="13597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D758764-8C0C-46EC-9E8E-BC2D1BEDA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370" y="4583876"/>
            <a:ext cx="6773260" cy="143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9171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0400069-5EAF-4EF0-B04B-FE8E62B6A13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1978985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pt-BR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.data</a:t>
            </a:r>
          </a:p>
          <a:p>
            <a:pPr>
              <a:lnSpc>
                <a:spcPct val="150000"/>
              </a:lnSpc>
            </a:pPr>
            <a:r>
              <a:rPr lang="pt-BR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var1 DWORD 1000h, 2000h, 3000h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.code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   mov 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, 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; 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如何访问没有显式标号的内存值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2000h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97754E2-1CEA-4677-848C-F0991A2A096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2D81C4-75E8-40E9-8E5A-509E00BBD4E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3A59795-73CB-4AFE-BAFC-D6FCB05799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-459740"/>
            <a:chExt cx="9144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F20CD5D4-36CC-44E7-8377-22B51C13140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1524000" y="-45974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3566F015-DE70-4367-A14E-EEF2FCD2B97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1524000" y="-45974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89A5DD96-EAAF-46F5-AEF7-194B342702AA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1270000" y="-45974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C551D8DF-EFF5-44B8-8959-686072B8A590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905" y="-3505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DD33BC7C-C838-4A69-821F-B6A0B3CAD064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999492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DD20C-0100-4784-A009-A9DD02B25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间接寻址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0BEEF8-5AC9-42FA-8BAF-AF3407895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zh-CN" altLang="en-US" dirty="0">
                <a:solidFill>
                  <a:srgbClr val="FF0000"/>
                </a:solidFill>
              </a:rPr>
              <a:t>寄存器</a:t>
            </a:r>
            <a:r>
              <a:rPr lang="zh-CN" altLang="en-US" dirty="0"/>
              <a:t>作为指针并控制该寄存器的值称为间接寻址（</a:t>
            </a:r>
            <a:r>
              <a:rPr lang="en-US" altLang="zh-CN" dirty="0"/>
              <a:t>indirect addressing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如果一个操作数使用的是间接寻址，就称之为间接操作数（</a:t>
            </a:r>
            <a:r>
              <a:rPr lang="en-US" altLang="zh-CN" dirty="0"/>
              <a:t>indirect operand</a:t>
            </a:r>
            <a:r>
              <a:rPr lang="zh-CN" altLang="en-US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9992802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9F586-16B9-4478-A41D-C0B84527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间接操作数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9C6E49-CE31-4968-BD81-EF4EDFAB0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任何一个 </a:t>
            </a:r>
            <a:r>
              <a:rPr lang="en-US" altLang="zh-CN" dirty="0">
                <a:solidFill>
                  <a:srgbClr val="FF0000"/>
                </a:solidFill>
              </a:rPr>
              <a:t>32 </a:t>
            </a:r>
            <a:r>
              <a:rPr lang="zh-CN" altLang="en-US" dirty="0">
                <a:solidFill>
                  <a:srgbClr val="FF0000"/>
                </a:solidFill>
              </a:rPr>
              <a:t>位通用寄存器</a:t>
            </a:r>
            <a:r>
              <a:rPr lang="zh-CN" altLang="en-US" dirty="0"/>
              <a:t>（</a:t>
            </a:r>
            <a:r>
              <a:rPr lang="en-US" altLang="zh-CN" dirty="0"/>
              <a:t>EAX</a:t>
            </a:r>
            <a:r>
              <a:rPr lang="zh-CN" altLang="en-US" dirty="0"/>
              <a:t>、</a:t>
            </a:r>
            <a:r>
              <a:rPr lang="en-US" altLang="zh-CN" dirty="0"/>
              <a:t>EBX</a:t>
            </a:r>
            <a:r>
              <a:rPr lang="zh-CN" altLang="en-US" dirty="0"/>
              <a:t>、</a:t>
            </a:r>
            <a:r>
              <a:rPr lang="en-US" altLang="zh-CN" dirty="0"/>
              <a:t>ECX</a:t>
            </a:r>
            <a:r>
              <a:rPr lang="zh-CN" altLang="en-US" dirty="0"/>
              <a:t>、</a:t>
            </a:r>
            <a:r>
              <a:rPr lang="en-US" altLang="zh-CN" dirty="0"/>
              <a:t>EDX</a:t>
            </a:r>
            <a:r>
              <a:rPr lang="zh-CN" altLang="en-US" dirty="0"/>
              <a:t>、</a:t>
            </a:r>
            <a:r>
              <a:rPr lang="en-US" altLang="zh-CN" dirty="0"/>
              <a:t>ESI</a:t>
            </a:r>
            <a:r>
              <a:rPr lang="zh-CN" altLang="en-US" dirty="0"/>
              <a:t>、</a:t>
            </a:r>
            <a:r>
              <a:rPr lang="en-US" altLang="zh-CN" dirty="0"/>
              <a:t>EDI</a:t>
            </a:r>
            <a:r>
              <a:rPr lang="zh-CN" altLang="en-US" dirty="0"/>
              <a:t>、</a:t>
            </a:r>
            <a:r>
              <a:rPr lang="en-US" altLang="zh-CN" dirty="0"/>
              <a:t>EBP </a:t>
            </a:r>
            <a:r>
              <a:rPr lang="zh-CN" altLang="en-US" dirty="0"/>
              <a:t>和 </a:t>
            </a:r>
            <a:r>
              <a:rPr lang="en-US" altLang="zh-CN" dirty="0"/>
              <a:t>ESP</a:t>
            </a:r>
            <a:r>
              <a:rPr lang="zh-CN" altLang="en-US" dirty="0"/>
              <a:t>）加上</a:t>
            </a:r>
            <a:r>
              <a:rPr lang="zh-CN" altLang="en-US" dirty="0">
                <a:solidFill>
                  <a:srgbClr val="FF0000"/>
                </a:solidFill>
              </a:rPr>
              <a:t>方括号</a:t>
            </a:r>
            <a:r>
              <a:rPr lang="zh-CN" altLang="en-US" dirty="0"/>
              <a:t>就能构成一个间接操作数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23067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67F479F-BD15-4AEE-9037-F0A2CFD0052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“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inc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[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eax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]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”指令在编译的时候为什么会出错？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A6C5B5F-7248-48CB-9B9F-D764D17DF7A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ACD28F-6AC0-465C-8677-FCF3E5B02B7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CDCCBE-CBA1-4160-9234-A5EE18FA43F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E78545C-2C0E-4157-A5F5-B7E8FCA88DD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661900" y="6326833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E4E2475-2739-4433-B184-26629B948A3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2827000" y="1270001"/>
            <a:ext cx="333248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C1C8B43-9605-403D-B2F6-7387FD77D55D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12585700" y="0"/>
            <a:ext cx="3815080" cy="647700"/>
            <a:chOff x="9537700" y="0"/>
            <a:chExt cx="3815080" cy="647700"/>
          </a:xfrm>
        </p:grpSpPr>
        <p:sp>
          <p:nvSpPr>
            <p:cNvPr id="13" name="RemarkBack">
              <a:extLst>
                <a:ext uri="{FF2B5EF4-FFF2-40B4-BE49-F238E27FC236}">
                  <a16:creationId xmlns:a16="http://schemas.microsoft.com/office/drawing/2014/main" id="{934E2AE3-0323-42E1-9E31-33C589FA8A2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>
              <a:extLst>
                <a:ext uri="{FF2B5EF4-FFF2-40B4-BE49-F238E27FC236}">
                  <a16:creationId xmlns:a16="http://schemas.microsoft.com/office/drawing/2014/main" id="{77C98FC6-D43D-482C-8B90-A903C8F0C665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>
              <a:extLst>
                <a:ext uri="{FF2B5EF4-FFF2-40B4-BE49-F238E27FC236}">
                  <a16:creationId xmlns:a16="http://schemas.microsoft.com/office/drawing/2014/main" id="{3F030DCF-504A-49E1-9AA4-2FCEAA29FC91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0154A00F-59E8-4E3C-830A-EADBA8CD3999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emarkBlock">
            <a:extLst>
              <a:ext uri="{FF2B5EF4-FFF2-40B4-BE49-F238E27FC236}">
                <a16:creationId xmlns:a16="http://schemas.microsoft.com/office/drawing/2014/main" id="{165EB0E3-715B-4A08-B23C-116F6666A7A9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RemarkTitleText">
            <a:extLst>
              <a:ext uri="{FF2B5EF4-FFF2-40B4-BE49-F238E27FC236}">
                <a16:creationId xmlns:a16="http://schemas.microsoft.com/office/drawing/2014/main" id="{CA188D9F-4376-44B4-832F-6795F70DBC0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67DB86C-A6B1-4D89-A51D-3735C883168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A7B4B786-DB05-4EB5-A932-6925C2EB883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FDF344E1-DA23-4842-B028-F8C7B6F71B3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EC5701BC-AEE3-431C-846B-07D1DC11DD4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7B6B23B7-4A78-4F9D-87F6-E85074A73DA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ACA134A-ABFF-400D-BB1B-6BDF8825AE8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96574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C9AC9-C5ED-4821-A810-4A8936DE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间接操作数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F51E75-18EE-44EE-AFD4-2EF64A208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val</a:t>
            </a:r>
            <a:r>
              <a:rPr lang="en-US" altLang="zh-CN" dirty="0"/>
              <a:t>  DWORD 12345678h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mov </a:t>
            </a:r>
            <a:r>
              <a:rPr lang="en-US" altLang="zh-CN" dirty="0" err="1"/>
              <a:t>esi</a:t>
            </a:r>
            <a:r>
              <a:rPr lang="en-US" altLang="zh-CN" dirty="0"/>
              <a:t>, OFFSET </a:t>
            </a:r>
            <a:r>
              <a:rPr lang="en-US" altLang="zh-CN" dirty="0" err="1"/>
              <a:t>val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mov </a:t>
            </a:r>
            <a:r>
              <a:rPr lang="en-US" altLang="zh-CN" dirty="0" err="1"/>
              <a:t>eax</a:t>
            </a:r>
            <a:r>
              <a:rPr lang="en-US" altLang="zh-CN" dirty="0"/>
              <a:t>, DWORD PTR 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en-US" altLang="zh-CN" dirty="0" err="1">
                <a:solidFill>
                  <a:srgbClr val="FF0000"/>
                </a:solidFill>
              </a:rPr>
              <a:t>esi</a:t>
            </a:r>
            <a:r>
              <a:rPr lang="en-US" altLang="zh-CN" dirty="0">
                <a:solidFill>
                  <a:srgbClr val="FF0000"/>
                </a:solidFill>
              </a:rPr>
              <a:t>]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18652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02AE8-1EB0-4B0B-8D71-79EA9A4AD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间接操作数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D226C3-928E-42FA-93E9-FFBE87412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668628"/>
            <a:ext cx="7940675" cy="479816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 err="1"/>
              <a:t>array_dw</a:t>
            </a:r>
            <a:r>
              <a:rPr lang="en-US" altLang="zh-CN" sz="2800" dirty="0"/>
              <a:t> DWORD 10000h, 20000h, 30000h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mov </a:t>
            </a:r>
            <a:r>
              <a:rPr lang="en-US" altLang="zh-CN" sz="2800" dirty="0" err="1"/>
              <a:t>esi</a:t>
            </a:r>
            <a:r>
              <a:rPr lang="en-US" altLang="zh-CN" sz="2800" dirty="0"/>
              <a:t>, OFFSET </a:t>
            </a:r>
            <a:r>
              <a:rPr lang="en-US" altLang="zh-CN" sz="2800" dirty="0" err="1"/>
              <a:t>array_dw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mov </a:t>
            </a:r>
            <a:r>
              <a:rPr lang="en-US" altLang="zh-CN" sz="2800" dirty="0" err="1"/>
              <a:t>eax</a:t>
            </a:r>
            <a:r>
              <a:rPr lang="en-US" altLang="zh-CN" sz="2800" dirty="0"/>
              <a:t>, </a:t>
            </a:r>
            <a:r>
              <a:rPr lang="en-US" altLang="zh-CN" sz="2800" dirty="0">
                <a:solidFill>
                  <a:srgbClr val="FF0000"/>
                </a:solidFill>
              </a:rPr>
              <a:t>[</a:t>
            </a:r>
            <a:r>
              <a:rPr lang="en-US" altLang="zh-CN" sz="2800" dirty="0" err="1">
                <a:solidFill>
                  <a:srgbClr val="FF0000"/>
                </a:solidFill>
              </a:rPr>
              <a:t>esi</a:t>
            </a:r>
            <a:r>
              <a:rPr lang="en-US" altLang="zh-CN" sz="2800" dirty="0">
                <a:solidFill>
                  <a:srgbClr val="FF0000"/>
                </a:solidFill>
              </a:rPr>
              <a:t>] </a:t>
            </a:r>
            <a:r>
              <a:rPr lang="en-US" altLang="zh-CN" sz="2800" dirty="0"/>
              <a:t>;</a:t>
            </a:r>
            <a:r>
              <a:rPr lang="zh-CN" altLang="en-US" sz="2800" dirty="0"/>
              <a:t>（第一个数）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add </a:t>
            </a:r>
            <a:r>
              <a:rPr lang="en-US" altLang="zh-CN" sz="2800" dirty="0" err="1"/>
              <a:t>esi</a:t>
            </a:r>
            <a:r>
              <a:rPr lang="en-US" altLang="zh-CN" sz="2800" dirty="0"/>
              <a:t>, 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add </a:t>
            </a:r>
            <a:r>
              <a:rPr lang="en-US" altLang="zh-CN" sz="2800" dirty="0" err="1"/>
              <a:t>eax</a:t>
            </a:r>
            <a:r>
              <a:rPr lang="en-US" altLang="zh-CN" sz="2800" dirty="0"/>
              <a:t>, </a:t>
            </a:r>
            <a:r>
              <a:rPr lang="en-US" altLang="zh-CN" sz="2800" dirty="0">
                <a:solidFill>
                  <a:srgbClr val="FF0000"/>
                </a:solidFill>
              </a:rPr>
              <a:t>[</a:t>
            </a:r>
            <a:r>
              <a:rPr lang="en-US" altLang="zh-CN" sz="2800" dirty="0" err="1">
                <a:solidFill>
                  <a:srgbClr val="FF0000"/>
                </a:solidFill>
              </a:rPr>
              <a:t>esi</a:t>
            </a:r>
            <a:r>
              <a:rPr lang="en-US" altLang="zh-CN" sz="2800" dirty="0">
                <a:solidFill>
                  <a:srgbClr val="FF0000"/>
                </a:solidFill>
              </a:rPr>
              <a:t>] </a:t>
            </a:r>
            <a:r>
              <a:rPr lang="en-US" altLang="zh-CN" sz="2800" dirty="0"/>
              <a:t>;</a:t>
            </a:r>
            <a:r>
              <a:rPr lang="zh-CN" altLang="en-US" sz="2800" dirty="0"/>
              <a:t>（第二个数）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add </a:t>
            </a:r>
            <a:r>
              <a:rPr lang="en-US" altLang="zh-CN" sz="2800" dirty="0" err="1"/>
              <a:t>esi</a:t>
            </a:r>
            <a:r>
              <a:rPr lang="en-US" altLang="zh-CN" sz="2800" dirty="0"/>
              <a:t>, 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add </a:t>
            </a:r>
            <a:r>
              <a:rPr lang="en-US" altLang="zh-CN" sz="2800" dirty="0" err="1"/>
              <a:t>eax</a:t>
            </a:r>
            <a:r>
              <a:rPr lang="en-US" altLang="zh-CN" sz="2800" dirty="0"/>
              <a:t>, </a:t>
            </a:r>
            <a:r>
              <a:rPr lang="en-US" altLang="zh-CN" sz="2800" dirty="0">
                <a:solidFill>
                  <a:srgbClr val="FF0000"/>
                </a:solidFill>
              </a:rPr>
              <a:t>[</a:t>
            </a:r>
            <a:r>
              <a:rPr lang="en-US" altLang="zh-CN" sz="2800" dirty="0" err="1">
                <a:solidFill>
                  <a:srgbClr val="FF0000"/>
                </a:solidFill>
              </a:rPr>
              <a:t>esi</a:t>
            </a:r>
            <a:r>
              <a:rPr lang="en-US" altLang="zh-CN" sz="2800" dirty="0">
                <a:solidFill>
                  <a:srgbClr val="FF0000"/>
                </a:solidFill>
              </a:rPr>
              <a:t>] </a:t>
            </a:r>
            <a:r>
              <a:rPr lang="en-US" altLang="zh-CN" sz="2800" dirty="0"/>
              <a:t>;</a:t>
            </a:r>
            <a:r>
              <a:rPr lang="zh-CN" altLang="en-US" sz="2800" dirty="0"/>
              <a:t>（第三个数）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96498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E59552-1317-4674-921B-C8EB48A9B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变址操作数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3F440-8D01-453C-88C1-35C6E8F40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098" y="1989139"/>
            <a:ext cx="8823489" cy="4092575"/>
          </a:xfrm>
        </p:spPr>
        <p:txBody>
          <a:bodyPr/>
          <a:lstStyle/>
          <a:p>
            <a:r>
              <a:rPr lang="zh-CN" altLang="en-US" dirty="0"/>
              <a:t>变址操作数（</a:t>
            </a:r>
            <a:r>
              <a:rPr lang="en-US" altLang="zh-CN" dirty="0"/>
              <a:t>indexed operand</a:t>
            </a:r>
            <a:r>
              <a:rPr lang="zh-CN" altLang="en-US" dirty="0"/>
              <a:t>）把常量和寄存器相加以得到一个有效地址</a:t>
            </a:r>
            <a:endParaRPr lang="en-US" altLang="zh-CN" dirty="0"/>
          </a:p>
          <a:p>
            <a:r>
              <a:rPr lang="zh-CN" altLang="en-US" dirty="0"/>
              <a:t>任何</a:t>
            </a:r>
            <a:r>
              <a:rPr lang="en-US" altLang="zh-CN" dirty="0"/>
              <a:t>32</a:t>
            </a:r>
            <a:r>
              <a:rPr lang="zh-CN" altLang="en-US" dirty="0"/>
              <a:t>位通用寄存器都可以作为变址寄存器</a:t>
            </a:r>
            <a:endParaRPr lang="en-US" altLang="zh-CN" dirty="0"/>
          </a:p>
          <a:p>
            <a:pPr lvl="1"/>
            <a:r>
              <a:rPr lang="en-US" altLang="zh-CN" dirty="0"/>
              <a:t>constant[</a:t>
            </a:r>
            <a:r>
              <a:rPr lang="en-US" altLang="zh-CN" i="1" dirty="0"/>
              <a:t>reg</a:t>
            </a:r>
            <a:r>
              <a:rPr lang="en-US" altLang="zh-CN" dirty="0"/>
              <a:t>]</a:t>
            </a:r>
          </a:p>
          <a:p>
            <a:pPr lvl="1"/>
            <a:r>
              <a:rPr lang="en-US" altLang="zh-CN" dirty="0"/>
              <a:t>[</a:t>
            </a:r>
            <a:r>
              <a:rPr lang="en-US" altLang="zh-CN" dirty="0" err="1"/>
              <a:t>constant+</a:t>
            </a:r>
            <a:r>
              <a:rPr lang="en-US" altLang="zh-CN" i="1" dirty="0" err="1"/>
              <a:t>reg</a:t>
            </a:r>
            <a:r>
              <a:rPr lang="en-US" altLang="zh-CN" dirty="0"/>
              <a:t>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03078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74EC7-06E0-4AA7-9B3E-24886F3B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变址操作数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0EB1C8-16B5-454A-B8C5-5D44F38F7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 err="1"/>
              <a:t>array_dw</a:t>
            </a:r>
            <a:r>
              <a:rPr lang="en-US" altLang="zh-CN" sz="2800" dirty="0"/>
              <a:t> DWORD 10000h, 20000h, 30000h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mov </a:t>
            </a:r>
            <a:r>
              <a:rPr lang="en-US" altLang="zh-CN" sz="2800" dirty="0" err="1"/>
              <a:t>esi</a:t>
            </a:r>
            <a:r>
              <a:rPr lang="en-US" altLang="zh-CN" sz="2800" dirty="0"/>
              <a:t>, 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mov </a:t>
            </a:r>
            <a:r>
              <a:rPr lang="en-US" altLang="zh-CN" sz="2800" dirty="0" err="1"/>
              <a:t>eax</a:t>
            </a:r>
            <a:r>
              <a:rPr lang="en-US" altLang="zh-CN" sz="2800" dirty="0"/>
              <a:t>, </a:t>
            </a:r>
            <a:r>
              <a:rPr lang="en-US" altLang="zh-CN" sz="2800" dirty="0" err="1">
                <a:solidFill>
                  <a:srgbClr val="FF0000"/>
                </a:solidFill>
              </a:rPr>
              <a:t>array_dw</a:t>
            </a:r>
            <a:r>
              <a:rPr lang="en-US" altLang="zh-CN" sz="2800" dirty="0">
                <a:solidFill>
                  <a:srgbClr val="FF0000"/>
                </a:solidFill>
              </a:rPr>
              <a:t>[</a:t>
            </a:r>
            <a:r>
              <a:rPr lang="en-US" altLang="zh-CN" sz="2800" dirty="0" err="1">
                <a:solidFill>
                  <a:srgbClr val="FF0000"/>
                </a:solidFill>
              </a:rPr>
              <a:t>esi</a:t>
            </a:r>
            <a:r>
              <a:rPr lang="en-US" altLang="zh-CN" sz="2800" dirty="0">
                <a:solidFill>
                  <a:srgbClr val="FF0000"/>
                </a:solidFill>
              </a:rPr>
              <a:t>] </a:t>
            </a:r>
            <a:r>
              <a:rPr lang="en-US" altLang="zh-CN" sz="2800" dirty="0"/>
              <a:t>;</a:t>
            </a:r>
            <a:r>
              <a:rPr lang="zh-CN" altLang="en-US" sz="2800" dirty="0"/>
              <a:t>（第一个数）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add </a:t>
            </a:r>
            <a:r>
              <a:rPr lang="en-US" altLang="zh-CN" sz="2800" dirty="0" err="1"/>
              <a:t>esi</a:t>
            </a:r>
            <a:r>
              <a:rPr lang="en-US" altLang="zh-CN" sz="2800" dirty="0"/>
              <a:t>, 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add </a:t>
            </a:r>
            <a:r>
              <a:rPr lang="en-US" altLang="zh-CN" sz="2800" dirty="0" err="1"/>
              <a:t>eax</a:t>
            </a:r>
            <a:r>
              <a:rPr lang="en-US" altLang="zh-CN" sz="2800" dirty="0"/>
              <a:t>, </a:t>
            </a:r>
            <a:r>
              <a:rPr lang="en-US" altLang="zh-CN" sz="2800" dirty="0" err="1">
                <a:solidFill>
                  <a:srgbClr val="FF0000"/>
                </a:solidFill>
              </a:rPr>
              <a:t>array_dw</a:t>
            </a:r>
            <a:r>
              <a:rPr lang="en-US" altLang="zh-CN" sz="2800" dirty="0">
                <a:solidFill>
                  <a:srgbClr val="FF0000"/>
                </a:solidFill>
              </a:rPr>
              <a:t>[</a:t>
            </a:r>
            <a:r>
              <a:rPr lang="en-US" altLang="zh-CN" sz="2800" dirty="0" err="1">
                <a:solidFill>
                  <a:srgbClr val="FF0000"/>
                </a:solidFill>
              </a:rPr>
              <a:t>esi</a:t>
            </a:r>
            <a:r>
              <a:rPr lang="en-US" altLang="zh-CN" sz="2800" dirty="0">
                <a:solidFill>
                  <a:srgbClr val="FF0000"/>
                </a:solidFill>
              </a:rPr>
              <a:t>] </a:t>
            </a:r>
            <a:r>
              <a:rPr lang="en-US" altLang="zh-CN" sz="2800" dirty="0"/>
              <a:t>;</a:t>
            </a:r>
            <a:r>
              <a:rPr lang="zh-CN" altLang="en-US" sz="2800" dirty="0"/>
              <a:t>（第二个数）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add </a:t>
            </a:r>
            <a:r>
              <a:rPr lang="en-US" altLang="zh-CN" sz="2800" dirty="0" err="1"/>
              <a:t>esi</a:t>
            </a:r>
            <a:r>
              <a:rPr lang="en-US" altLang="zh-CN" sz="2800" dirty="0"/>
              <a:t>, 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add </a:t>
            </a:r>
            <a:r>
              <a:rPr lang="en-US" altLang="zh-CN" sz="2800" dirty="0" err="1"/>
              <a:t>eax</a:t>
            </a:r>
            <a:r>
              <a:rPr lang="en-US" altLang="zh-CN" sz="2800" dirty="0"/>
              <a:t>, </a:t>
            </a:r>
            <a:r>
              <a:rPr lang="en-US" altLang="zh-CN" sz="2800" dirty="0" err="1">
                <a:solidFill>
                  <a:srgbClr val="FF0000"/>
                </a:solidFill>
              </a:rPr>
              <a:t>array_dw</a:t>
            </a:r>
            <a:r>
              <a:rPr lang="en-US" altLang="zh-CN" sz="2800" dirty="0">
                <a:solidFill>
                  <a:srgbClr val="FF0000"/>
                </a:solidFill>
              </a:rPr>
              <a:t>[</a:t>
            </a:r>
            <a:r>
              <a:rPr lang="en-US" altLang="zh-CN" sz="2800" dirty="0" err="1">
                <a:solidFill>
                  <a:srgbClr val="FF0000"/>
                </a:solidFill>
              </a:rPr>
              <a:t>esi</a:t>
            </a:r>
            <a:r>
              <a:rPr lang="en-US" altLang="zh-CN" sz="2800" dirty="0">
                <a:solidFill>
                  <a:srgbClr val="FF0000"/>
                </a:solidFill>
              </a:rPr>
              <a:t>] </a:t>
            </a:r>
            <a:r>
              <a:rPr lang="en-US" altLang="zh-CN" sz="2800" dirty="0"/>
              <a:t>;</a:t>
            </a:r>
            <a:r>
              <a:rPr lang="zh-CN" altLang="en-US" sz="2800" dirty="0"/>
              <a:t>（第三个数）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082970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75414B-E7AA-4643-9CE4-7BE79FB8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变址操作数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5922BB-0850-4663-B348-843B7BB9C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 err="1"/>
              <a:t>array_dw</a:t>
            </a:r>
            <a:r>
              <a:rPr lang="en-US" altLang="zh-CN" sz="2800" dirty="0"/>
              <a:t> DWORD 10000h, 20000h, 30000h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mov </a:t>
            </a:r>
            <a:r>
              <a:rPr lang="en-US" altLang="zh-CN" sz="2800" dirty="0" err="1"/>
              <a:t>esi</a:t>
            </a:r>
            <a:r>
              <a:rPr lang="en-US" altLang="zh-CN" sz="2800" dirty="0"/>
              <a:t>, OFFSET </a:t>
            </a:r>
            <a:r>
              <a:rPr lang="en-US" altLang="zh-CN" sz="2800" dirty="0" err="1"/>
              <a:t>array_dw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mov </a:t>
            </a:r>
            <a:r>
              <a:rPr lang="en-US" altLang="zh-CN" sz="2800" dirty="0" err="1"/>
              <a:t>eax</a:t>
            </a:r>
            <a:r>
              <a:rPr lang="en-US" altLang="zh-CN" sz="2800" dirty="0"/>
              <a:t>,  </a:t>
            </a:r>
            <a:r>
              <a:rPr lang="en-US" altLang="zh-CN" sz="2800" dirty="0">
                <a:solidFill>
                  <a:srgbClr val="FF0000"/>
                </a:solidFill>
              </a:rPr>
              <a:t>[</a:t>
            </a:r>
            <a:r>
              <a:rPr lang="en-US" altLang="zh-CN" sz="2800" dirty="0" err="1">
                <a:solidFill>
                  <a:srgbClr val="FF0000"/>
                </a:solidFill>
              </a:rPr>
              <a:t>esi</a:t>
            </a:r>
            <a:r>
              <a:rPr lang="en-US" altLang="zh-CN" sz="2800" dirty="0">
                <a:solidFill>
                  <a:srgbClr val="FF0000"/>
                </a:solidFill>
              </a:rPr>
              <a:t>] </a:t>
            </a:r>
            <a:r>
              <a:rPr lang="en-US" altLang="zh-CN" sz="2800" dirty="0"/>
              <a:t>;</a:t>
            </a:r>
            <a:r>
              <a:rPr lang="zh-CN" altLang="en-US" sz="2800" dirty="0"/>
              <a:t>（第一个数）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add </a:t>
            </a:r>
            <a:r>
              <a:rPr lang="en-US" altLang="zh-CN" sz="2800" dirty="0" err="1"/>
              <a:t>eax</a:t>
            </a:r>
            <a:r>
              <a:rPr lang="en-US" altLang="zh-CN" sz="2800" dirty="0"/>
              <a:t>, </a:t>
            </a:r>
            <a:r>
              <a:rPr lang="en-US" altLang="zh-CN" sz="2800" dirty="0">
                <a:solidFill>
                  <a:srgbClr val="FF0000"/>
                </a:solidFill>
              </a:rPr>
              <a:t>[esi+4] </a:t>
            </a:r>
            <a:r>
              <a:rPr lang="en-US" altLang="zh-CN" sz="2800" dirty="0"/>
              <a:t>;</a:t>
            </a:r>
            <a:r>
              <a:rPr lang="zh-CN" altLang="en-US" sz="2800" dirty="0"/>
              <a:t>（第二个数）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add </a:t>
            </a:r>
            <a:r>
              <a:rPr lang="en-US" altLang="zh-CN" sz="2800" dirty="0" err="1"/>
              <a:t>eax</a:t>
            </a:r>
            <a:r>
              <a:rPr lang="en-US" altLang="zh-CN" sz="2800" dirty="0"/>
              <a:t>, </a:t>
            </a:r>
            <a:r>
              <a:rPr lang="en-US" altLang="zh-CN" sz="2800" dirty="0">
                <a:solidFill>
                  <a:srgbClr val="FF0000"/>
                </a:solidFill>
              </a:rPr>
              <a:t>[esi+8] </a:t>
            </a:r>
            <a:r>
              <a:rPr lang="en-US" altLang="zh-CN" sz="2800" dirty="0"/>
              <a:t>;</a:t>
            </a:r>
            <a:r>
              <a:rPr lang="zh-CN" altLang="en-US" sz="2800" dirty="0"/>
              <a:t>（第三个数）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35253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0D28B-50F4-431F-BB59-0BC9AE6BA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变址操作数的比例因子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981D56-1B93-498C-A4C6-20E80CB73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.data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 err="1"/>
              <a:t>array_dw</a:t>
            </a:r>
            <a:r>
              <a:rPr lang="en-US" altLang="zh-CN" sz="2800" dirty="0"/>
              <a:t> DWORD 10000h, 20000h, 30000h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.code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mov </a:t>
            </a:r>
            <a:r>
              <a:rPr lang="en-US" altLang="zh-CN" sz="2800" dirty="0" err="1"/>
              <a:t>esi</a:t>
            </a:r>
            <a:r>
              <a:rPr lang="en-US" altLang="zh-CN" sz="2800" dirty="0"/>
              <a:t>, 0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mov </a:t>
            </a:r>
            <a:r>
              <a:rPr lang="en-US" altLang="zh-CN" sz="2800" dirty="0" err="1"/>
              <a:t>eax</a:t>
            </a:r>
            <a:r>
              <a:rPr lang="en-US" altLang="zh-CN" sz="2800" dirty="0"/>
              <a:t>, </a:t>
            </a:r>
            <a:r>
              <a:rPr lang="en-US" altLang="zh-CN" sz="2800" dirty="0" err="1">
                <a:solidFill>
                  <a:srgbClr val="FF0000"/>
                </a:solidFill>
              </a:rPr>
              <a:t>array_dw</a:t>
            </a:r>
            <a:r>
              <a:rPr lang="en-US" altLang="zh-CN" sz="2800" dirty="0">
                <a:solidFill>
                  <a:srgbClr val="FF0000"/>
                </a:solidFill>
              </a:rPr>
              <a:t>[</a:t>
            </a:r>
            <a:r>
              <a:rPr lang="en-US" altLang="zh-CN" sz="2800" dirty="0" err="1">
                <a:solidFill>
                  <a:srgbClr val="FF0000"/>
                </a:solidFill>
              </a:rPr>
              <a:t>esi</a:t>
            </a:r>
            <a:r>
              <a:rPr lang="en-US" altLang="zh-CN" sz="2800" dirty="0">
                <a:solidFill>
                  <a:srgbClr val="FF0000"/>
                </a:solidFill>
              </a:rPr>
              <a:t>*TYPE </a:t>
            </a:r>
            <a:r>
              <a:rPr lang="en-US" altLang="zh-CN" sz="2800" dirty="0" err="1">
                <a:solidFill>
                  <a:srgbClr val="FF0000"/>
                </a:solidFill>
              </a:rPr>
              <a:t>array_dw</a:t>
            </a:r>
            <a:r>
              <a:rPr lang="en-US" altLang="zh-CN" sz="2800" dirty="0">
                <a:solidFill>
                  <a:srgbClr val="FF0000"/>
                </a:solidFill>
              </a:rPr>
              <a:t>] </a:t>
            </a:r>
            <a:r>
              <a:rPr lang="en-US" altLang="zh-CN" sz="28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mov </a:t>
            </a:r>
            <a:r>
              <a:rPr lang="en-US" altLang="zh-CN" sz="2800" dirty="0" err="1"/>
              <a:t>esi</a:t>
            </a:r>
            <a:r>
              <a:rPr lang="en-US" altLang="zh-CN" sz="2800" dirty="0"/>
              <a:t>, 1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add </a:t>
            </a:r>
            <a:r>
              <a:rPr lang="en-US" altLang="zh-CN" sz="2800" dirty="0" err="1"/>
              <a:t>eax</a:t>
            </a:r>
            <a:r>
              <a:rPr lang="en-US" altLang="zh-CN" sz="2800" dirty="0"/>
              <a:t>, </a:t>
            </a:r>
            <a:r>
              <a:rPr lang="en-US" altLang="zh-CN" sz="2800" dirty="0" err="1">
                <a:solidFill>
                  <a:srgbClr val="FF0000"/>
                </a:solidFill>
              </a:rPr>
              <a:t>array_dw</a:t>
            </a:r>
            <a:r>
              <a:rPr lang="en-US" altLang="zh-CN" sz="2800" dirty="0">
                <a:solidFill>
                  <a:srgbClr val="FF0000"/>
                </a:solidFill>
              </a:rPr>
              <a:t>[</a:t>
            </a:r>
            <a:r>
              <a:rPr lang="en-US" altLang="zh-CN" sz="2800" dirty="0" err="1">
                <a:solidFill>
                  <a:srgbClr val="FF0000"/>
                </a:solidFill>
              </a:rPr>
              <a:t>esi</a:t>
            </a:r>
            <a:r>
              <a:rPr lang="en-US" altLang="zh-CN" sz="2800" dirty="0">
                <a:solidFill>
                  <a:srgbClr val="FF0000"/>
                </a:solidFill>
              </a:rPr>
              <a:t>* TYPE </a:t>
            </a:r>
            <a:r>
              <a:rPr lang="en-US" altLang="zh-CN" sz="2800" dirty="0" err="1">
                <a:solidFill>
                  <a:srgbClr val="FF0000"/>
                </a:solidFill>
              </a:rPr>
              <a:t>array_dw</a:t>
            </a:r>
            <a:r>
              <a:rPr lang="en-US" altLang="zh-CN" sz="2800" dirty="0">
                <a:solidFill>
                  <a:srgbClr val="FF0000"/>
                </a:solidFill>
              </a:rPr>
              <a:t>]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mov </a:t>
            </a:r>
            <a:r>
              <a:rPr lang="en-US" altLang="zh-CN" sz="2800" dirty="0" err="1"/>
              <a:t>esi</a:t>
            </a:r>
            <a:r>
              <a:rPr lang="en-US" altLang="zh-CN" sz="2800" dirty="0"/>
              <a:t>, 2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/>
              <a:t>add </a:t>
            </a:r>
            <a:r>
              <a:rPr lang="en-US" altLang="zh-CN" sz="2800" dirty="0" err="1"/>
              <a:t>eax</a:t>
            </a:r>
            <a:r>
              <a:rPr lang="en-US" altLang="zh-CN" sz="2800" dirty="0"/>
              <a:t>, </a:t>
            </a:r>
            <a:r>
              <a:rPr lang="en-US" altLang="zh-CN" sz="2800" dirty="0" err="1">
                <a:solidFill>
                  <a:srgbClr val="FF0000"/>
                </a:solidFill>
              </a:rPr>
              <a:t>array_dw</a:t>
            </a:r>
            <a:r>
              <a:rPr lang="en-US" altLang="zh-CN" sz="2800" dirty="0">
                <a:solidFill>
                  <a:srgbClr val="FF0000"/>
                </a:solidFill>
              </a:rPr>
              <a:t>[</a:t>
            </a:r>
            <a:r>
              <a:rPr lang="en-US" altLang="zh-CN" sz="2800" dirty="0" err="1">
                <a:solidFill>
                  <a:srgbClr val="FF0000"/>
                </a:solidFill>
              </a:rPr>
              <a:t>esi</a:t>
            </a:r>
            <a:r>
              <a:rPr lang="en-US" altLang="zh-CN" sz="2800" dirty="0">
                <a:solidFill>
                  <a:srgbClr val="FF0000"/>
                </a:solidFill>
              </a:rPr>
              <a:t>* TYPE </a:t>
            </a:r>
            <a:r>
              <a:rPr lang="en-US" altLang="zh-CN" sz="2800" dirty="0" err="1">
                <a:solidFill>
                  <a:srgbClr val="FF0000"/>
                </a:solidFill>
              </a:rPr>
              <a:t>array_dw</a:t>
            </a:r>
            <a:r>
              <a:rPr lang="en-US" altLang="zh-CN" sz="2800" dirty="0">
                <a:solidFill>
                  <a:srgbClr val="FF0000"/>
                </a:solidFill>
              </a:rPr>
              <a:t>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02587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3A32B-CA73-4BD3-BEB0-31C7FB1B1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115410-13D3-4504-8923-C5ABF5FA5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如果一个变量包含另一个变量的地址，则该变量称为指针</a:t>
            </a:r>
          </a:p>
        </p:txBody>
      </p:sp>
    </p:spTree>
    <p:extLst>
      <p:ext uri="{BB962C8B-B14F-4D97-AF65-F5344CB8AC3E}">
        <p14:creationId xmlns:p14="http://schemas.microsoft.com/office/powerpoint/2010/main" val="46603771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F9CCF-4CD5-4DDB-94BE-F36BC01F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C81D04-0A3A-44AA-8AC9-ECA831AA5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.data</a:t>
            </a:r>
          </a:p>
          <a:p>
            <a:pPr marL="0" indent="0">
              <a:buNone/>
            </a:pPr>
            <a:r>
              <a:rPr lang="en-US" altLang="zh-CN" dirty="0" err="1"/>
              <a:t>array_b</a:t>
            </a:r>
            <a:r>
              <a:rPr lang="en-US" altLang="zh-CN" dirty="0"/>
              <a:t>   BYTE  10h, 20h, 30h, 40h</a:t>
            </a:r>
          </a:p>
          <a:p>
            <a:pPr marL="0" indent="0">
              <a:buNone/>
            </a:pPr>
            <a:r>
              <a:rPr lang="en-US" altLang="zh-CN" dirty="0" err="1"/>
              <a:t>array_w</a:t>
            </a:r>
            <a:r>
              <a:rPr lang="en-US" altLang="zh-CN" dirty="0"/>
              <a:t>  WORD 1000h, 2000h, 3000h</a:t>
            </a:r>
          </a:p>
          <a:p>
            <a:pPr marL="0" indent="0">
              <a:buNone/>
            </a:pPr>
            <a:r>
              <a:rPr lang="en-US" altLang="zh-CN" i="1" dirty="0" err="1">
                <a:solidFill>
                  <a:srgbClr val="FF0000"/>
                </a:solidFill>
              </a:rPr>
              <a:t>ptr_b</a:t>
            </a:r>
            <a:r>
              <a:rPr lang="en-US" altLang="zh-CN" dirty="0"/>
              <a:t>   DWORD  </a:t>
            </a:r>
            <a:r>
              <a:rPr lang="en-US" altLang="zh-CN" dirty="0" err="1"/>
              <a:t>array_b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i="1" dirty="0" err="1">
                <a:solidFill>
                  <a:srgbClr val="FF0000"/>
                </a:solidFill>
              </a:rPr>
              <a:t>ptr_w</a:t>
            </a:r>
            <a:r>
              <a:rPr lang="en-US" altLang="zh-CN" i="1" dirty="0">
                <a:solidFill>
                  <a:srgbClr val="FF0000"/>
                </a:solidFill>
              </a:rPr>
              <a:t>  </a:t>
            </a:r>
            <a:r>
              <a:rPr lang="en-US" altLang="zh-CN" dirty="0"/>
              <a:t>DWORD  </a:t>
            </a:r>
            <a:r>
              <a:rPr lang="en-US" altLang="zh-CN" dirty="0" err="1"/>
              <a:t>array_w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023454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7F6B7-0727-42EF-B522-B1160D51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C561C1-BBFB-41BD-9337-0A02E8848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.data</a:t>
            </a:r>
          </a:p>
          <a:p>
            <a:pPr marL="0" indent="0">
              <a:buNone/>
            </a:pPr>
            <a:r>
              <a:rPr lang="en-US" altLang="zh-CN" dirty="0" err="1"/>
              <a:t>array_b</a:t>
            </a:r>
            <a:r>
              <a:rPr lang="en-US" altLang="zh-CN" dirty="0"/>
              <a:t>  BYTE  10h, 20h, 30h, 40h</a:t>
            </a:r>
          </a:p>
          <a:p>
            <a:pPr marL="0" indent="0">
              <a:buNone/>
            </a:pPr>
            <a:r>
              <a:rPr lang="en-US" altLang="zh-CN" dirty="0" err="1"/>
              <a:t>array_w</a:t>
            </a:r>
            <a:r>
              <a:rPr lang="en-US" altLang="zh-CN" dirty="0"/>
              <a:t>  WORD 1000h, 2000h, 3000h</a:t>
            </a:r>
          </a:p>
          <a:p>
            <a:pPr marL="0" indent="0">
              <a:buNone/>
            </a:pPr>
            <a:r>
              <a:rPr lang="en-US" altLang="zh-CN" i="1" dirty="0" err="1">
                <a:solidFill>
                  <a:srgbClr val="FF0000"/>
                </a:solidFill>
              </a:rPr>
              <a:t>ptr_b</a:t>
            </a:r>
            <a:r>
              <a:rPr lang="en-US" altLang="zh-CN" dirty="0"/>
              <a:t>  DWORD OFFSET </a:t>
            </a:r>
            <a:r>
              <a:rPr lang="en-US" altLang="zh-CN" dirty="0" err="1"/>
              <a:t>array_b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i="1" dirty="0" err="1">
                <a:solidFill>
                  <a:srgbClr val="FF0000"/>
                </a:solidFill>
              </a:rPr>
              <a:t>ptr_w</a:t>
            </a:r>
            <a:r>
              <a:rPr lang="en-US" altLang="zh-CN" i="1" dirty="0">
                <a:solidFill>
                  <a:srgbClr val="FF0000"/>
                </a:solidFill>
              </a:rPr>
              <a:t>  </a:t>
            </a:r>
            <a:r>
              <a:rPr lang="en-US" altLang="zh-CN" dirty="0"/>
              <a:t>DWORD OFFSET </a:t>
            </a:r>
            <a:r>
              <a:rPr lang="en-US" altLang="zh-CN" dirty="0" err="1"/>
              <a:t>array_w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1221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10381-5534-4EF3-9909-A70CB1E51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F586C2-E2F2-4C34-BAA2-7E3F70814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32</a:t>
            </a:r>
            <a:r>
              <a:rPr lang="zh-CN" altLang="en-US" dirty="0"/>
              <a:t>位模式下的</a:t>
            </a:r>
            <a:r>
              <a:rPr lang="en-US" altLang="zh-CN" dirty="0"/>
              <a:t>NEAR</a:t>
            </a:r>
            <a:r>
              <a:rPr lang="zh-CN" altLang="en-US" dirty="0"/>
              <a:t>指针和</a:t>
            </a:r>
            <a:r>
              <a:rPr lang="en-US" altLang="zh-CN" dirty="0"/>
              <a:t>FAR</a:t>
            </a:r>
            <a:r>
              <a:rPr lang="zh-CN" altLang="en-US" dirty="0"/>
              <a:t>指针</a:t>
            </a:r>
            <a:endParaRPr lang="en-US" altLang="zh-CN" dirty="0"/>
          </a:p>
          <a:p>
            <a:r>
              <a:rPr lang="en-US" altLang="zh-CN" b="1" dirty="0">
                <a:solidFill>
                  <a:srgbClr val="FF0000"/>
                </a:solidFill>
              </a:rPr>
              <a:t>NEAR</a:t>
            </a:r>
            <a:r>
              <a:rPr lang="zh-CN" altLang="en-US" b="1" dirty="0">
                <a:solidFill>
                  <a:srgbClr val="FF0000"/>
                </a:solidFill>
              </a:rPr>
              <a:t>指针（课程使用</a:t>
            </a:r>
            <a:r>
              <a:rPr lang="en-US" altLang="zh-CN" b="1" dirty="0">
                <a:solidFill>
                  <a:srgbClr val="FF0000"/>
                </a:solidFill>
              </a:rPr>
              <a:t>NEAR</a:t>
            </a:r>
            <a:r>
              <a:rPr lang="zh-CN" altLang="en-US" b="1" dirty="0">
                <a:solidFill>
                  <a:srgbClr val="FF0000"/>
                </a:solidFill>
              </a:rPr>
              <a:t>指针）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相对数据段开始的</a:t>
            </a:r>
            <a:r>
              <a:rPr lang="en-US" altLang="zh-CN" dirty="0"/>
              <a:t>32</a:t>
            </a:r>
            <a:r>
              <a:rPr lang="zh-CN" altLang="en-US" dirty="0"/>
              <a:t>位偏移地址</a:t>
            </a:r>
            <a:endParaRPr lang="en-US" altLang="zh-CN" dirty="0"/>
          </a:p>
          <a:p>
            <a:r>
              <a:rPr lang="en-US" altLang="zh-CN" dirty="0"/>
              <a:t>FAR</a:t>
            </a:r>
            <a:r>
              <a:rPr lang="zh-CN" altLang="en-US" dirty="0"/>
              <a:t>指针</a:t>
            </a:r>
            <a:endParaRPr lang="en-US" altLang="zh-CN" dirty="0"/>
          </a:p>
          <a:p>
            <a:pPr lvl="1"/>
            <a:r>
              <a:rPr lang="en-US" altLang="zh-CN" dirty="0"/>
              <a:t>48</a:t>
            </a:r>
            <a:r>
              <a:rPr lang="zh-CN" altLang="en-US" dirty="0"/>
              <a:t>位的段选择子</a:t>
            </a:r>
            <a:r>
              <a:rPr lang="en-US" altLang="zh-CN" dirty="0"/>
              <a:t>-</a:t>
            </a:r>
            <a:r>
              <a:rPr lang="zh-CN" altLang="en-US" dirty="0"/>
              <a:t>偏移地址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315327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5C60A-418E-4422-A836-D523150A4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TYPEDEF</a:t>
            </a:r>
            <a:r>
              <a:rPr lang="zh-CN" altLang="en-US" dirty="0"/>
              <a:t>操作符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27A093-269D-49A9-9920-B6AD4A2C8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TYPEDEF</a:t>
            </a:r>
            <a:r>
              <a:rPr lang="zh-CN" altLang="en-US" dirty="0"/>
              <a:t>操作符允许创建用户自定义的类型</a:t>
            </a:r>
            <a:endParaRPr lang="en-US" altLang="zh-CN" dirty="0"/>
          </a:p>
          <a:p>
            <a:pPr lvl="1"/>
            <a:r>
              <a:rPr lang="en-US" altLang="zh-CN" dirty="0"/>
              <a:t>PBYTE </a:t>
            </a:r>
            <a:r>
              <a:rPr lang="en-US" altLang="zh-CN" dirty="0">
                <a:solidFill>
                  <a:srgbClr val="FF0000"/>
                </a:solidFill>
              </a:rPr>
              <a:t>TYPEDEF</a:t>
            </a:r>
            <a:r>
              <a:rPr lang="en-US" altLang="zh-CN" dirty="0"/>
              <a:t> PTR BYTE ;</a:t>
            </a:r>
            <a:r>
              <a:rPr lang="zh-CN" altLang="en-US" dirty="0"/>
              <a:t>字节指针</a:t>
            </a:r>
          </a:p>
          <a:p>
            <a:pPr lvl="1"/>
            <a:r>
              <a:rPr lang="en-US" altLang="zh-CN" dirty="0"/>
              <a:t>PWORD </a:t>
            </a:r>
            <a:r>
              <a:rPr lang="en-US" altLang="zh-CN" dirty="0">
                <a:solidFill>
                  <a:srgbClr val="FF0000"/>
                </a:solidFill>
              </a:rPr>
              <a:t>TYPEDEF</a:t>
            </a:r>
            <a:r>
              <a:rPr lang="en-US" altLang="zh-CN" dirty="0"/>
              <a:t> PTR WORD ;</a:t>
            </a:r>
            <a:r>
              <a:rPr lang="zh-CN" altLang="en-US" dirty="0"/>
              <a:t>字指针</a:t>
            </a:r>
          </a:p>
          <a:p>
            <a:pPr lvl="1"/>
            <a:r>
              <a:rPr lang="en-US" altLang="zh-CN" dirty="0"/>
              <a:t>PDWORD </a:t>
            </a:r>
            <a:r>
              <a:rPr lang="en-US" altLang="zh-CN" dirty="0">
                <a:solidFill>
                  <a:srgbClr val="FF0000"/>
                </a:solidFill>
              </a:rPr>
              <a:t>TYPEDEF</a:t>
            </a:r>
            <a:r>
              <a:rPr lang="en-US" altLang="zh-CN" dirty="0"/>
              <a:t> PTR DWORD ;</a:t>
            </a:r>
            <a:r>
              <a:rPr lang="zh-CN" altLang="en-US" dirty="0"/>
              <a:t>双字指针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40172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BDEA2-198C-4AA7-9F29-913D66B0F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TYPEDEF</a:t>
            </a:r>
            <a:r>
              <a:rPr lang="zh-CN" altLang="en-US" dirty="0"/>
              <a:t>操作符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19C186-4C94-4BB2-BC56-CCE5EB444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PADWORD</a:t>
            </a:r>
            <a:r>
              <a:rPr lang="en-US" altLang="zh-CN" dirty="0"/>
              <a:t> TYPEDEF PTR DWORD </a:t>
            </a:r>
          </a:p>
          <a:p>
            <a:pPr marL="0" indent="0">
              <a:buNone/>
            </a:pPr>
            <a:r>
              <a:rPr lang="en-US" altLang="zh-CN" dirty="0"/>
              <a:t>.data</a:t>
            </a:r>
          </a:p>
          <a:p>
            <a:pPr marL="0" indent="0">
              <a:buNone/>
            </a:pPr>
            <a:r>
              <a:rPr lang="en-US" altLang="zh-CN" dirty="0"/>
              <a:t>	array1 DWORD 1000h, 2000h, 3000h, 4000h</a:t>
            </a:r>
          </a:p>
          <a:p>
            <a:pPr marL="0" indent="0">
              <a:buNone/>
            </a:pPr>
            <a:r>
              <a:rPr lang="en-US" altLang="zh-CN" dirty="0"/>
              <a:t>	ptr1 </a:t>
            </a:r>
            <a:r>
              <a:rPr lang="en-US" altLang="zh-CN" dirty="0">
                <a:solidFill>
                  <a:srgbClr val="FF0000"/>
                </a:solidFill>
              </a:rPr>
              <a:t>PADWORD</a:t>
            </a:r>
            <a:r>
              <a:rPr lang="en-US" altLang="zh-CN" dirty="0"/>
              <a:t> array1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73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478F5A2-2575-4550-B9F6-2D0408CE298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PBYTE TYPEDEF PTR BYTE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.data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var1 BYTE 10h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ptr1 PBYTE var1 ; 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变量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ptr1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的尺寸？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B38A7D-59F9-40B5-9219-13CBB2E0C6A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 BYTE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E923FA-A9F5-4461-A370-5E63EA81764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 BYTE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65CE16-8614-4756-A714-D9E81B67C71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3 BYTE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A5852D-B974-4066-88C7-241E1D92859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 BYTE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30AE7BB-3163-404F-ADB1-A44664CCB28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BB096DD-A03E-4452-B3BE-28837744E2C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22D31C7-5C8E-4534-BE7D-7BC3E3EBCDC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911F88C-CBB0-434B-B19D-7D36DF3DD3B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E45A2D8-E6BE-44E7-9571-E55FE93012A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8FD81B9-714F-4E01-81F2-B97424562BB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BF1E7848-7E9F-4811-86D3-4A4CB081073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4CC88174-FF58-4679-B9DF-D5A6B2F64F2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3D52F89D-FA51-4722-BB3F-E1DF7F4DF0C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B09351D8-FEC2-4EFD-8C96-8863C7819FE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35DC769-6420-4994-ACF8-69B37F84F20D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657128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69D0-D159-47F9-957C-49963E18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本章学习的知识点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B89F-D60A-42C3-84D9-4CFC30452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数据传送指令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简单算数运算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操作符和伪指令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算术运算</a:t>
            </a:r>
            <a:endParaRPr lang="en-US" altLang="zh-CN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900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4</a:t>
            </a:r>
            <a:r>
              <a:rPr lang="zh-CN" altLang="en-US" sz="3600" b="1" dirty="0">
                <a:solidFill>
                  <a:srgbClr val="7030A0"/>
                </a:solidFill>
              </a:rPr>
              <a:t>章 数据传送、寻址与算数运算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/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</a:t>
            </a:r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@nankai.edu.cn</a:t>
            </a:r>
          </a:p>
        </p:txBody>
      </p:sp>
      <p:sp>
        <p:nvSpPr>
          <p:cNvPr id="4" name="Title 1"/>
          <p:cNvSpPr txBox="1"/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1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HASREMARK" val="True"/>
  <p:tag name="PROBLEMVOICEALLOWED" val="False"/>
  <p:tag name="PROBLEMREMARK" val="mov eax, var2&#10;mov var1, eax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" val="[{&quot;num&quot;:1,&quot;caseSensitive&quot;:false,&quot;fuzzyMatch&quot;:false,&quot;Score&quot;:10.0,&quot;answers&quot;:[&quot;00000010h&quot;]},{&quot;num&quot;:2,&quot;caseSensitive&quot;:false,&quot;fuzzyMatch&quot;:false,&quot;Score&quot;:10.0,&quot;answers&quot;:[&quot;00000010h&quot;]}]"/>
  <p:tag name="PROBLEMSCORE" val="20.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" val="[{&quot;num&quot;:1,&quot;caseSensitive&quot;:false,&quot;fuzzyMatch&quot;:false,&quot;Score&quot;:10.0,&quot;answers&quot;:[&quot;000000A0h&quot;]},{&quot;num&quot;:2,&quot;caseSensitive&quot;:false,&quot;fuzzyMatch&quot;:false,&quot;Score&quot;:10.0,&quot;answers&quot;:[&quot;0FFFFFFA0h&quot;]}]"/>
  <p:tag name="PROBLEMSCORE" val="20.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" val="[{&quot;num&quot;:1,&quot;caseSensitive&quot;:false,&quot;fuzzyMatch&quot;:false,&quot;Score&quot;:10.0,&quot;answers&quot;:[&quot;0FFFFF000h&quot;]}]"/>
  <p:tag name="PROBLEMSCORE" val="10.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0.0"/>
  <p:tag name="PROBLEMBLANK" val="[{&quot;num&quot;:1,&quot;caseSensitive&quot;:false,&quot;fuzzyMatch&quot;:false,&quot;Score&quot;:10.0,&quot;answers&quot;:[&quot;00000078h&quot;]}]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SCORE" val="10.0"/>
  <p:tag name="PROBLEMBLANK" val="[{&quot;num&quot;:1,&quot;caseSensitive&quot;:false,&quot;fuzzyMatch&quot;:false,&quot;Score&quot;:10.0,&quot;answers&quot;:[&quot;56781234h&quot;]}]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" val="[{&quot;num&quot;:1,&quot;caseSensitive&quot;:false,&quot;fuzzyMatch&quot;:false,&quot;Score&quot;:10.0,&quot;answers&quot;:[&quot;00005678h&quot;]}]"/>
  <p:tag name="PROBLEMSCORE" val="10.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" val="[{&quot;num&quot;:1,&quot;caseSensitive&quot;:false,&quot;fuzzyMatch&quot;:false,&quot;Score&quot;:10.0,&quot;answers&quot;:[&quot;[var1 + 4]&quot;]}]"/>
  <p:tag name="PROBLEMSCORE" val="10.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HASREMARK" val="True"/>
  <p:tag name="PROBLEMREMARK" val="[eax]没有指定操作数的大小，是BYTE、WORD还是DWORD"/>
  <p:tag name="PROBLEMVOICEALLOWED" val="Fals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2_400TGp_globalcity_light_ani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3938</TotalTime>
  <Words>2993</Words>
  <Application>Microsoft Office PowerPoint</Application>
  <PresentationFormat>宽屏</PresentationFormat>
  <Paragraphs>530</Paragraphs>
  <Slides>85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85</vt:i4>
      </vt:variant>
    </vt:vector>
  </HeadingPairs>
  <TitlesOfParts>
    <vt:vector size="92" baseType="lpstr">
      <vt:lpstr>DengXian</vt:lpstr>
      <vt:lpstr>宋体</vt:lpstr>
      <vt:lpstr>Microsoft Yahei</vt:lpstr>
      <vt:lpstr>Arial</vt:lpstr>
      <vt:lpstr>Calibri</vt:lpstr>
      <vt:lpstr>Times New Roman</vt:lpstr>
      <vt:lpstr>2_400TGp_globalcity_light_ani</vt:lpstr>
      <vt:lpstr>汇编语言与逆向技术 第4章 数据传送、寻址与算数运算</vt:lpstr>
      <vt:lpstr>前章补充与复习</vt:lpstr>
      <vt:lpstr>前章补充与复习</vt:lpstr>
      <vt:lpstr>本章知识点</vt:lpstr>
      <vt:lpstr>1. 数据传送指令</vt:lpstr>
      <vt:lpstr>汇编语言与高级语言</vt:lpstr>
      <vt:lpstr>指令</vt:lpstr>
      <vt:lpstr>操作数类型</vt:lpstr>
      <vt:lpstr>寄存器操作数的简写符号</vt:lpstr>
      <vt:lpstr>PowerPoint 演示文稿</vt:lpstr>
      <vt:lpstr>立即数操作数的简写符号</vt:lpstr>
      <vt:lpstr>内存操作数的简写符号</vt:lpstr>
      <vt:lpstr>PowerPoint 演示文稿</vt:lpstr>
      <vt:lpstr>MOV指令</vt:lpstr>
      <vt:lpstr>MOV指令</vt:lpstr>
      <vt:lpstr>mov指令</vt:lpstr>
      <vt:lpstr>直接内存操作数</vt:lpstr>
      <vt:lpstr>内存寻址操作</vt:lpstr>
      <vt:lpstr>PowerPoint 演示文稿</vt:lpstr>
      <vt:lpstr>PowerPoint 演示文稿</vt:lpstr>
      <vt:lpstr>invalid instruction operands</vt:lpstr>
      <vt:lpstr>内存之间的数据移动</vt:lpstr>
      <vt:lpstr>整数的零扩展</vt:lpstr>
      <vt:lpstr>MOVSX</vt:lpstr>
      <vt:lpstr>PowerPoint 演示文稿</vt:lpstr>
      <vt:lpstr>PowerPoint 演示文稿</vt:lpstr>
      <vt:lpstr>LAHF指令</vt:lpstr>
      <vt:lpstr>SAHF指令</vt:lpstr>
      <vt:lpstr>XCHG指令</vt:lpstr>
      <vt:lpstr>PowerPoint 演示文稿</vt:lpstr>
      <vt:lpstr>交换两个内存的值</vt:lpstr>
      <vt:lpstr> 2. 简单算数运算</vt:lpstr>
      <vt:lpstr>INC指令</vt:lpstr>
      <vt:lpstr>DEC指令</vt:lpstr>
      <vt:lpstr>ADD指令</vt:lpstr>
      <vt:lpstr>SUB指令</vt:lpstr>
      <vt:lpstr>NEG指令</vt:lpstr>
      <vt:lpstr>PowerPoint 演示文稿</vt:lpstr>
      <vt:lpstr>直接偏移操作数</vt:lpstr>
      <vt:lpstr>3. 操作符和伪指令</vt:lpstr>
      <vt:lpstr>数据相关的伪指令</vt:lpstr>
      <vt:lpstr>数据相关的操作符（Operator）</vt:lpstr>
      <vt:lpstr>OFFSET操作符</vt:lpstr>
      <vt:lpstr>OFFSET操作符</vt:lpstr>
      <vt:lpstr>PowerPoint 演示文稿</vt:lpstr>
      <vt:lpstr>ALIGN伪指令</vt:lpstr>
      <vt:lpstr>ALIGN伪指令</vt:lpstr>
      <vt:lpstr>ALIGN</vt:lpstr>
      <vt:lpstr>PowerPoint 演示文稿</vt:lpstr>
      <vt:lpstr>PTR操作符</vt:lpstr>
      <vt:lpstr>PowerPoint 演示文稿</vt:lpstr>
      <vt:lpstr>PowerPoint 演示文稿</vt:lpstr>
      <vt:lpstr>TYPE操作符</vt:lpstr>
      <vt:lpstr>LENGTHOF操作符</vt:lpstr>
      <vt:lpstr>LENGTHOF操作符</vt:lpstr>
      <vt:lpstr>LENGTHOF操作符</vt:lpstr>
      <vt:lpstr>SIZEOF操作符</vt:lpstr>
      <vt:lpstr>LABEL伪指令</vt:lpstr>
      <vt:lpstr>LABEL伪指令</vt:lpstr>
      <vt:lpstr>PowerPoint 演示文稿</vt:lpstr>
      <vt:lpstr>4. 循环语句</vt:lpstr>
      <vt:lpstr>JMP指令</vt:lpstr>
      <vt:lpstr>LOOP指令</vt:lpstr>
      <vt:lpstr>LOOP指令</vt:lpstr>
      <vt:lpstr>5. 间接寻址</vt:lpstr>
      <vt:lpstr>直接偏移操作数</vt:lpstr>
      <vt:lpstr>PowerPoint 演示文稿</vt:lpstr>
      <vt:lpstr>间接寻址</vt:lpstr>
      <vt:lpstr>间接操作数</vt:lpstr>
      <vt:lpstr>PowerPoint 演示文稿</vt:lpstr>
      <vt:lpstr>间接操作数</vt:lpstr>
      <vt:lpstr>间接操作数</vt:lpstr>
      <vt:lpstr>变址操作数</vt:lpstr>
      <vt:lpstr>变址操作数</vt:lpstr>
      <vt:lpstr>变址操作数</vt:lpstr>
      <vt:lpstr>变址操作数的比例因子</vt:lpstr>
      <vt:lpstr>指针</vt:lpstr>
      <vt:lpstr>指针</vt:lpstr>
      <vt:lpstr>指针</vt:lpstr>
      <vt:lpstr>指针</vt:lpstr>
      <vt:lpstr>TYPEDEF操作符</vt:lpstr>
      <vt:lpstr>TYPEDEF操作符</vt:lpstr>
      <vt:lpstr>PowerPoint 演示文稿</vt:lpstr>
      <vt:lpstr>本章学习的知识点</vt:lpstr>
      <vt:lpstr>汇编语言与逆向技术 第4章 数据传送、寻址与算数运算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汇编与逆向技术基础  第2章 IA-32处理器体系结构</dc:title>
  <dc:creator>zwang</dc:creator>
  <cp:lastModifiedBy>志 王</cp:lastModifiedBy>
  <cp:revision>399</cp:revision>
  <dcterms:created xsi:type="dcterms:W3CDTF">2020-03-01T14:18:02Z</dcterms:created>
  <dcterms:modified xsi:type="dcterms:W3CDTF">2026-01-04T09:11:25Z</dcterms:modified>
</cp:coreProperties>
</file>